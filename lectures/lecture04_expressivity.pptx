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_rels/slide46.xml.rels" ContentType="application/vnd.openxmlformats-package.relationships+xml"/>
  <Override PartName="/ppt/slides/_rels/slide39.xml.rels" ContentType="application/vnd.openxmlformats-package.relationships+xml"/>
  <Override PartName="/ppt/slides/_rels/slide1.xml.rels" ContentType="application/vnd.openxmlformats-package.relationships+xml"/>
  <Override PartName="/ppt/slides/_rels/slide43.xml.rels" ContentType="application/vnd.openxmlformats-package.relationships+xml"/>
  <Override PartName="/ppt/slides/_rels/slide37.xml.rels" ContentType="application/vnd.openxmlformats-package.relationships+xml"/>
  <Override PartName="/ppt/slides/_rels/slide42.xml.rels" ContentType="application/vnd.openxmlformats-package.relationships+xml"/>
  <Override PartName="/ppt/slides/_rels/slide27.xml.rels" ContentType="application/vnd.openxmlformats-package.relationships+xml"/>
  <Override PartName="/ppt/slides/_rels/slide44.xml.rels" ContentType="application/vnd.openxmlformats-package.relationships+xml"/>
  <Override PartName="/ppt/slides/_rels/slide38.xml.rels" ContentType="application/vnd.openxmlformats-package.relationships+xml"/>
  <Override PartName="/ppt/slides/_rels/slide41.xml.rels" ContentType="application/vnd.openxmlformats-package.relationships+xml"/>
  <Override PartName="/ppt/slides/_rels/slide29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8.xml.rels" ContentType="application/vnd.openxmlformats-package.relationships+xml"/>
  <Override PartName="/ppt/slides/_rels/slide35.xml.rels" ContentType="application/vnd.openxmlformats-package.relationships+xml"/>
  <Override PartName="/ppt/slides/_rels/slide32.xml.rels" ContentType="application/vnd.openxmlformats-package.relationships+xml"/>
  <Override PartName="/ppt/slides/_rels/slide16.xml.rels" ContentType="application/vnd.openxmlformats-package.relationships+xml"/>
  <Override PartName="/ppt/slides/_rels/slide23.xml.rels" ContentType="application/vnd.openxmlformats-package.relationships+xml"/>
  <Override PartName="/ppt/slides/_rels/slide22.xml.rels" ContentType="application/vnd.openxmlformats-package.relationships+xml"/>
  <Override PartName="/ppt/slides/_rels/slide12.xml.rels" ContentType="application/vnd.openxmlformats-package.relationships+xml"/>
  <Override PartName="/ppt/slides/_rels/slide31.xml.rels" ContentType="application/vnd.openxmlformats-package.relationships+xml"/>
  <Override PartName="/ppt/slides/_rels/slide11.xml.rels" ContentType="application/vnd.openxmlformats-package.relationships+xml"/>
  <Override PartName="/ppt/slides/_rels/slide15.xml.rels" ContentType="application/vnd.openxmlformats-package.relationships+xml"/>
  <Override PartName="/ppt/slides/_rels/slide45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25.xml.rels" ContentType="application/vnd.openxmlformats-package.relationships+xml"/>
  <Override PartName="/ppt/slides/_rels/slide24.xml.rels" ContentType="application/vnd.openxmlformats-package.relationships+xml"/>
  <Override PartName="/ppt/slides/_rels/slide19.xml.rels" ContentType="application/vnd.openxmlformats-package.relationships+xml"/>
  <Override PartName="/ppt/slides/_rels/slide40.xml.rels" ContentType="application/vnd.openxmlformats-package.relationships+xml"/>
  <Override PartName="/ppt/slides/_rels/slide7.xml.rels" ContentType="application/vnd.openxmlformats-package.relationships+xml"/>
  <Override PartName="/ppt/slides/_rels/slide18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28.xml.rels" ContentType="application/vnd.openxmlformats-package.relationships+xml"/>
  <Override PartName="/ppt/slides/_rels/slide10.xml.rels" ContentType="application/vnd.openxmlformats-package.relationships+xml"/>
  <Override PartName="/ppt/slides/_rels/slide21.xml.rels" ContentType="application/vnd.openxmlformats-package.relationships+xml"/>
  <Override PartName="/ppt/slides/_rels/slide20.xml.rels" ContentType="application/vnd.openxmlformats-package.relationships+xml"/>
  <Override PartName="/ppt/slides/_rels/slide36.xml.rels" ContentType="application/vnd.openxmlformats-package.relationships+xml"/>
  <Override PartName="/ppt/slides/_rels/slide30.xml.rels" ContentType="application/vnd.openxmlformats-package.relationships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27.xml" ContentType="application/vnd.openxmlformats-officedocument.presentationml.slide+xml"/>
  <Override PartName="/ppt/slides/slide35.xml" ContentType="application/vnd.openxmlformats-officedocument.presentationml.slide+xml"/>
  <Override PartName="/ppt/slides/slide10.xml" ContentType="application/vnd.openxmlformats-officedocument.presentationml.slide+xml"/>
  <Override PartName="/ppt/slides/slide3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31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26.xml" ContentType="application/vnd.openxmlformats-officedocument.presentationml.slide+xml"/>
  <Override PartName="/ppt/slides/slide40.xml" ContentType="application/vnd.openxmlformats-officedocument.presentationml.slide+xml"/>
  <Override PartName="/ppt/slides/slide32.xml" ContentType="application/vnd.openxmlformats-officedocument.presentationml.slide+xml"/>
  <Override PartName="/ppt/slides/slide24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1.png" ContentType="image/png"/>
  <Override PartName="/ppt/media/image3.png" ContentType="image/png"/>
  <Override PartName="/ppt/media/image4.png" ContentType="image/png"/>
  <Override PartName="/ppt/media/image8.png" ContentType="image/png"/>
  <Override PartName="/ppt/media/image5.png" ContentType="image/png"/>
  <Override PartName="/ppt/media/image6.png" ContentType="image/png"/>
  <Override PartName="/ppt/media/image2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4D2416-CEFB-4CF4-8992-AF02BFE20AB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AE7C1C-1BE8-4638-8FFA-471081C8739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4ACC8B0-5DC6-4BF8-9425-CD97733EC42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B53E1B6-0C98-41C5-B3AE-213C35841E5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16672DA-B76B-4DD4-8737-01790F29A5B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81B742-D7A3-4CEB-A4C2-7D1CE958586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A45AA4B-9DE1-4CB7-BDA0-9909E190122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D5FD67B-9859-459C-A565-4B1674FABD4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18C01E-CDBA-4119-A543-20620E2B1EF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51B44BA-F8CF-447E-8F3B-52444CB48A4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CBAE11A-3690-41D2-BBF1-63C141A0DF6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347040" cy="68576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1005840" y="205740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ЛЕКЦИЯ 4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1005840" y="2606040"/>
            <a:ext cx="100580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1" lang="en-US" sz="4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Выразительность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и дизайн GNN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1005840" y="41148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Пределы GNN, структурные кодировки, over-squashing и гетерофилия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" name="Connector 5"/>
          <p:cNvCxnSpPr/>
          <p:nvPr/>
        </p:nvCxnSpPr>
        <p:spPr>
          <a:xfrm>
            <a:off x="1005840" y="4892040"/>
            <a:ext cx="2743200" cy="360"/>
          </a:xfrm>
          <a:prstGeom prst="straightConnector1">
            <a:avLst/>
          </a:prstGeom>
          <a:ln w="12700">
            <a:solidFill>
              <a:srgbClr val="d8dee7"/>
            </a:solidFill>
            <a:round/>
          </a:ln>
        </p:spPr>
      </p:cxnSp>
      <p:sp>
        <p:nvSpPr>
          <p:cNvPr id="66" name="TextBox 6"/>
          <p:cNvSpPr/>
          <p:nvPr/>
        </p:nvSpPr>
        <p:spPr>
          <a:xfrm>
            <a:off x="1005840" y="50749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70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НАПОМИНАНИЕ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Что было в прошлый раз?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ounded Rectangle 7"/>
          <p:cNvSpPr/>
          <p:nvPr/>
        </p:nvSpPr>
        <p:spPr>
          <a:xfrm>
            <a:off x="640080" y="1481400"/>
            <a:ext cx="5226840" cy="46630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914400" y="1737360"/>
            <a:ext cx="4678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Научились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914400" y="2258640"/>
            <a:ext cx="46782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Собирать графовый слой из message, aggregate и update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Писать GCN через scatter и сверять с PyG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Отличать over-smoothing от сети, которая просто не обучилась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10"/>
          <p:cNvSpPr/>
          <p:nvPr/>
        </p:nvSpPr>
        <p:spPr>
          <a:xfrm>
            <a:off x="6324480" y="1481400"/>
            <a:ext cx="5226840" cy="46630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11"/>
          <p:cNvSpPr/>
          <p:nvPr/>
        </p:nvSpPr>
        <p:spPr>
          <a:xfrm>
            <a:off x="6598800" y="1737360"/>
            <a:ext cx="4678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Остались вопросы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2"/>
          <p:cNvSpPr/>
          <p:nvPr/>
        </p:nvSpPr>
        <p:spPr>
          <a:xfrm>
            <a:off x="6598800" y="2258640"/>
            <a:ext cx="46782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Слои устроены похоже — какой из них сильнее?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Почему глубина не помогает дотянуться далеко?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Всегда ли соседи помогают предсказанию?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1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82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ПЛАН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План лекции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9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Какие графы GNN принципиально не различает?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9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Какая агрегация самая сильная и при чём тут WL?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9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Как добавить сети силы? Структурные и позиционные кодировки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9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Почему далёкая информация не доходит? Over-squashing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9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Что делать, когда соседи не похожи на вершину? Гетерофилия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1280160" y="2743200"/>
            <a:ext cx="9600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Блок 1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3"/>
          <p:cNvSpPr/>
          <p:nvPr/>
        </p:nvSpPr>
        <p:spPr>
          <a:xfrm>
            <a:off x="1280160" y="384048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b9c6d8"/>
                </a:solidFill>
                <a:effectLst/>
                <a:uFillTx/>
                <a:latin typeface="Arial"/>
              </a:rPr>
              <a:t>Чего GNN не может различить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1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92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ИЗ ЛЕКЦИИ 1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Напоминание: как работает WL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7"/>
          <p:cNvSpPr/>
          <p:nvPr/>
        </p:nvSpPr>
        <p:spPr>
          <a:xfrm>
            <a:off x="640080" y="1481400"/>
            <a:ext cx="512028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Все вершины начинают одного цвета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Новый цвет = свой цвет + мультимножество цветов соседей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Повторяем, пока раскраска меняется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Разные гистограммы цветов — графы точно разные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Одинаковые — WL не может ничего сказать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8"/>
          <p:cNvSpPr/>
          <p:nvPr/>
        </p:nvSpPr>
        <p:spPr>
          <a:xfrm>
            <a:off x="6035040" y="210312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шаг 0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7" name="Connector 9"/>
          <p:cNvCxnSpPr/>
          <p:nvPr/>
        </p:nvCxnSpPr>
        <p:spPr>
          <a:xfrm>
            <a:off x="7369920" y="2043360"/>
            <a:ext cx="360" cy="4395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98" name="Connector 10"/>
          <p:cNvCxnSpPr/>
          <p:nvPr/>
        </p:nvCxnSpPr>
        <p:spPr>
          <a:xfrm flipV="1">
            <a:off x="7526160" y="2315160"/>
            <a:ext cx="840240" cy="2800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99" name="Connector 11"/>
          <p:cNvCxnSpPr/>
          <p:nvPr/>
        </p:nvCxnSpPr>
        <p:spPr>
          <a:xfrm flipH="1" flipV="1">
            <a:off x="7526160" y="1931040"/>
            <a:ext cx="840240" cy="2800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0" name="Connector 12"/>
          <p:cNvCxnSpPr/>
          <p:nvPr/>
        </p:nvCxnSpPr>
        <p:spPr>
          <a:xfrm>
            <a:off x="8686800" y="2262960"/>
            <a:ext cx="65844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1" name="Connector 13"/>
          <p:cNvCxnSpPr/>
          <p:nvPr/>
        </p:nvCxnSpPr>
        <p:spPr>
          <a:xfrm>
            <a:off x="9674280" y="2262960"/>
            <a:ext cx="49392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02" name="Oval 14"/>
          <p:cNvSpPr/>
          <p:nvPr/>
        </p:nvSpPr>
        <p:spPr>
          <a:xfrm>
            <a:off x="7205400" y="1714680"/>
            <a:ext cx="328680" cy="328680"/>
          </a:xfrm>
          <a:prstGeom prst="ellipse">
            <a:avLst/>
          </a:prstGeom>
          <a:solidFill>
            <a:srgbClr val="dadcdf"/>
          </a:solidFill>
          <a:ln w="15240">
            <a:solidFill>
              <a:srgbClr val="dadcd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Oval 15"/>
          <p:cNvSpPr/>
          <p:nvPr/>
        </p:nvSpPr>
        <p:spPr>
          <a:xfrm>
            <a:off x="7205400" y="2482560"/>
            <a:ext cx="328680" cy="328680"/>
          </a:xfrm>
          <a:prstGeom prst="ellipse">
            <a:avLst/>
          </a:prstGeom>
          <a:solidFill>
            <a:srgbClr val="dadcdf"/>
          </a:solidFill>
          <a:ln w="15240">
            <a:solidFill>
              <a:srgbClr val="dadcd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Oval 16"/>
          <p:cNvSpPr/>
          <p:nvPr/>
        </p:nvSpPr>
        <p:spPr>
          <a:xfrm>
            <a:off x="8357760" y="2098440"/>
            <a:ext cx="328680" cy="328680"/>
          </a:xfrm>
          <a:prstGeom prst="ellipse">
            <a:avLst/>
          </a:prstGeom>
          <a:solidFill>
            <a:srgbClr val="dadcdf"/>
          </a:solidFill>
          <a:ln w="15240">
            <a:solidFill>
              <a:srgbClr val="dadcd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Oval 17"/>
          <p:cNvSpPr/>
          <p:nvPr/>
        </p:nvSpPr>
        <p:spPr>
          <a:xfrm>
            <a:off x="9345240" y="2098440"/>
            <a:ext cx="328680" cy="328680"/>
          </a:xfrm>
          <a:prstGeom prst="ellipse">
            <a:avLst/>
          </a:prstGeom>
          <a:solidFill>
            <a:srgbClr val="dadcdf"/>
          </a:solidFill>
          <a:ln w="15240">
            <a:solidFill>
              <a:srgbClr val="dadcd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Oval 18"/>
          <p:cNvSpPr/>
          <p:nvPr/>
        </p:nvSpPr>
        <p:spPr>
          <a:xfrm>
            <a:off x="10168200" y="2098440"/>
            <a:ext cx="328680" cy="328680"/>
          </a:xfrm>
          <a:prstGeom prst="ellipse">
            <a:avLst/>
          </a:prstGeom>
          <a:solidFill>
            <a:srgbClr val="dadcdf"/>
          </a:solidFill>
          <a:ln w="15240">
            <a:solidFill>
              <a:srgbClr val="dadcd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19"/>
          <p:cNvSpPr/>
          <p:nvPr/>
        </p:nvSpPr>
        <p:spPr>
          <a:xfrm>
            <a:off x="10515600" y="210312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 цвет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20"/>
          <p:cNvSpPr/>
          <p:nvPr/>
        </p:nvSpPr>
        <p:spPr>
          <a:xfrm>
            <a:off x="6035040" y="347472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шаг 1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9" name="Connector 21"/>
          <p:cNvCxnSpPr/>
          <p:nvPr/>
        </p:nvCxnSpPr>
        <p:spPr>
          <a:xfrm>
            <a:off x="7369920" y="3414960"/>
            <a:ext cx="360" cy="4395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0" name="Connector 22"/>
          <p:cNvCxnSpPr/>
          <p:nvPr/>
        </p:nvCxnSpPr>
        <p:spPr>
          <a:xfrm flipV="1">
            <a:off x="7526160" y="3686760"/>
            <a:ext cx="840240" cy="2800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1" name="Connector 23"/>
          <p:cNvCxnSpPr/>
          <p:nvPr/>
        </p:nvCxnSpPr>
        <p:spPr>
          <a:xfrm flipH="1" flipV="1">
            <a:off x="7526160" y="3302640"/>
            <a:ext cx="840240" cy="2800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2" name="Connector 24"/>
          <p:cNvCxnSpPr/>
          <p:nvPr/>
        </p:nvCxnSpPr>
        <p:spPr>
          <a:xfrm>
            <a:off x="8686800" y="3634560"/>
            <a:ext cx="65844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3" name="Connector 25"/>
          <p:cNvCxnSpPr/>
          <p:nvPr/>
        </p:nvCxnSpPr>
        <p:spPr>
          <a:xfrm>
            <a:off x="9674280" y="3634560"/>
            <a:ext cx="49392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14" name="Oval 26"/>
          <p:cNvSpPr/>
          <p:nvPr/>
        </p:nvSpPr>
        <p:spPr>
          <a:xfrm>
            <a:off x="7205400" y="3086280"/>
            <a:ext cx="328680" cy="328680"/>
          </a:xfrm>
          <a:prstGeom prst="ellipse">
            <a:avLst/>
          </a:prstGeom>
          <a:solidFill>
            <a:srgbClr val="dadcdf"/>
          </a:solidFill>
          <a:ln w="15240">
            <a:solidFill>
              <a:srgbClr val="dadcd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Oval 27"/>
          <p:cNvSpPr/>
          <p:nvPr/>
        </p:nvSpPr>
        <p:spPr>
          <a:xfrm>
            <a:off x="7205400" y="3854160"/>
            <a:ext cx="328680" cy="328680"/>
          </a:xfrm>
          <a:prstGeom prst="ellipse">
            <a:avLst/>
          </a:prstGeom>
          <a:solidFill>
            <a:srgbClr val="dadcdf"/>
          </a:solidFill>
          <a:ln w="15240">
            <a:solidFill>
              <a:srgbClr val="dadcd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Oval 28"/>
          <p:cNvSpPr/>
          <p:nvPr/>
        </p:nvSpPr>
        <p:spPr>
          <a:xfrm>
            <a:off x="8357760" y="347004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Oval 29"/>
          <p:cNvSpPr/>
          <p:nvPr/>
        </p:nvSpPr>
        <p:spPr>
          <a:xfrm>
            <a:off x="9345240" y="3470040"/>
            <a:ext cx="328680" cy="328680"/>
          </a:xfrm>
          <a:prstGeom prst="ellipse">
            <a:avLst/>
          </a:prstGeom>
          <a:solidFill>
            <a:srgbClr val="dadcdf"/>
          </a:solidFill>
          <a:ln w="15240">
            <a:solidFill>
              <a:srgbClr val="dadcd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Oval 30"/>
          <p:cNvSpPr/>
          <p:nvPr/>
        </p:nvSpPr>
        <p:spPr>
          <a:xfrm>
            <a:off x="10168200" y="3470040"/>
            <a:ext cx="328680" cy="32868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31"/>
          <p:cNvSpPr/>
          <p:nvPr/>
        </p:nvSpPr>
        <p:spPr>
          <a:xfrm>
            <a:off x="10515600" y="347472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 цвета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32"/>
          <p:cNvSpPr/>
          <p:nvPr/>
        </p:nvSpPr>
        <p:spPr>
          <a:xfrm>
            <a:off x="6035040" y="484632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шаг 2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1" name="Connector 33"/>
          <p:cNvCxnSpPr/>
          <p:nvPr/>
        </p:nvCxnSpPr>
        <p:spPr>
          <a:xfrm>
            <a:off x="7369920" y="4786560"/>
            <a:ext cx="360" cy="4395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22" name="Connector 34"/>
          <p:cNvCxnSpPr/>
          <p:nvPr/>
        </p:nvCxnSpPr>
        <p:spPr>
          <a:xfrm flipV="1">
            <a:off x="7526160" y="5058360"/>
            <a:ext cx="840240" cy="2800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23" name="Connector 35"/>
          <p:cNvCxnSpPr/>
          <p:nvPr/>
        </p:nvCxnSpPr>
        <p:spPr>
          <a:xfrm flipH="1" flipV="1">
            <a:off x="7526160" y="4674240"/>
            <a:ext cx="840240" cy="2800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24" name="Connector 36"/>
          <p:cNvCxnSpPr/>
          <p:nvPr/>
        </p:nvCxnSpPr>
        <p:spPr>
          <a:xfrm>
            <a:off x="8686800" y="5006160"/>
            <a:ext cx="65844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25" name="Connector 37"/>
          <p:cNvCxnSpPr/>
          <p:nvPr/>
        </p:nvCxnSpPr>
        <p:spPr>
          <a:xfrm>
            <a:off x="9674280" y="5006160"/>
            <a:ext cx="49392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26" name="Oval 38"/>
          <p:cNvSpPr/>
          <p:nvPr/>
        </p:nvSpPr>
        <p:spPr>
          <a:xfrm>
            <a:off x="7205400" y="4457880"/>
            <a:ext cx="328680" cy="328680"/>
          </a:xfrm>
          <a:prstGeom prst="ellipse">
            <a:avLst/>
          </a:prstGeom>
          <a:solidFill>
            <a:srgbClr val="dadcdf"/>
          </a:solidFill>
          <a:ln w="15240">
            <a:solidFill>
              <a:srgbClr val="dadcd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Oval 39"/>
          <p:cNvSpPr/>
          <p:nvPr/>
        </p:nvSpPr>
        <p:spPr>
          <a:xfrm>
            <a:off x="7205400" y="5225760"/>
            <a:ext cx="328680" cy="328680"/>
          </a:xfrm>
          <a:prstGeom prst="ellipse">
            <a:avLst/>
          </a:prstGeom>
          <a:solidFill>
            <a:srgbClr val="dadcdf"/>
          </a:solidFill>
          <a:ln w="15240">
            <a:solidFill>
              <a:srgbClr val="dadcd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Oval 40"/>
          <p:cNvSpPr/>
          <p:nvPr/>
        </p:nvSpPr>
        <p:spPr>
          <a:xfrm>
            <a:off x="8357760" y="484164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Oval 41"/>
          <p:cNvSpPr/>
          <p:nvPr/>
        </p:nvSpPr>
        <p:spPr>
          <a:xfrm>
            <a:off x="9345240" y="4841640"/>
            <a:ext cx="328680" cy="32868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Oval 42"/>
          <p:cNvSpPr/>
          <p:nvPr/>
        </p:nvSpPr>
        <p:spPr>
          <a:xfrm>
            <a:off x="10168200" y="4841640"/>
            <a:ext cx="328680" cy="328680"/>
          </a:xfrm>
          <a:prstGeom prst="ellipse">
            <a:avLst/>
          </a:prstGeom>
          <a:solidFill>
            <a:srgbClr val="1f3a5f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43"/>
          <p:cNvSpPr/>
          <p:nvPr/>
        </p:nvSpPr>
        <p:spPr>
          <a:xfrm>
            <a:off x="10515600" y="484632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 цвета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5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4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35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ОДНО И ТО ЖЕ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Один шаг WL и один слой GNN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8"/>
          <p:cNvSpPr/>
          <p:nvPr/>
        </p:nvSpPr>
        <p:spPr>
          <a:xfrm>
            <a:off x="640080" y="169164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WL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ounded Rectangle 9"/>
          <p:cNvSpPr/>
          <p:nvPr/>
        </p:nvSpPr>
        <p:spPr>
          <a:xfrm>
            <a:off x="1188720" y="2194560"/>
            <a:ext cx="4023000" cy="566640"/>
          </a:xfrm>
          <a:prstGeom prst="roundRect">
            <a:avLst>
              <a:gd name="adj" fmla="val 15000"/>
            </a:avLst>
          </a:prstGeom>
          <a:solidFill>
            <a:srgbClr val="e9eaec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цвет вершины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1" name="Connector 10"/>
          <p:cNvCxnSpPr/>
          <p:nvPr/>
        </p:nvCxnSpPr>
        <p:spPr>
          <a:xfrm>
            <a:off x="3200400" y="2779560"/>
            <a:ext cx="360" cy="265680"/>
          </a:xfrm>
          <a:prstGeom prst="straightConnector1">
            <a:avLst/>
          </a:prstGeom>
          <a:ln w="22225">
            <a:solidFill>
              <a:srgbClr val="6b7280"/>
            </a:solidFill>
            <a:round/>
          </a:ln>
        </p:spPr>
      </p:cxnSp>
      <p:sp>
        <p:nvSpPr>
          <p:cNvPr id="142" name="Isosceles Triangle 11"/>
          <p:cNvSpPr/>
          <p:nvPr/>
        </p:nvSpPr>
        <p:spPr>
          <a:xfrm rot="10800000">
            <a:off x="3127680" y="297216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6b72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Rounded Rectangle 12"/>
          <p:cNvSpPr/>
          <p:nvPr/>
        </p:nvSpPr>
        <p:spPr>
          <a:xfrm>
            <a:off x="1188720" y="3063240"/>
            <a:ext cx="4023000" cy="566640"/>
          </a:xfrm>
          <a:prstGeom prst="roundRect">
            <a:avLst>
              <a:gd name="adj" fmla="val 15000"/>
            </a:avLst>
          </a:prstGeom>
          <a:solidFill>
            <a:srgbClr val="e9eaec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мультимножество цветов соседей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4" name="Connector 13"/>
          <p:cNvCxnSpPr/>
          <p:nvPr/>
        </p:nvCxnSpPr>
        <p:spPr>
          <a:xfrm>
            <a:off x="3200400" y="3648240"/>
            <a:ext cx="360" cy="265680"/>
          </a:xfrm>
          <a:prstGeom prst="straightConnector1">
            <a:avLst/>
          </a:prstGeom>
          <a:ln w="22225">
            <a:solidFill>
              <a:srgbClr val="6b7280"/>
            </a:solidFill>
            <a:round/>
          </a:ln>
        </p:spPr>
      </p:cxnSp>
      <p:sp>
        <p:nvSpPr>
          <p:cNvPr id="145" name="Isosceles Triangle 14"/>
          <p:cNvSpPr/>
          <p:nvPr/>
        </p:nvSpPr>
        <p:spPr>
          <a:xfrm rot="10800000">
            <a:off x="3127680" y="384084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6b72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ounded Rectangle 15"/>
          <p:cNvSpPr/>
          <p:nvPr/>
        </p:nvSpPr>
        <p:spPr>
          <a:xfrm>
            <a:off x="1188720" y="3931920"/>
            <a:ext cx="4023000" cy="566640"/>
          </a:xfrm>
          <a:prstGeom prst="roundRect">
            <a:avLst>
              <a:gd name="adj" fmla="val 15000"/>
            </a:avLst>
          </a:prstGeom>
          <a:solidFill>
            <a:srgbClr val="e9eaec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хеш-функция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7" name="Connector 16"/>
          <p:cNvCxnSpPr/>
          <p:nvPr/>
        </p:nvCxnSpPr>
        <p:spPr>
          <a:xfrm>
            <a:off x="3200400" y="4516920"/>
            <a:ext cx="360" cy="265680"/>
          </a:xfrm>
          <a:prstGeom prst="straightConnector1">
            <a:avLst/>
          </a:prstGeom>
          <a:ln w="22225">
            <a:solidFill>
              <a:srgbClr val="6b7280"/>
            </a:solidFill>
            <a:round/>
          </a:ln>
        </p:spPr>
      </p:cxnSp>
      <p:sp>
        <p:nvSpPr>
          <p:cNvPr id="148" name="Isosceles Triangle 17"/>
          <p:cNvSpPr/>
          <p:nvPr/>
        </p:nvSpPr>
        <p:spPr>
          <a:xfrm rot="10800000">
            <a:off x="3127680" y="470952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6b72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Rounded Rectangle 18"/>
          <p:cNvSpPr/>
          <p:nvPr/>
        </p:nvSpPr>
        <p:spPr>
          <a:xfrm>
            <a:off x="1188720" y="4800600"/>
            <a:ext cx="4023000" cy="566640"/>
          </a:xfrm>
          <a:prstGeom prst="roundRect">
            <a:avLst>
              <a:gd name="adj" fmla="val 15000"/>
            </a:avLst>
          </a:prstGeom>
          <a:solidFill>
            <a:srgbClr val="e9eaec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новый цвет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19"/>
          <p:cNvSpPr/>
          <p:nvPr/>
        </p:nvSpPr>
        <p:spPr>
          <a:xfrm>
            <a:off x="6400800" y="169164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Слой GNN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ounded Rectangle 20"/>
          <p:cNvSpPr/>
          <p:nvPr/>
        </p:nvSpPr>
        <p:spPr>
          <a:xfrm>
            <a:off x="6949440" y="2194560"/>
            <a:ext cx="4023000" cy="566640"/>
          </a:xfrm>
          <a:prstGeom prst="roundRect">
            <a:avLst>
              <a:gd name="adj" fmla="val 15000"/>
            </a:avLst>
          </a:prstGeom>
          <a:solidFill>
            <a:srgbClr val="cfe9e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вектор вершины h_v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2" name="Connector 21"/>
          <p:cNvCxnSpPr/>
          <p:nvPr/>
        </p:nvCxnSpPr>
        <p:spPr>
          <a:xfrm>
            <a:off x="8961120" y="2779560"/>
            <a:ext cx="360" cy="265680"/>
          </a:xfrm>
          <a:prstGeom prst="straightConnector1">
            <a:avLst/>
          </a:prstGeom>
          <a:ln w="22225">
            <a:solidFill>
              <a:srgbClr val="6b7280"/>
            </a:solidFill>
            <a:round/>
          </a:ln>
        </p:spPr>
      </p:cxnSp>
      <p:sp>
        <p:nvSpPr>
          <p:cNvPr id="153" name="Isosceles Triangle 22"/>
          <p:cNvSpPr/>
          <p:nvPr/>
        </p:nvSpPr>
        <p:spPr>
          <a:xfrm rot="10800000">
            <a:off x="8888400" y="297216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6b72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Rounded Rectangle 23"/>
          <p:cNvSpPr/>
          <p:nvPr/>
        </p:nvSpPr>
        <p:spPr>
          <a:xfrm>
            <a:off x="6949440" y="3063240"/>
            <a:ext cx="4023000" cy="566640"/>
          </a:xfrm>
          <a:prstGeom prst="roundRect">
            <a:avLst>
              <a:gd name="adj" fmla="val 15000"/>
            </a:avLst>
          </a:prstGeom>
          <a:solidFill>
            <a:srgbClr val="cfe9e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AGGREGATE векторов соседей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5" name="Connector 24"/>
          <p:cNvCxnSpPr/>
          <p:nvPr/>
        </p:nvCxnSpPr>
        <p:spPr>
          <a:xfrm>
            <a:off x="8961120" y="3648240"/>
            <a:ext cx="360" cy="265680"/>
          </a:xfrm>
          <a:prstGeom prst="straightConnector1">
            <a:avLst/>
          </a:prstGeom>
          <a:ln w="22225">
            <a:solidFill>
              <a:srgbClr val="6b7280"/>
            </a:solidFill>
            <a:round/>
          </a:ln>
        </p:spPr>
      </p:cxnSp>
      <p:sp>
        <p:nvSpPr>
          <p:cNvPr id="156" name="Isosceles Triangle 25"/>
          <p:cNvSpPr/>
          <p:nvPr/>
        </p:nvSpPr>
        <p:spPr>
          <a:xfrm rot="10800000">
            <a:off x="8888400" y="384084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6b72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Rounded Rectangle 26"/>
          <p:cNvSpPr/>
          <p:nvPr/>
        </p:nvSpPr>
        <p:spPr>
          <a:xfrm>
            <a:off x="6949440" y="3931920"/>
            <a:ext cx="4023000" cy="566640"/>
          </a:xfrm>
          <a:prstGeom prst="roundRect">
            <a:avLst>
              <a:gd name="adj" fmla="val 15000"/>
            </a:avLst>
          </a:prstGeom>
          <a:solidFill>
            <a:srgbClr val="cfe9e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UPDATE с обучаемыми весами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8" name="Connector 27"/>
          <p:cNvCxnSpPr/>
          <p:nvPr/>
        </p:nvCxnSpPr>
        <p:spPr>
          <a:xfrm>
            <a:off x="8961120" y="4516920"/>
            <a:ext cx="360" cy="265680"/>
          </a:xfrm>
          <a:prstGeom prst="straightConnector1">
            <a:avLst/>
          </a:prstGeom>
          <a:ln w="22225">
            <a:solidFill>
              <a:srgbClr val="6b7280"/>
            </a:solidFill>
            <a:round/>
          </a:ln>
        </p:spPr>
      </p:cxnSp>
      <p:sp>
        <p:nvSpPr>
          <p:cNvPr id="159" name="Isosceles Triangle 28"/>
          <p:cNvSpPr/>
          <p:nvPr/>
        </p:nvSpPr>
        <p:spPr>
          <a:xfrm rot="10800000">
            <a:off x="8888400" y="470952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6b72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Rounded Rectangle 29"/>
          <p:cNvSpPr/>
          <p:nvPr/>
        </p:nvSpPr>
        <p:spPr>
          <a:xfrm>
            <a:off x="6949440" y="4800600"/>
            <a:ext cx="4023000" cy="566640"/>
          </a:xfrm>
          <a:prstGeom prst="roundRect">
            <a:avLst>
              <a:gd name="adj" fmla="val 15000"/>
            </a:avLst>
          </a:prstGeom>
          <a:solidFill>
            <a:srgbClr val="cfe9e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новый вектор h_v′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30"/>
          <p:cNvSpPr/>
          <p:nvPr/>
        </p:nvSpPr>
        <p:spPr>
          <a:xfrm>
            <a:off x="5532120" y="227700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≈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31"/>
          <p:cNvSpPr/>
          <p:nvPr/>
        </p:nvSpPr>
        <p:spPr>
          <a:xfrm>
            <a:off x="5532120" y="314568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≈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32"/>
          <p:cNvSpPr/>
          <p:nvPr/>
        </p:nvSpPr>
        <p:spPr>
          <a:xfrm>
            <a:off x="5532120" y="401436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≈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33"/>
          <p:cNvSpPr/>
          <p:nvPr/>
        </p:nvSpPr>
        <p:spPr>
          <a:xfrm>
            <a:off x="5532120" y="488304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≈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34"/>
          <p:cNvSpPr/>
          <p:nvPr/>
        </p:nvSpPr>
        <p:spPr>
          <a:xfrm>
            <a:off x="640080" y="566928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5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Слой GNN — это шаг WL, где вместо хеш-функции стоят обучаемые веса. Отсюда и предел: раз хеш у WL идеальный, обучаемая функция не может различать лучше.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6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8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69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ПРЕДЕЛ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Теорема Xu et al., 2019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7"/>
          <p:cNvSpPr/>
          <p:nvPr/>
        </p:nvSpPr>
        <p:spPr>
          <a:xfrm>
            <a:off x="640080" y="1481400"/>
            <a:ext cx="603468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Любая GNN с передачей сообщений различает не больше графов, чем WL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Ровно столько же — если AGGREGATE и UPDATE инъективны: разные мультимножества соседей дают разные векторы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Следствие: если WL не различает два графа, их не различат ни GCN, ни GraphSAGE, ни GAT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Значит, выбор агрегации — это выбор силы модели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ounded Rectangle 8"/>
          <p:cNvSpPr/>
          <p:nvPr/>
        </p:nvSpPr>
        <p:spPr>
          <a:xfrm>
            <a:off x="7680960" y="2011680"/>
            <a:ext cx="3108600" cy="685440"/>
          </a:xfrm>
          <a:prstGeom prst="roundRect">
            <a:avLst>
              <a:gd name="adj" fmla="val 15000"/>
            </a:avLst>
          </a:prstGeom>
          <a:solidFill>
            <a:srgbClr val="1f3a5f"/>
          </a:solidFill>
          <a:ln w="1270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WL-тест</a:t>
            </a:r>
            <a:endParaRPr b="0" lang="ru-RU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9"/>
          <p:cNvSpPr/>
          <p:nvPr/>
        </p:nvSpPr>
        <p:spPr>
          <a:xfrm>
            <a:off x="8778240" y="272484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=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ounded Rectangle 10"/>
          <p:cNvSpPr/>
          <p:nvPr/>
        </p:nvSpPr>
        <p:spPr>
          <a:xfrm>
            <a:off x="7680960" y="3154680"/>
            <a:ext cx="3108600" cy="685440"/>
          </a:xfrm>
          <a:prstGeom prst="roundRect">
            <a:avLst>
              <a:gd name="adj" fmla="val 15000"/>
            </a:avLst>
          </a:prstGeom>
          <a:solidFill>
            <a:srgbClr val="0e8f8f"/>
          </a:solidFill>
          <a:ln w="1270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GIN</a:t>
            </a:r>
            <a:endParaRPr b="0" lang="ru-RU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11"/>
          <p:cNvSpPr/>
          <p:nvPr/>
        </p:nvSpPr>
        <p:spPr>
          <a:xfrm>
            <a:off x="8778240" y="386784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≥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12"/>
          <p:cNvSpPr/>
          <p:nvPr/>
        </p:nvSpPr>
        <p:spPr>
          <a:xfrm>
            <a:off x="7680960" y="4297680"/>
            <a:ext cx="3108600" cy="685440"/>
          </a:xfrm>
          <a:prstGeom prst="roundRect">
            <a:avLst>
              <a:gd name="adj" fmla="val 15000"/>
            </a:avLst>
          </a:prstGeom>
          <a:solidFill>
            <a:srgbClr val="e1e3e6"/>
          </a:solidFill>
          <a:ln w="12700">
            <a:solidFill>
              <a:srgbClr val="e1e3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GCN, GraphSAGE, GAT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13"/>
          <p:cNvSpPr/>
          <p:nvPr/>
        </p:nvSpPr>
        <p:spPr>
          <a:xfrm>
            <a:off x="6949440" y="548640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Сверху вниз: сила различения графов. GIN дотягивает до WL, GCN, GraphSAGE и GAT — не сильнее.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7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1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82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АГРЕГАЦИЯ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Что теряют среднее и максимум?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6" name="Oval 8"/>
          <p:cNvSpPr/>
          <p:nvPr/>
        </p:nvSpPr>
        <p:spPr>
          <a:xfrm>
            <a:off x="1024200" y="1938600"/>
            <a:ext cx="420120" cy="42012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Oval 9"/>
          <p:cNvSpPr/>
          <p:nvPr/>
        </p:nvSpPr>
        <p:spPr>
          <a:xfrm>
            <a:off x="2030040" y="1938600"/>
            <a:ext cx="420120" cy="42012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Oval 10"/>
          <p:cNvSpPr/>
          <p:nvPr/>
        </p:nvSpPr>
        <p:spPr>
          <a:xfrm>
            <a:off x="3150000" y="1938600"/>
            <a:ext cx="420120" cy="42012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Oval 11"/>
          <p:cNvSpPr/>
          <p:nvPr/>
        </p:nvSpPr>
        <p:spPr>
          <a:xfrm>
            <a:off x="3652920" y="1938600"/>
            <a:ext cx="420120" cy="42012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Oval 12"/>
          <p:cNvSpPr/>
          <p:nvPr/>
        </p:nvSpPr>
        <p:spPr>
          <a:xfrm>
            <a:off x="4155840" y="1938600"/>
            <a:ext cx="420120" cy="42012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Oval 13"/>
          <p:cNvSpPr/>
          <p:nvPr/>
        </p:nvSpPr>
        <p:spPr>
          <a:xfrm>
            <a:off x="4658760" y="1938600"/>
            <a:ext cx="420120" cy="42012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14"/>
          <p:cNvSpPr/>
          <p:nvPr/>
        </p:nvSpPr>
        <p:spPr>
          <a:xfrm>
            <a:off x="640080" y="1490400"/>
            <a:ext cx="127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пара 1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15"/>
          <p:cNvSpPr/>
          <p:nvPr/>
        </p:nvSpPr>
        <p:spPr>
          <a:xfrm>
            <a:off x="548640" y="246888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соседи первой вершины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16"/>
          <p:cNvSpPr/>
          <p:nvPr/>
        </p:nvSpPr>
        <p:spPr>
          <a:xfrm>
            <a:off x="2926080" y="246888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соседи второй вершины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Oval 17"/>
          <p:cNvSpPr/>
          <p:nvPr/>
        </p:nvSpPr>
        <p:spPr>
          <a:xfrm>
            <a:off x="1024200" y="3538800"/>
            <a:ext cx="420120" cy="42012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Oval 18"/>
          <p:cNvSpPr/>
          <p:nvPr/>
        </p:nvSpPr>
        <p:spPr>
          <a:xfrm>
            <a:off x="2030040" y="3538800"/>
            <a:ext cx="420120" cy="42012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Oval 19"/>
          <p:cNvSpPr/>
          <p:nvPr/>
        </p:nvSpPr>
        <p:spPr>
          <a:xfrm>
            <a:off x="3233880" y="3538800"/>
            <a:ext cx="420120" cy="42012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Oval 20"/>
          <p:cNvSpPr/>
          <p:nvPr/>
        </p:nvSpPr>
        <p:spPr>
          <a:xfrm>
            <a:off x="3904560" y="3538800"/>
            <a:ext cx="420120" cy="42012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Oval 21"/>
          <p:cNvSpPr/>
          <p:nvPr/>
        </p:nvSpPr>
        <p:spPr>
          <a:xfrm>
            <a:off x="4574880" y="3538800"/>
            <a:ext cx="420120" cy="42012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22"/>
          <p:cNvSpPr/>
          <p:nvPr/>
        </p:nvSpPr>
        <p:spPr>
          <a:xfrm>
            <a:off x="640080" y="3090600"/>
            <a:ext cx="127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пара 2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23"/>
          <p:cNvSpPr/>
          <p:nvPr/>
        </p:nvSpPr>
        <p:spPr>
          <a:xfrm>
            <a:off x="548640" y="406908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соседи первой вершины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24"/>
          <p:cNvSpPr/>
          <p:nvPr/>
        </p:nvSpPr>
        <p:spPr>
          <a:xfrm>
            <a:off x="2926080" y="406908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соседи второй вершины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03" name="Table 25"/>
          <p:cNvGraphicFramePr/>
          <p:nvPr/>
        </p:nvGraphicFramePr>
        <p:xfrm>
          <a:off x="5760720" y="2377440"/>
          <a:ext cx="5760360" cy="1261440"/>
        </p:xfrm>
        <a:graphic>
          <a:graphicData uri="http://schemas.openxmlformats.org/drawingml/2006/table">
            <a:tbl>
              <a:tblPr/>
              <a:tblGrid>
                <a:gridCol w="1097280"/>
                <a:gridCol w="1554480"/>
                <a:gridCol w="1554480"/>
                <a:gridCol w="155448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среднее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максимум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сумма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пара 1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1.5 = 1.5  ✗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 = 2  ✗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3 ≠ 6  ✓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пара 2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1.5 ≠ 1.67  ✓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 = 2  ✗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3 ≠ 5  ✓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04" name="TextBox 26"/>
          <p:cNvSpPr/>
          <p:nvPr/>
        </p:nvSpPr>
        <p:spPr>
          <a:xfrm>
            <a:off x="640080" y="530352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5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Числа в кружках — признаки соседей. ✗ — агрегация не отличила соседей, ✓ — отличила. Только сумма различает оба случая: она помнит, сколько каких соседей было.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8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7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208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XU ET AL., 2019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GIN: сумма и MLP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Rounded Rectangle 7"/>
          <p:cNvSpPr/>
          <p:nvPr/>
        </p:nvSpPr>
        <p:spPr>
          <a:xfrm>
            <a:off x="640080" y="1801440"/>
            <a:ext cx="10911240" cy="17827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12" name="Picture 8" descr="f_gin.png"/>
          <p:cNvPicPr/>
          <p:nvPr/>
        </p:nvPicPr>
        <p:blipFill>
          <a:blip r:embed="rId1"/>
          <a:stretch/>
        </p:blipFill>
        <p:spPr>
          <a:xfrm>
            <a:off x="3497400" y="2258640"/>
            <a:ext cx="5196240" cy="86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TextBox 9"/>
          <p:cNvSpPr/>
          <p:nvPr/>
        </p:nvSpPr>
        <p:spPr>
          <a:xfrm>
            <a:off x="640080" y="3813120"/>
            <a:ext cx="1091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Сумма по соседям помнит, сколько каких соседей пришло. MLP после суммы делает обновление инъективным: разные мультимножества — разные векторы. Множитель (1 + ε) отделяет собственный вектор вершины от суммы соседей.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9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6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217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ПАУЗА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Какую агрегацию выбрать?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20" name="Picture 7" descr="meme_sum_aggregation.png"/>
          <p:cNvPicPr/>
          <p:nvPr/>
        </p:nvPicPr>
        <p:blipFill>
          <a:blip r:embed="rId1"/>
          <a:stretch/>
        </p:blipFill>
        <p:spPr>
          <a:xfrm>
            <a:off x="4129920" y="1481400"/>
            <a:ext cx="3931560" cy="393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1" name="TextBox 8"/>
          <p:cNvSpPr/>
          <p:nvPr/>
        </p:nvSpPr>
        <p:spPr>
          <a:xfrm>
            <a:off x="640080" y="559620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Среднее удобно, но теряет информацию. Сумма с MLP — ровно столько, сколько видит WL.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10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4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225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ПРИМЕРЫ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Неизоморфные, но для WL одинаковые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8"/>
          <p:cNvSpPr/>
          <p:nvPr/>
        </p:nvSpPr>
        <p:spPr>
          <a:xfrm>
            <a:off x="640080" y="1691640"/>
            <a:ext cx="5303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Цикл из 6 вершин и два треугольника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0" name="Connector 9"/>
          <p:cNvCxnSpPr/>
          <p:nvPr/>
        </p:nvCxnSpPr>
        <p:spPr>
          <a:xfrm>
            <a:off x="1879560" y="2368080"/>
            <a:ext cx="507240" cy="2930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31" name="Connector 10"/>
          <p:cNvCxnSpPr/>
          <p:nvPr/>
        </p:nvCxnSpPr>
        <p:spPr>
          <a:xfrm>
            <a:off x="2529000" y="2907720"/>
            <a:ext cx="360" cy="585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32" name="Connector 11"/>
          <p:cNvCxnSpPr/>
          <p:nvPr/>
        </p:nvCxnSpPr>
        <p:spPr>
          <a:xfrm flipH="1">
            <a:off x="1879560" y="3739680"/>
            <a:ext cx="507240" cy="2930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33" name="Connector 12"/>
          <p:cNvCxnSpPr/>
          <p:nvPr/>
        </p:nvCxnSpPr>
        <p:spPr>
          <a:xfrm flipH="1" flipV="1">
            <a:off x="1087920" y="3739680"/>
            <a:ext cx="507240" cy="2930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34" name="Connector 13"/>
          <p:cNvCxnSpPr/>
          <p:nvPr/>
        </p:nvCxnSpPr>
        <p:spPr>
          <a:xfrm flipV="1">
            <a:off x="945360" y="2907720"/>
            <a:ext cx="360" cy="585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35" name="Connector 14"/>
          <p:cNvCxnSpPr/>
          <p:nvPr/>
        </p:nvCxnSpPr>
        <p:spPr>
          <a:xfrm flipV="1">
            <a:off x="1087920" y="2368080"/>
            <a:ext cx="507240" cy="2930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236" name="Oval 15"/>
          <p:cNvSpPr/>
          <p:nvPr/>
        </p:nvSpPr>
        <p:spPr>
          <a:xfrm>
            <a:off x="1572840" y="212148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Oval 16"/>
          <p:cNvSpPr/>
          <p:nvPr/>
        </p:nvSpPr>
        <p:spPr>
          <a:xfrm>
            <a:off x="2364840" y="257868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Oval 17"/>
          <p:cNvSpPr/>
          <p:nvPr/>
        </p:nvSpPr>
        <p:spPr>
          <a:xfrm>
            <a:off x="2364840" y="349308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Oval 18"/>
          <p:cNvSpPr/>
          <p:nvPr/>
        </p:nvSpPr>
        <p:spPr>
          <a:xfrm>
            <a:off x="1572840" y="395028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Oval 19"/>
          <p:cNvSpPr/>
          <p:nvPr/>
        </p:nvSpPr>
        <p:spPr>
          <a:xfrm>
            <a:off x="780840" y="349308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Oval 20"/>
          <p:cNvSpPr/>
          <p:nvPr/>
        </p:nvSpPr>
        <p:spPr>
          <a:xfrm>
            <a:off x="780840" y="257868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42" name="Connector 21"/>
          <p:cNvCxnSpPr/>
          <p:nvPr/>
        </p:nvCxnSpPr>
        <p:spPr>
          <a:xfrm>
            <a:off x="4025520" y="2439360"/>
            <a:ext cx="268920" cy="3880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43" name="Connector 22"/>
          <p:cNvCxnSpPr/>
          <p:nvPr/>
        </p:nvCxnSpPr>
        <p:spPr>
          <a:xfrm flipH="1">
            <a:off x="3640320" y="2962440"/>
            <a:ext cx="58320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44" name="Connector 23"/>
          <p:cNvCxnSpPr/>
          <p:nvPr/>
        </p:nvCxnSpPr>
        <p:spPr>
          <a:xfrm flipV="1">
            <a:off x="3569400" y="2439360"/>
            <a:ext cx="268920" cy="3880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45" name="Connector 24"/>
          <p:cNvCxnSpPr/>
          <p:nvPr/>
        </p:nvCxnSpPr>
        <p:spPr>
          <a:xfrm>
            <a:off x="5122800" y="3353760"/>
            <a:ext cx="268920" cy="3880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46" name="Connector 25"/>
          <p:cNvCxnSpPr/>
          <p:nvPr/>
        </p:nvCxnSpPr>
        <p:spPr>
          <a:xfrm flipH="1">
            <a:off x="4737600" y="3876840"/>
            <a:ext cx="58320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47" name="Connector 26"/>
          <p:cNvCxnSpPr/>
          <p:nvPr/>
        </p:nvCxnSpPr>
        <p:spPr>
          <a:xfrm flipV="1">
            <a:off x="4666680" y="3353760"/>
            <a:ext cx="268920" cy="3880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248" name="Oval 27"/>
          <p:cNvSpPr/>
          <p:nvPr/>
        </p:nvSpPr>
        <p:spPr>
          <a:xfrm>
            <a:off x="3767400" y="213984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Oval 28"/>
          <p:cNvSpPr/>
          <p:nvPr/>
        </p:nvSpPr>
        <p:spPr>
          <a:xfrm>
            <a:off x="4223520" y="279792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Oval 29"/>
          <p:cNvSpPr/>
          <p:nvPr/>
        </p:nvSpPr>
        <p:spPr>
          <a:xfrm>
            <a:off x="3311280" y="279792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Oval 30"/>
          <p:cNvSpPr/>
          <p:nvPr/>
        </p:nvSpPr>
        <p:spPr>
          <a:xfrm>
            <a:off x="4864680" y="305424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Oval 31"/>
          <p:cNvSpPr/>
          <p:nvPr/>
        </p:nvSpPr>
        <p:spPr>
          <a:xfrm>
            <a:off x="5320800" y="371232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Oval 32"/>
          <p:cNvSpPr/>
          <p:nvPr/>
        </p:nvSpPr>
        <p:spPr>
          <a:xfrm>
            <a:off x="4408560" y="371232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33"/>
          <p:cNvSpPr/>
          <p:nvPr/>
        </p:nvSpPr>
        <p:spPr>
          <a:xfrm>
            <a:off x="6309360" y="1691640"/>
            <a:ext cx="5303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Декалин и бициклопентил (обе молекулы — C₁₀H₁₈)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5" name="Connector 34"/>
          <p:cNvCxnSpPr/>
          <p:nvPr/>
        </p:nvCxnSpPr>
        <p:spPr>
          <a:xfrm>
            <a:off x="7589520" y="2971800"/>
            <a:ext cx="360" cy="4575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56" name="Connector 35"/>
          <p:cNvCxnSpPr/>
          <p:nvPr/>
        </p:nvCxnSpPr>
        <p:spPr>
          <a:xfrm>
            <a:off x="7711920" y="3627360"/>
            <a:ext cx="303840" cy="1519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57" name="Connector 36"/>
          <p:cNvCxnSpPr/>
          <p:nvPr/>
        </p:nvCxnSpPr>
        <p:spPr>
          <a:xfrm flipV="1">
            <a:off x="8260560" y="3627360"/>
            <a:ext cx="303840" cy="1519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58" name="Connector 37"/>
          <p:cNvCxnSpPr/>
          <p:nvPr/>
        </p:nvCxnSpPr>
        <p:spPr>
          <a:xfrm flipV="1">
            <a:off x="8686800" y="2971800"/>
            <a:ext cx="360" cy="4575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59" name="Connector 38"/>
          <p:cNvCxnSpPr/>
          <p:nvPr/>
        </p:nvCxnSpPr>
        <p:spPr>
          <a:xfrm flipH="1" flipV="1">
            <a:off x="8260560" y="2621520"/>
            <a:ext cx="303840" cy="1519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60" name="Connector 39"/>
          <p:cNvCxnSpPr/>
          <p:nvPr/>
        </p:nvCxnSpPr>
        <p:spPr>
          <a:xfrm flipH="1">
            <a:off x="7711920" y="2621520"/>
            <a:ext cx="303840" cy="1519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61" name="Connector 40"/>
          <p:cNvCxnSpPr/>
          <p:nvPr/>
        </p:nvCxnSpPr>
        <p:spPr>
          <a:xfrm flipH="1" flipV="1">
            <a:off x="7163280" y="2621520"/>
            <a:ext cx="303840" cy="1519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62" name="Connector 41"/>
          <p:cNvCxnSpPr/>
          <p:nvPr/>
        </p:nvCxnSpPr>
        <p:spPr>
          <a:xfrm flipH="1">
            <a:off x="6614640" y="2621520"/>
            <a:ext cx="303840" cy="1519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63" name="Connector 42"/>
          <p:cNvCxnSpPr/>
          <p:nvPr/>
        </p:nvCxnSpPr>
        <p:spPr>
          <a:xfrm>
            <a:off x="6492240" y="2971800"/>
            <a:ext cx="360" cy="4575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64" name="Connector 43"/>
          <p:cNvCxnSpPr/>
          <p:nvPr/>
        </p:nvCxnSpPr>
        <p:spPr>
          <a:xfrm>
            <a:off x="6614640" y="3627360"/>
            <a:ext cx="303840" cy="1519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65" name="Connector 44"/>
          <p:cNvCxnSpPr/>
          <p:nvPr/>
        </p:nvCxnSpPr>
        <p:spPr>
          <a:xfrm flipV="1">
            <a:off x="7163280" y="3627360"/>
            <a:ext cx="303840" cy="1519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266" name="Oval 45"/>
          <p:cNvSpPr/>
          <p:nvPr/>
        </p:nvSpPr>
        <p:spPr>
          <a:xfrm>
            <a:off x="7452360" y="269748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Oval 46"/>
          <p:cNvSpPr/>
          <p:nvPr/>
        </p:nvSpPr>
        <p:spPr>
          <a:xfrm>
            <a:off x="8001000" y="242316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Oval 47"/>
          <p:cNvSpPr/>
          <p:nvPr/>
        </p:nvSpPr>
        <p:spPr>
          <a:xfrm>
            <a:off x="8549640" y="269748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Oval 48"/>
          <p:cNvSpPr/>
          <p:nvPr/>
        </p:nvSpPr>
        <p:spPr>
          <a:xfrm>
            <a:off x="8549640" y="342900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Oval 49"/>
          <p:cNvSpPr/>
          <p:nvPr/>
        </p:nvSpPr>
        <p:spPr>
          <a:xfrm>
            <a:off x="8001000" y="370332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Oval 50"/>
          <p:cNvSpPr/>
          <p:nvPr/>
        </p:nvSpPr>
        <p:spPr>
          <a:xfrm>
            <a:off x="7452360" y="342900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Oval 51"/>
          <p:cNvSpPr/>
          <p:nvPr/>
        </p:nvSpPr>
        <p:spPr>
          <a:xfrm>
            <a:off x="6903720" y="242316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Oval 52"/>
          <p:cNvSpPr/>
          <p:nvPr/>
        </p:nvSpPr>
        <p:spPr>
          <a:xfrm>
            <a:off x="6355080" y="269748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Oval 53"/>
          <p:cNvSpPr/>
          <p:nvPr/>
        </p:nvSpPr>
        <p:spPr>
          <a:xfrm>
            <a:off x="6355080" y="342900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Oval 54"/>
          <p:cNvSpPr/>
          <p:nvPr/>
        </p:nvSpPr>
        <p:spPr>
          <a:xfrm>
            <a:off x="6903720" y="370332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76" name="Connector 55"/>
          <p:cNvCxnSpPr/>
          <p:nvPr/>
        </p:nvCxnSpPr>
        <p:spPr>
          <a:xfrm flipH="1">
            <a:off x="9762480" y="3298320"/>
            <a:ext cx="132480" cy="1346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77" name="Connector 56"/>
          <p:cNvCxnSpPr/>
          <p:nvPr/>
        </p:nvCxnSpPr>
        <p:spPr>
          <a:xfrm flipH="1" flipV="1">
            <a:off x="9275400" y="3436560"/>
            <a:ext cx="258120" cy="622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78" name="Connector 57"/>
          <p:cNvCxnSpPr/>
          <p:nvPr/>
        </p:nvCxnSpPr>
        <p:spPr>
          <a:xfrm flipV="1">
            <a:off x="9141840" y="3133080"/>
            <a:ext cx="360" cy="1346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79" name="Connector 58"/>
          <p:cNvCxnSpPr/>
          <p:nvPr/>
        </p:nvCxnSpPr>
        <p:spPr>
          <a:xfrm flipV="1">
            <a:off x="9275400" y="2901960"/>
            <a:ext cx="258120" cy="622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80" name="Connector 59"/>
          <p:cNvCxnSpPr/>
          <p:nvPr/>
        </p:nvCxnSpPr>
        <p:spPr>
          <a:xfrm>
            <a:off x="9762480" y="2967840"/>
            <a:ext cx="132480" cy="1346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81" name="Connector 60"/>
          <p:cNvCxnSpPr/>
          <p:nvPr/>
        </p:nvCxnSpPr>
        <p:spPr>
          <a:xfrm flipV="1">
            <a:off x="10679040" y="2967840"/>
            <a:ext cx="132480" cy="1346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82" name="Connector 61"/>
          <p:cNvCxnSpPr/>
          <p:nvPr/>
        </p:nvCxnSpPr>
        <p:spPr>
          <a:xfrm>
            <a:off x="11040480" y="2901960"/>
            <a:ext cx="258120" cy="622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83" name="Connector 62"/>
          <p:cNvCxnSpPr/>
          <p:nvPr/>
        </p:nvCxnSpPr>
        <p:spPr>
          <a:xfrm>
            <a:off x="11431800" y="3133080"/>
            <a:ext cx="360" cy="1346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84" name="Connector 63"/>
          <p:cNvCxnSpPr/>
          <p:nvPr/>
        </p:nvCxnSpPr>
        <p:spPr>
          <a:xfrm flipH="1">
            <a:off x="11040480" y="3436560"/>
            <a:ext cx="258120" cy="622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85" name="Connector 64"/>
          <p:cNvCxnSpPr/>
          <p:nvPr/>
        </p:nvCxnSpPr>
        <p:spPr>
          <a:xfrm flipH="1" flipV="1">
            <a:off x="10679040" y="3298320"/>
            <a:ext cx="132480" cy="1346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86" name="Connector 65"/>
          <p:cNvCxnSpPr/>
          <p:nvPr/>
        </p:nvCxnSpPr>
        <p:spPr>
          <a:xfrm>
            <a:off x="10127880" y="3200400"/>
            <a:ext cx="31824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287" name="Oval 66"/>
          <p:cNvSpPr/>
          <p:nvPr/>
        </p:nvSpPr>
        <p:spPr>
          <a:xfrm>
            <a:off x="9853560" y="306324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Oval 67"/>
          <p:cNvSpPr/>
          <p:nvPr/>
        </p:nvSpPr>
        <p:spPr>
          <a:xfrm>
            <a:off x="9529560" y="339372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Oval 68"/>
          <p:cNvSpPr/>
          <p:nvPr/>
        </p:nvSpPr>
        <p:spPr>
          <a:xfrm>
            <a:off x="9005040" y="326736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Oval 69"/>
          <p:cNvSpPr/>
          <p:nvPr/>
        </p:nvSpPr>
        <p:spPr>
          <a:xfrm>
            <a:off x="9005040" y="285912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1" name="Oval 70"/>
          <p:cNvSpPr/>
          <p:nvPr/>
        </p:nvSpPr>
        <p:spPr>
          <a:xfrm>
            <a:off x="9529560" y="273276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Oval 71"/>
          <p:cNvSpPr/>
          <p:nvPr/>
        </p:nvSpPr>
        <p:spPr>
          <a:xfrm>
            <a:off x="10446120" y="306324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3" name="Oval 72"/>
          <p:cNvSpPr/>
          <p:nvPr/>
        </p:nvSpPr>
        <p:spPr>
          <a:xfrm>
            <a:off x="10770120" y="273276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Oval 73"/>
          <p:cNvSpPr/>
          <p:nvPr/>
        </p:nvSpPr>
        <p:spPr>
          <a:xfrm>
            <a:off x="11294640" y="285912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Oval 74"/>
          <p:cNvSpPr/>
          <p:nvPr/>
        </p:nvSpPr>
        <p:spPr>
          <a:xfrm>
            <a:off x="11294640" y="326736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6" name="Oval 75"/>
          <p:cNvSpPr/>
          <p:nvPr/>
        </p:nvSpPr>
        <p:spPr>
          <a:xfrm>
            <a:off x="10770120" y="339372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TextBox 76"/>
          <p:cNvSpPr/>
          <p:nvPr/>
        </p:nvSpPr>
        <p:spPr>
          <a:xfrm>
            <a:off x="640080" y="4434840"/>
            <a:ext cx="108810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 каждой паре одинаковые степени, и WL на каждом шаге получает одинаковые гистограммы цветов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Цикл связный, а два треугольника — нет: GNN не видит даже связности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Молекулы отличаются кольцами из 6 и 5 атомов, а GNN видит одно и то же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77"/>
          <p:cNvSpPr/>
          <p:nvPr/>
        </p:nvSpPr>
        <p:spPr>
          <a:xfrm>
            <a:off x="640080" y="566928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Проверено расчётом: для каждой пары WL за 6 итераций даёт одинаковые гистограммы цветов, хотя графы не изоморфны.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1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302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ПАУЗА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Как GNN видит эти графы?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05" name="Picture 7" descr="meme_pigeon_wl.png"/>
          <p:cNvPicPr/>
          <p:nvPr/>
        </p:nvPicPr>
        <p:blipFill>
          <a:blip r:embed="rId1"/>
          <a:stretch/>
        </p:blipFill>
        <p:spPr>
          <a:xfrm>
            <a:off x="3906360" y="1481400"/>
            <a:ext cx="4378680" cy="393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6" name="TextBox 8"/>
          <p:cNvSpPr/>
          <p:nvPr/>
        </p:nvSpPr>
        <p:spPr>
          <a:xfrm>
            <a:off x="640080" y="559620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Для WL и для любой обычной GNN это один и тот же граф.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310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ДАТАСЕТ-ЛОВУШКА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CSL: 150 графов, которые WL не различает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3" name="TextBox 7"/>
          <p:cNvSpPr/>
          <p:nvPr/>
        </p:nvSpPr>
        <p:spPr>
          <a:xfrm>
            <a:off x="640080" y="1481400"/>
            <a:ext cx="54860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Цикл из 41 вершин плюс хорды через R вершин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R задаёт класс: 10 классов по 15 графов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У каждой вершины ровно 4 соседа — WL красит все вершины одинаково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Признаков у вершин нет, отличить графы можно только по структуре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Любая обычная GNN угадывает класс в 10% случаев — как бросок десятигранного кубика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4" name="Connector 8"/>
          <p:cNvCxnSpPr/>
          <p:nvPr/>
        </p:nvCxnSpPr>
        <p:spPr>
          <a:xfrm>
            <a:off x="7543440" y="2014920"/>
            <a:ext cx="90720" cy="72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15" name="Connector 9"/>
          <p:cNvCxnSpPr/>
          <p:nvPr/>
        </p:nvCxnSpPr>
        <p:spPr>
          <a:xfrm>
            <a:off x="7723800" y="2035800"/>
            <a:ext cx="88560" cy="208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16" name="Connector 10"/>
          <p:cNvCxnSpPr/>
          <p:nvPr/>
        </p:nvCxnSpPr>
        <p:spPr>
          <a:xfrm>
            <a:off x="7899120" y="2084040"/>
            <a:ext cx="84240" cy="342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17" name="Connector 11"/>
          <p:cNvCxnSpPr/>
          <p:nvPr/>
        </p:nvCxnSpPr>
        <p:spPr>
          <a:xfrm>
            <a:off x="8064720" y="2158200"/>
            <a:ext cx="78120" cy="468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18" name="Connector 12"/>
          <p:cNvCxnSpPr/>
          <p:nvPr/>
        </p:nvCxnSpPr>
        <p:spPr>
          <a:xfrm>
            <a:off x="8217000" y="2257200"/>
            <a:ext cx="70200" cy="579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19" name="Connector 13"/>
          <p:cNvCxnSpPr/>
          <p:nvPr/>
        </p:nvCxnSpPr>
        <p:spPr>
          <a:xfrm>
            <a:off x="8352720" y="2377800"/>
            <a:ext cx="60480" cy="680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20" name="Connector 14"/>
          <p:cNvCxnSpPr/>
          <p:nvPr/>
        </p:nvCxnSpPr>
        <p:spPr>
          <a:xfrm>
            <a:off x="8468280" y="2517840"/>
            <a:ext cx="49320" cy="7632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21" name="Connector 15"/>
          <p:cNvCxnSpPr/>
          <p:nvPr/>
        </p:nvCxnSpPr>
        <p:spPr>
          <a:xfrm>
            <a:off x="8560800" y="2674080"/>
            <a:ext cx="37440" cy="828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22" name="Connector 16"/>
          <p:cNvCxnSpPr/>
          <p:nvPr/>
        </p:nvCxnSpPr>
        <p:spPr>
          <a:xfrm>
            <a:off x="8628840" y="2842560"/>
            <a:ext cx="24120" cy="874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23" name="Connector 17"/>
          <p:cNvCxnSpPr/>
          <p:nvPr/>
        </p:nvCxnSpPr>
        <p:spPr>
          <a:xfrm>
            <a:off x="8670240" y="3019320"/>
            <a:ext cx="10800" cy="903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24" name="Connector 18"/>
          <p:cNvCxnSpPr/>
          <p:nvPr/>
        </p:nvCxnSpPr>
        <p:spPr>
          <a:xfrm flipH="1">
            <a:off x="8680680" y="3200400"/>
            <a:ext cx="3600" cy="9072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25" name="Connector 19"/>
          <p:cNvCxnSpPr/>
          <p:nvPr/>
        </p:nvCxnSpPr>
        <p:spPr>
          <a:xfrm flipH="1">
            <a:off x="8652960" y="3381480"/>
            <a:ext cx="17640" cy="892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26" name="Connector 20"/>
          <p:cNvCxnSpPr/>
          <p:nvPr/>
        </p:nvCxnSpPr>
        <p:spPr>
          <a:xfrm flipH="1">
            <a:off x="8598240" y="3558240"/>
            <a:ext cx="30960" cy="856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27" name="Connector 21"/>
          <p:cNvCxnSpPr/>
          <p:nvPr/>
        </p:nvCxnSpPr>
        <p:spPr>
          <a:xfrm flipH="1">
            <a:off x="8517600" y="3726720"/>
            <a:ext cx="43560" cy="7992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28" name="Connector 22"/>
          <p:cNvCxnSpPr/>
          <p:nvPr/>
        </p:nvCxnSpPr>
        <p:spPr>
          <a:xfrm flipH="1">
            <a:off x="8413200" y="3882600"/>
            <a:ext cx="55080" cy="723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29" name="Connector 23"/>
          <p:cNvCxnSpPr/>
          <p:nvPr/>
        </p:nvCxnSpPr>
        <p:spPr>
          <a:xfrm flipH="1">
            <a:off x="8287200" y="4022640"/>
            <a:ext cx="65520" cy="633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30" name="Connector 24"/>
          <p:cNvCxnSpPr/>
          <p:nvPr/>
        </p:nvCxnSpPr>
        <p:spPr>
          <a:xfrm flipH="1">
            <a:off x="8142840" y="4143600"/>
            <a:ext cx="74160" cy="525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31" name="Connector 25"/>
          <p:cNvCxnSpPr/>
          <p:nvPr/>
        </p:nvCxnSpPr>
        <p:spPr>
          <a:xfrm flipH="1">
            <a:off x="7983360" y="4242240"/>
            <a:ext cx="81360" cy="406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32" name="Connector 26"/>
          <p:cNvCxnSpPr/>
          <p:nvPr/>
        </p:nvCxnSpPr>
        <p:spPr>
          <a:xfrm flipH="1">
            <a:off x="7812360" y="4316400"/>
            <a:ext cx="86760" cy="2772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33" name="Connector 27"/>
          <p:cNvCxnSpPr/>
          <p:nvPr/>
        </p:nvCxnSpPr>
        <p:spPr>
          <a:xfrm flipH="1">
            <a:off x="7634160" y="4364640"/>
            <a:ext cx="89640" cy="140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34" name="Connector 28"/>
          <p:cNvCxnSpPr/>
          <p:nvPr/>
        </p:nvCxnSpPr>
        <p:spPr>
          <a:xfrm flipH="1">
            <a:off x="7452720" y="4385520"/>
            <a:ext cx="90720" cy="3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35" name="Connector 29"/>
          <p:cNvCxnSpPr/>
          <p:nvPr/>
        </p:nvCxnSpPr>
        <p:spPr>
          <a:xfrm flipH="1" flipV="1">
            <a:off x="7272360" y="4364640"/>
            <a:ext cx="89640" cy="140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36" name="Connector 30"/>
          <p:cNvCxnSpPr/>
          <p:nvPr/>
        </p:nvCxnSpPr>
        <p:spPr>
          <a:xfrm flipH="1" flipV="1">
            <a:off x="7097040" y="4316400"/>
            <a:ext cx="86760" cy="2772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37" name="Connector 31"/>
          <p:cNvCxnSpPr/>
          <p:nvPr/>
        </p:nvCxnSpPr>
        <p:spPr>
          <a:xfrm flipH="1" flipV="1">
            <a:off x="6931440" y="4242240"/>
            <a:ext cx="81360" cy="406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38" name="Connector 32"/>
          <p:cNvCxnSpPr/>
          <p:nvPr/>
        </p:nvCxnSpPr>
        <p:spPr>
          <a:xfrm flipH="1" flipV="1">
            <a:off x="6779160" y="4143600"/>
            <a:ext cx="74160" cy="525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39" name="Connector 33"/>
          <p:cNvCxnSpPr/>
          <p:nvPr/>
        </p:nvCxnSpPr>
        <p:spPr>
          <a:xfrm flipH="1" flipV="1">
            <a:off x="6643440" y="4022640"/>
            <a:ext cx="65520" cy="633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40" name="Connector 34"/>
          <p:cNvCxnSpPr/>
          <p:nvPr/>
        </p:nvCxnSpPr>
        <p:spPr>
          <a:xfrm flipH="1" flipV="1">
            <a:off x="6527880" y="3882600"/>
            <a:ext cx="55080" cy="723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41" name="Connector 35"/>
          <p:cNvCxnSpPr/>
          <p:nvPr/>
        </p:nvCxnSpPr>
        <p:spPr>
          <a:xfrm flipH="1" flipV="1">
            <a:off x="6435000" y="3726720"/>
            <a:ext cx="43560" cy="7992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42" name="Connector 36"/>
          <p:cNvCxnSpPr/>
          <p:nvPr/>
        </p:nvCxnSpPr>
        <p:spPr>
          <a:xfrm flipH="1" flipV="1">
            <a:off x="6366960" y="3558240"/>
            <a:ext cx="30960" cy="856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43" name="Connector 37"/>
          <p:cNvCxnSpPr/>
          <p:nvPr/>
        </p:nvCxnSpPr>
        <p:spPr>
          <a:xfrm flipH="1" flipV="1">
            <a:off x="6325560" y="3381480"/>
            <a:ext cx="17640" cy="892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44" name="Connector 38"/>
          <p:cNvCxnSpPr/>
          <p:nvPr/>
        </p:nvCxnSpPr>
        <p:spPr>
          <a:xfrm flipH="1" flipV="1">
            <a:off x="6311880" y="3200400"/>
            <a:ext cx="3600" cy="9072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45" name="Connector 39"/>
          <p:cNvCxnSpPr/>
          <p:nvPr/>
        </p:nvCxnSpPr>
        <p:spPr>
          <a:xfrm flipV="1">
            <a:off x="6315120" y="3019320"/>
            <a:ext cx="10800" cy="903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46" name="Connector 40"/>
          <p:cNvCxnSpPr/>
          <p:nvPr/>
        </p:nvCxnSpPr>
        <p:spPr>
          <a:xfrm flipV="1">
            <a:off x="6343200" y="2842560"/>
            <a:ext cx="24120" cy="874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47" name="Connector 41"/>
          <p:cNvCxnSpPr/>
          <p:nvPr/>
        </p:nvCxnSpPr>
        <p:spPr>
          <a:xfrm flipV="1">
            <a:off x="6397920" y="2674080"/>
            <a:ext cx="37440" cy="828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48" name="Connector 42"/>
          <p:cNvCxnSpPr/>
          <p:nvPr/>
        </p:nvCxnSpPr>
        <p:spPr>
          <a:xfrm flipV="1">
            <a:off x="6478560" y="2517840"/>
            <a:ext cx="49320" cy="7632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49" name="Connector 43"/>
          <p:cNvCxnSpPr/>
          <p:nvPr/>
        </p:nvCxnSpPr>
        <p:spPr>
          <a:xfrm flipV="1">
            <a:off x="6582960" y="2377800"/>
            <a:ext cx="60480" cy="680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50" name="Connector 44"/>
          <p:cNvCxnSpPr/>
          <p:nvPr/>
        </p:nvCxnSpPr>
        <p:spPr>
          <a:xfrm flipV="1">
            <a:off x="6708960" y="2257200"/>
            <a:ext cx="70200" cy="579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51" name="Connector 45"/>
          <p:cNvCxnSpPr/>
          <p:nvPr/>
        </p:nvCxnSpPr>
        <p:spPr>
          <a:xfrm flipV="1">
            <a:off x="6853320" y="2158200"/>
            <a:ext cx="78120" cy="468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52" name="Connector 46"/>
          <p:cNvCxnSpPr/>
          <p:nvPr/>
        </p:nvCxnSpPr>
        <p:spPr>
          <a:xfrm flipV="1">
            <a:off x="7012800" y="2084040"/>
            <a:ext cx="84240" cy="342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53" name="Connector 47"/>
          <p:cNvCxnSpPr/>
          <p:nvPr/>
        </p:nvCxnSpPr>
        <p:spPr>
          <a:xfrm flipV="1">
            <a:off x="7183800" y="2035800"/>
            <a:ext cx="88560" cy="208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54" name="Connector 48"/>
          <p:cNvCxnSpPr/>
          <p:nvPr/>
        </p:nvCxnSpPr>
        <p:spPr>
          <a:xfrm flipV="1">
            <a:off x="7362000" y="2014920"/>
            <a:ext cx="90720" cy="72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355" name="Connector 49"/>
          <p:cNvCxnSpPr/>
          <p:nvPr/>
        </p:nvCxnSpPr>
        <p:spPr>
          <a:xfrm>
            <a:off x="7533000" y="2040480"/>
            <a:ext cx="1096920" cy="9046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56" name="Connector 50"/>
          <p:cNvCxnSpPr/>
          <p:nvPr/>
        </p:nvCxnSpPr>
        <p:spPr>
          <a:xfrm>
            <a:off x="7709760" y="2059560"/>
            <a:ext cx="946080" cy="10612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57" name="Connector 51"/>
          <p:cNvCxnSpPr/>
          <p:nvPr/>
        </p:nvCxnSpPr>
        <p:spPr>
          <a:xfrm>
            <a:off x="7881480" y="2105280"/>
            <a:ext cx="772920" cy="11934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58" name="Connector 52"/>
          <p:cNvCxnSpPr/>
          <p:nvPr/>
        </p:nvCxnSpPr>
        <p:spPr>
          <a:xfrm>
            <a:off x="8044200" y="2176560"/>
            <a:ext cx="581760" cy="129744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59" name="Connector 53"/>
          <p:cNvCxnSpPr/>
          <p:nvPr/>
        </p:nvCxnSpPr>
        <p:spPr>
          <a:xfrm>
            <a:off x="8193960" y="2271960"/>
            <a:ext cx="376920" cy="13708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60" name="Connector 54"/>
          <p:cNvCxnSpPr/>
          <p:nvPr/>
        </p:nvCxnSpPr>
        <p:spPr>
          <a:xfrm>
            <a:off x="8327520" y="2388960"/>
            <a:ext cx="163440" cy="14122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61" name="Connector 55"/>
          <p:cNvCxnSpPr/>
          <p:nvPr/>
        </p:nvCxnSpPr>
        <p:spPr>
          <a:xfrm flipH="1">
            <a:off x="8386920" y="2525400"/>
            <a:ext cx="55080" cy="14202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62" name="Connector 56"/>
          <p:cNvCxnSpPr/>
          <p:nvPr/>
        </p:nvCxnSpPr>
        <p:spPr>
          <a:xfrm flipH="1">
            <a:off x="8263080" y="2677320"/>
            <a:ext cx="270720" cy="13953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63" name="Connector 57"/>
          <p:cNvCxnSpPr/>
          <p:nvPr/>
        </p:nvCxnSpPr>
        <p:spPr>
          <a:xfrm flipH="1">
            <a:off x="8120880" y="2841480"/>
            <a:ext cx="480600" cy="13377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64" name="Connector 58"/>
          <p:cNvCxnSpPr/>
          <p:nvPr/>
        </p:nvCxnSpPr>
        <p:spPr>
          <a:xfrm flipH="1">
            <a:off x="7964280" y="3013920"/>
            <a:ext cx="678960" cy="12492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65" name="Connector 59"/>
          <p:cNvCxnSpPr/>
          <p:nvPr/>
        </p:nvCxnSpPr>
        <p:spPr>
          <a:xfrm flipH="1">
            <a:off x="7796520" y="3191040"/>
            <a:ext cx="861840" cy="11307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66" name="Connector 60"/>
          <p:cNvCxnSpPr/>
          <p:nvPr/>
        </p:nvCxnSpPr>
        <p:spPr>
          <a:xfrm flipH="1">
            <a:off x="7621920" y="3368160"/>
            <a:ext cx="1024200" cy="98604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67" name="Connector 61"/>
          <p:cNvCxnSpPr/>
          <p:nvPr/>
        </p:nvCxnSpPr>
        <p:spPr>
          <a:xfrm flipH="1">
            <a:off x="7444440" y="3541680"/>
            <a:ext cx="1162800" cy="8179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68" name="Connector 62"/>
          <p:cNvCxnSpPr/>
          <p:nvPr/>
        </p:nvCxnSpPr>
        <p:spPr>
          <a:xfrm flipH="1">
            <a:off x="7268040" y="3706920"/>
            <a:ext cx="1274040" cy="6307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69" name="Connector 63"/>
          <p:cNvCxnSpPr/>
          <p:nvPr/>
        </p:nvCxnSpPr>
        <p:spPr>
          <a:xfrm flipH="1">
            <a:off x="7097040" y="3860280"/>
            <a:ext cx="1355400" cy="4291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70" name="Connector 64"/>
          <p:cNvCxnSpPr/>
          <p:nvPr/>
        </p:nvCxnSpPr>
        <p:spPr>
          <a:xfrm flipH="1">
            <a:off x="6935760" y="3998160"/>
            <a:ext cx="1404720" cy="2170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71" name="Connector 65"/>
          <p:cNvCxnSpPr/>
          <p:nvPr/>
        </p:nvCxnSpPr>
        <p:spPr>
          <a:xfrm flipH="1">
            <a:off x="6787440" y="4117320"/>
            <a:ext cx="1421280" cy="3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72" name="Connector 66"/>
          <p:cNvCxnSpPr/>
          <p:nvPr/>
        </p:nvCxnSpPr>
        <p:spPr>
          <a:xfrm flipH="1" flipV="1">
            <a:off x="6655680" y="3998160"/>
            <a:ext cx="1404720" cy="2170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73" name="Connector 67"/>
          <p:cNvCxnSpPr/>
          <p:nvPr/>
        </p:nvCxnSpPr>
        <p:spPr>
          <a:xfrm flipH="1" flipV="1">
            <a:off x="6543720" y="3860280"/>
            <a:ext cx="1355400" cy="4291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74" name="Connector 68"/>
          <p:cNvCxnSpPr/>
          <p:nvPr/>
        </p:nvCxnSpPr>
        <p:spPr>
          <a:xfrm flipH="1" flipV="1">
            <a:off x="6454080" y="3706920"/>
            <a:ext cx="1274040" cy="6307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75" name="Connector 69"/>
          <p:cNvCxnSpPr/>
          <p:nvPr/>
        </p:nvCxnSpPr>
        <p:spPr>
          <a:xfrm flipH="1" flipV="1">
            <a:off x="6388920" y="3541680"/>
            <a:ext cx="1162800" cy="8179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76" name="Connector 70"/>
          <p:cNvCxnSpPr/>
          <p:nvPr/>
        </p:nvCxnSpPr>
        <p:spPr>
          <a:xfrm flipH="1" flipV="1">
            <a:off x="6350040" y="3368160"/>
            <a:ext cx="1024200" cy="98604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77" name="Connector 71"/>
          <p:cNvCxnSpPr/>
          <p:nvPr/>
        </p:nvCxnSpPr>
        <p:spPr>
          <a:xfrm flipH="1" flipV="1">
            <a:off x="6337800" y="3191040"/>
            <a:ext cx="861840" cy="11307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78" name="Connector 72"/>
          <p:cNvCxnSpPr/>
          <p:nvPr/>
        </p:nvCxnSpPr>
        <p:spPr>
          <a:xfrm flipH="1" flipV="1">
            <a:off x="6352920" y="3013920"/>
            <a:ext cx="678960" cy="12492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79" name="Connector 73"/>
          <p:cNvCxnSpPr/>
          <p:nvPr/>
        </p:nvCxnSpPr>
        <p:spPr>
          <a:xfrm flipH="1" flipV="1">
            <a:off x="6394680" y="2841480"/>
            <a:ext cx="480600" cy="13377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80" name="Connector 74"/>
          <p:cNvCxnSpPr/>
          <p:nvPr/>
        </p:nvCxnSpPr>
        <p:spPr>
          <a:xfrm flipH="1" flipV="1">
            <a:off x="6462360" y="2677320"/>
            <a:ext cx="270720" cy="13953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81" name="Connector 75"/>
          <p:cNvCxnSpPr/>
          <p:nvPr/>
        </p:nvCxnSpPr>
        <p:spPr>
          <a:xfrm flipH="1" flipV="1">
            <a:off x="6554160" y="2525400"/>
            <a:ext cx="55080" cy="14202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82" name="Connector 76"/>
          <p:cNvCxnSpPr/>
          <p:nvPr/>
        </p:nvCxnSpPr>
        <p:spPr>
          <a:xfrm flipV="1">
            <a:off x="6505200" y="2388960"/>
            <a:ext cx="163440" cy="14122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83" name="Connector 77"/>
          <p:cNvCxnSpPr/>
          <p:nvPr/>
        </p:nvCxnSpPr>
        <p:spPr>
          <a:xfrm flipV="1">
            <a:off x="6425280" y="2271960"/>
            <a:ext cx="376920" cy="13708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84" name="Connector 78"/>
          <p:cNvCxnSpPr/>
          <p:nvPr/>
        </p:nvCxnSpPr>
        <p:spPr>
          <a:xfrm flipV="1">
            <a:off x="6370200" y="2176560"/>
            <a:ext cx="581760" cy="129744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85" name="Connector 79"/>
          <p:cNvCxnSpPr/>
          <p:nvPr/>
        </p:nvCxnSpPr>
        <p:spPr>
          <a:xfrm flipV="1">
            <a:off x="6341760" y="2105280"/>
            <a:ext cx="772920" cy="11934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86" name="Connector 80"/>
          <p:cNvCxnSpPr/>
          <p:nvPr/>
        </p:nvCxnSpPr>
        <p:spPr>
          <a:xfrm flipV="1">
            <a:off x="6340320" y="2059560"/>
            <a:ext cx="946080" cy="10612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87" name="Connector 81"/>
          <p:cNvCxnSpPr/>
          <p:nvPr/>
        </p:nvCxnSpPr>
        <p:spPr>
          <a:xfrm flipV="1">
            <a:off x="6366240" y="2040480"/>
            <a:ext cx="1096920" cy="9046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88" name="Connector 82"/>
          <p:cNvCxnSpPr/>
          <p:nvPr/>
        </p:nvCxnSpPr>
        <p:spPr>
          <a:xfrm flipV="1">
            <a:off x="6418440" y="2048760"/>
            <a:ext cx="1221840" cy="7264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89" name="Connector 83"/>
          <p:cNvCxnSpPr/>
          <p:nvPr/>
        </p:nvCxnSpPr>
        <p:spPr>
          <a:xfrm flipV="1">
            <a:off x="6495840" y="2084040"/>
            <a:ext cx="1318680" cy="5317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90" name="Connector 84"/>
          <p:cNvCxnSpPr/>
          <p:nvPr/>
        </p:nvCxnSpPr>
        <p:spPr>
          <a:xfrm flipV="1">
            <a:off x="6597000" y="2145240"/>
            <a:ext cx="1384200" cy="3243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91" name="Connector 85"/>
          <p:cNvCxnSpPr/>
          <p:nvPr/>
        </p:nvCxnSpPr>
        <p:spPr>
          <a:xfrm flipV="1">
            <a:off x="6719040" y="2231280"/>
            <a:ext cx="1417680" cy="10944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92" name="Connector 86"/>
          <p:cNvCxnSpPr/>
          <p:nvPr/>
        </p:nvCxnSpPr>
        <p:spPr>
          <a:xfrm>
            <a:off x="6859440" y="2231280"/>
            <a:ext cx="1417680" cy="10944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93" name="Connector 87"/>
          <p:cNvCxnSpPr/>
          <p:nvPr/>
        </p:nvCxnSpPr>
        <p:spPr>
          <a:xfrm>
            <a:off x="7014960" y="2145240"/>
            <a:ext cx="1384200" cy="3243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94" name="Connector 88"/>
          <p:cNvCxnSpPr/>
          <p:nvPr/>
        </p:nvCxnSpPr>
        <p:spPr>
          <a:xfrm>
            <a:off x="7181640" y="2084040"/>
            <a:ext cx="1318680" cy="5317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395" name="Connector 89"/>
          <p:cNvCxnSpPr/>
          <p:nvPr/>
        </p:nvCxnSpPr>
        <p:spPr>
          <a:xfrm>
            <a:off x="7355880" y="2048760"/>
            <a:ext cx="1221840" cy="7264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sp>
        <p:nvSpPr>
          <p:cNvPr id="396" name="Oval 90"/>
          <p:cNvSpPr/>
          <p:nvPr/>
        </p:nvSpPr>
        <p:spPr>
          <a:xfrm>
            <a:off x="7452360" y="196596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7" name="Oval 91"/>
          <p:cNvSpPr/>
          <p:nvPr/>
        </p:nvSpPr>
        <p:spPr>
          <a:xfrm>
            <a:off x="7633800" y="198000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8" name="Oval 92"/>
          <p:cNvSpPr/>
          <p:nvPr/>
        </p:nvSpPr>
        <p:spPr>
          <a:xfrm>
            <a:off x="7810920" y="202140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9" name="Oval 93"/>
          <p:cNvSpPr/>
          <p:nvPr/>
        </p:nvSpPr>
        <p:spPr>
          <a:xfrm>
            <a:off x="7979760" y="208944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0" name="Oval 94"/>
          <p:cNvSpPr/>
          <p:nvPr/>
        </p:nvSpPr>
        <p:spPr>
          <a:xfrm>
            <a:off x="8136360" y="218232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1" name="Oval 95"/>
          <p:cNvSpPr/>
          <p:nvPr/>
        </p:nvSpPr>
        <p:spPr>
          <a:xfrm>
            <a:off x="8276760" y="229824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2" name="Oval 96"/>
          <p:cNvSpPr/>
          <p:nvPr/>
        </p:nvSpPr>
        <p:spPr>
          <a:xfrm>
            <a:off x="8397720" y="243396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3" name="Oval 97"/>
          <p:cNvSpPr/>
          <p:nvPr/>
        </p:nvSpPr>
        <p:spPr>
          <a:xfrm>
            <a:off x="8496720" y="258696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4" name="Oval 98"/>
          <p:cNvSpPr/>
          <p:nvPr/>
        </p:nvSpPr>
        <p:spPr>
          <a:xfrm>
            <a:off x="8571240" y="275292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5" name="Oval 99"/>
          <p:cNvSpPr/>
          <p:nvPr/>
        </p:nvSpPr>
        <p:spPr>
          <a:xfrm>
            <a:off x="8619480" y="292824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6" name="Oval 100"/>
          <p:cNvSpPr/>
          <p:nvPr/>
        </p:nvSpPr>
        <p:spPr>
          <a:xfrm>
            <a:off x="8640360" y="310932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7" name="Oval 101"/>
          <p:cNvSpPr/>
          <p:nvPr/>
        </p:nvSpPr>
        <p:spPr>
          <a:xfrm>
            <a:off x="8633160" y="329112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8" name="Oval 102"/>
          <p:cNvSpPr/>
          <p:nvPr/>
        </p:nvSpPr>
        <p:spPr>
          <a:xfrm>
            <a:off x="8598600" y="346968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9" name="Oval 103"/>
          <p:cNvSpPr/>
          <p:nvPr/>
        </p:nvSpPr>
        <p:spPr>
          <a:xfrm>
            <a:off x="8537040" y="364104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0" name="Oval 104"/>
          <p:cNvSpPr/>
          <p:nvPr/>
        </p:nvSpPr>
        <p:spPr>
          <a:xfrm>
            <a:off x="8450280" y="380088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1" name="Oval 105"/>
          <p:cNvSpPr/>
          <p:nvPr/>
        </p:nvSpPr>
        <p:spPr>
          <a:xfrm>
            <a:off x="8339760" y="394560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2" name="Oval 106"/>
          <p:cNvSpPr/>
          <p:nvPr/>
        </p:nvSpPr>
        <p:spPr>
          <a:xfrm>
            <a:off x="8208720" y="407160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3" name="Oval 107"/>
          <p:cNvSpPr/>
          <p:nvPr/>
        </p:nvSpPr>
        <p:spPr>
          <a:xfrm>
            <a:off x="8059680" y="417636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4" name="Oval 108"/>
          <p:cNvSpPr/>
          <p:nvPr/>
        </p:nvSpPr>
        <p:spPr>
          <a:xfrm>
            <a:off x="7896600" y="425736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5" name="Oval 109"/>
          <p:cNvSpPr/>
          <p:nvPr/>
        </p:nvSpPr>
        <p:spPr>
          <a:xfrm>
            <a:off x="7723080" y="431208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6" name="Oval 110"/>
          <p:cNvSpPr/>
          <p:nvPr/>
        </p:nvSpPr>
        <p:spPr>
          <a:xfrm>
            <a:off x="7543440" y="433980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7" name="Oval 111"/>
          <p:cNvSpPr/>
          <p:nvPr/>
        </p:nvSpPr>
        <p:spPr>
          <a:xfrm>
            <a:off x="7361280" y="433980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" name="Oval 112"/>
          <p:cNvSpPr/>
          <p:nvPr/>
        </p:nvSpPr>
        <p:spPr>
          <a:xfrm>
            <a:off x="7181640" y="431208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9" name="Oval 113"/>
          <p:cNvSpPr/>
          <p:nvPr/>
        </p:nvSpPr>
        <p:spPr>
          <a:xfrm>
            <a:off x="7008120" y="425736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0" name="Oval 114"/>
          <p:cNvSpPr/>
          <p:nvPr/>
        </p:nvSpPr>
        <p:spPr>
          <a:xfrm>
            <a:off x="6845040" y="417636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1" name="Oval 115"/>
          <p:cNvSpPr/>
          <p:nvPr/>
        </p:nvSpPr>
        <p:spPr>
          <a:xfrm>
            <a:off x="6696000" y="407160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2" name="Oval 116"/>
          <p:cNvSpPr/>
          <p:nvPr/>
        </p:nvSpPr>
        <p:spPr>
          <a:xfrm>
            <a:off x="6564960" y="394560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3" name="Oval 117"/>
          <p:cNvSpPr/>
          <p:nvPr/>
        </p:nvSpPr>
        <p:spPr>
          <a:xfrm>
            <a:off x="6454440" y="380088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4" name="Oval 118"/>
          <p:cNvSpPr/>
          <p:nvPr/>
        </p:nvSpPr>
        <p:spPr>
          <a:xfrm>
            <a:off x="6367680" y="364104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5" name="Oval 119"/>
          <p:cNvSpPr/>
          <p:nvPr/>
        </p:nvSpPr>
        <p:spPr>
          <a:xfrm>
            <a:off x="6306120" y="346968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6" name="Oval 120"/>
          <p:cNvSpPr/>
          <p:nvPr/>
        </p:nvSpPr>
        <p:spPr>
          <a:xfrm>
            <a:off x="6271560" y="329112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7" name="Oval 121"/>
          <p:cNvSpPr/>
          <p:nvPr/>
        </p:nvSpPr>
        <p:spPr>
          <a:xfrm>
            <a:off x="6264360" y="310932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8" name="Oval 122"/>
          <p:cNvSpPr/>
          <p:nvPr/>
        </p:nvSpPr>
        <p:spPr>
          <a:xfrm>
            <a:off x="6285240" y="292824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9" name="Oval 123"/>
          <p:cNvSpPr/>
          <p:nvPr/>
        </p:nvSpPr>
        <p:spPr>
          <a:xfrm>
            <a:off x="6333480" y="275292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0" name="Oval 124"/>
          <p:cNvSpPr/>
          <p:nvPr/>
        </p:nvSpPr>
        <p:spPr>
          <a:xfrm>
            <a:off x="6408000" y="258696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1" name="Oval 125"/>
          <p:cNvSpPr/>
          <p:nvPr/>
        </p:nvSpPr>
        <p:spPr>
          <a:xfrm>
            <a:off x="6507000" y="243396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2" name="Oval 126"/>
          <p:cNvSpPr/>
          <p:nvPr/>
        </p:nvSpPr>
        <p:spPr>
          <a:xfrm>
            <a:off x="6627960" y="229824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3" name="Oval 127"/>
          <p:cNvSpPr/>
          <p:nvPr/>
        </p:nvSpPr>
        <p:spPr>
          <a:xfrm>
            <a:off x="6768360" y="218232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4" name="Oval 128"/>
          <p:cNvSpPr/>
          <p:nvPr/>
        </p:nvSpPr>
        <p:spPr>
          <a:xfrm>
            <a:off x="6924960" y="208944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5" name="Oval 129"/>
          <p:cNvSpPr/>
          <p:nvPr/>
        </p:nvSpPr>
        <p:spPr>
          <a:xfrm>
            <a:off x="7093800" y="202140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6" name="Oval 130"/>
          <p:cNvSpPr/>
          <p:nvPr/>
        </p:nvSpPr>
        <p:spPr>
          <a:xfrm>
            <a:off x="7270920" y="198000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7" name="TextBox 131"/>
          <p:cNvSpPr/>
          <p:nvPr/>
        </p:nvSpPr>
        <p:spPr>
          <a:xfrm>
            <a:off x="6309360" y="457200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класс 5: R = 9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8" name="Connector 132"/>
          <p:cNvCxnSpPr/>
          <p:nvPr/>
        </p:nvCxnSpPr>
        <p:spPr>
          <a:xfrm>
            <a:off x="10195200" y="2014920"/>
            <a:ext cx="90720" cy="72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39" name="Connector 133"/>
          <p:cNvCxnSpPr/>
          <p:nvPr/>
        </p:nvCxnSpPr>
        <p:spPr>
          <a:xfrm>
            <a:off x="10375560" y="2035800"/>
            <a:ext cx="88560" cy="208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40" name="Connector 134"/>
          <p:cNvCxnSpPr/>
          <p:nvPr/>
        </p:nvCxnSpPr>
        <p:spPr>
          <a:xfrm>
            <a:off x="10550880" y="2084040"/>
            <a:ext cx="84240" cy="342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41" name="Connector 135"/>
          <p:cNvCxnSpPr/>
          <p:nvPr/>
        </p:nvCxnSpPr>
        <p:spPr>
          <a:xfrm>
            <a:off x="10716480" y="2158200"/>
            <a:ext cx="78120" cy="468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42" name="Connector 136"/>
          <p:cNvCxnSpPr/>
          <p:nvPr/>
        </p:nvCxnSpPr>
        <p:spPr>
          <a:xfrm>
            <a:off x="10868760" y="2257200"/>
            <a:ext cx="70200" cy="579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43" name="Connector 137"/>
          <p:cNvCxnSpPr/>
          <p:nvPr/>
        </p:nvCxnSpPr>
        <p:spPr>
          <a:xfrm>
            <a:off x="11004480" y="2377800"/>
            <a:ext cx="60480" cy="680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44" name="Connector 138"/>
          <p:cNvCxnSpPr/>
          <p:nvPr/>
        </p:nvCxnSpPr>
        <p:spPr>
          <a:xfrm>
            <a:off x="11120040" y="2517840"/>
            <a:ext cx="49320" cy="7632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45" name="Connector 139"/>
          <p:cNvCxnSpPr/>
          <p:nvPr/>
        </p:nvCxnSpPr>
        <p:spPr>
          <a:xfrm>
            <a:off x="11212560" y="2674080"/>
            <a:ext cx="37440" cy="828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46" name="Connector 140"/>
          <p:cNvCxnSpPr/>
          <p:nvPr/>
        </p:nvCxnSpPr>
        <p:spPr>
          <a:xfrm>
            <a:off x="11280600" y="2842560"/>
            <a:ext cx="24120" cy="874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47" name="Connector 141"/>
          <p:cNvCxnSpPr/>
          <p:nvPr/>
        </p:nvCxnSpPr>
        <p:spPr>
          <a:xfrm>
            <a:off x="11322000" y="3019320"/>
            <a:ext cx="10800" cy="903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48" name="Connector 142"/>
          <p:cNvCxnSpPr/>
          <p:nvPr/>
        </p:nvCxnSpPr>
        <p:spPr>
          <a:xfrm flipH="1">
            <a:off x="11332440" y="3200400"/>
            <a:ext cx="3600" cy="9072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49" name="Connector 143"/>
          <p:cNvCxnSpPr/>
          <p:nvPr/>
        </p:nvCxnSpPr>
        <p:spPr>
          <a:xfrm flipH="1">
            <a:off x="11304720" y="3381480"/>
            <a:ext cx="17640" cy="892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50" name="Connector 144"/>
          <p:cNvCxnSpPr/>
          <p:nvPr/>
        </p:nvCxnSpPr>
        <p:spPr>
          <a:xfrm flipH="1">
            <a:off x="11250000" y="3558240"/>
            <a:ext cx="30960" cy="856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51" name="Connector 145"/>
          <p:cNvCxnSpPr/>
          <p:nvPr/>
        </p:nvCxnSpPr>
        <p:spPr>
          <a:xfrm flipH="1">
            <a:off x="11169360" y="3726720"/>
            <a:ext cx="43560" cy="7992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52" name="Connector 146"/>
          <p:cNvCxnSpPr/>
          <p:nvPr/>
        </p:nvCxnSpPr>
        <p:spPr>
          <a:xfrm flipH="1">
            <a:off x="11064960" y="3882600"/>
            <a:ext cx="55080" cy="723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53" name="Connector 147"/>
          <p:cNvCxnSpPr/>
          <p:nvPr/>
        </p:nvCxnSpPr>
        <p:spPr>
          <a:xfrm flipH="1">
            <a:off x="10938960" y="4022640"/>
            <a:ext cx="65520" cy="633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54" name="Connector 148"/>
          <p:cNvCxnSpPr/>
          <p:nvPr/>
        </p:nvCxnSpPr>
        <p:spPr>
          <a:xfrm flipH="1">
            <a:off x="10794600" y="4143600"/>
            <a:ext cx="74160" cy="525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55" name="Connector 149"/>
          <p:cNvCxnSpPr/>
          <p:nvPr/>
        </p:nvCxnSpPr>
        <p:spPr>
          <a:xfrm flipH="1">
            <a:off x="10635120" y="4242240"/>
            <a:ext cx="81360" cy="406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56" name="Connector 150"/>
          <p:cNvCxnSpPr/>
          <p:nvPr/>
        </p:nvCxnSpPr>
        <p:spPr>
          <a:xfrm flipH="1">
            <a:off x="10464120" y="4316400"/>
            <a:ext cx="86760" cy="2772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57" name="Connector 151"/>
          <p:cNvCxnSpPr/>
          <p:nvPr/>
        </p:nvCxnSpPr>
        <p:spPr>
          <a:xfrm flipH="1">
            <a:off x="10285920" y="4364640"/>
            <a:ext cx="89640" cy="140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58" name="Connector 152"/>
          <p:cNvCxnSpPr/>
          <p:nvPr/>
        </p:nvCxnSpPr>
        <p:spPr>
          <a:xfrm flipH="1">
            <a:off x="10104480" y="4385520"/>
            <a:ext cx="90720" cy="3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59" name="Connector 153"/>
          <p:cNvCxnSpPr/>
          <p:nvPr/>
        </p:nvCxnSpPr>
        <p:spPr>
          <a:xfrm flipH="1" flipV="1">
            <a:off x="9924120" y="4364640"/>
            <a:ext cx="89640" cy="140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60" name="Connector 154"/>
          <p:cNvCxnSpPr/>
          <p:nvPr/>
        </p:nvCxnSpPr>
        <p:spPr>
          <a:xfrm flipH="1" flipV="1">
            <a:off x="9748800" y="4316400"/>
            <a:ext cx="86760" cy="2772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61" name="Connector 155"/>
          <p:cNvCxnSpPr/>
          <p:nvPr/>
        </p:nvCxnSpPr>
        <p:spPr>
          <a:xfrm flipH="1" flipV="1">
            <a:off x="9583200" y="4242240"/>
            <a:ext cx="81360" cy="406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62" name="Connector 156"/>
          <p:cNvCxnSpPr/>
          <p:nvPr/>
        </p:nvCxnSpPr>
        <p:spPr>
          <a:xfrm flipH="1" flipV="1">
            <a:off x="9430920" y="4143600"/>
            <a:ext cx="74160" cy="525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63" name="Connector 157"/>
          <p:cNvCxnSpPr/>
          <p:nvPr/>
        </p:nvCxnSpPr>
        <p:spPr>
          <a:xfrm flipH="1" flipV="1">
            <a:off x="9295200" y="4022640"/>
            <a:ext cx="65520" cy="633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64" name="Connector 158"/>
          <p:cNvCxnSpPr/>
          <p:nvPr/>
        </p:nvCxnSpPr>
        <p:spPr>
          <a:xfrm flipH="1" flipV="1">
            <a:off x="9179640" y="3882600"/>
            <a:ext cx="55080" cy="723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65" name="Connector 159"/>
          <p:cNvCxnSpPr/>
          <p:nvPr/>
        </p:nvCxnSpPr>
        <p:spPr>
          <a:xfrm flipH="1" flipV="1">
            <a:off x="9086760" y="3726720"/>
            <a:ext cx="43560" cy="7992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66" name="Connector 160"/>
          <p:cNvCxnSpPr/>
          <p:nvPr/>
        </p:nvCxnSpPr>
        <p:spPr>
          <a:xfrm flipH="1" flipV="1">
            <a:off x="9018720" y="3558240"/>
            <a:ext cx="30960" cy="856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67" name="Connector 161"/>
          <p:cNvCxnSpPr/>
          <p:nvPr/>
        </p:nvCxnSpPr>
        <p:spPr>
          <a:xfrm flipH="1" flipV="1">
            <a:off x="8977320" y="3381480"/>
            <a:ext cx="17640" cy="892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68" name="Connector 162"/>
          <p:cNvCxnSpPr/>
          <p:nvPr/>
        </p:nvCxnSpPr>
        <p:spPr>
          <a:xfrm flipH="1" flipV="1">
            <a:off x="8963640" y="3200400"/>
            <a:ext cx="3600" cy="9072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69" name="Connector 163"/>
          <p:cNvCxnSpPr/>
          <p:nvPr/>
        </p:nvCxnSpPr>
        <p:spPr>
          <a:xfrm flipV="1">
            <a:off x="8966880" y="3019320"/>
            <a:ext cx="10800" cy="903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70" name="Connector 164"/>
          <p:cNvCxnSpPr/>
          <p:nvPr/>
        </p:nvCxnSpPr>
        <p:spPr>
          <a:xfrm flipV="1">
            <a:off x="8994960" y="2842560"/>
            <a:ext cx="24120" cy="874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71" name="Connector 165"/>
          <p:cNvCxnSpPr/>
          <p:nvPr/>
        </p:nvCxnSpPr>
        <p:spPr>
          <a:xfrm flipV="1">
            <a:off x="9049680" y="2674080"/>
            <a:ext cx="37440" cy="828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72" name="Connector 166"/>
          <p:cNvCxnSpPr/>
          <p:nvPr/>
        </p:nvCxnSpPr>
        <p:spPr>
          <a:xfrm flipV="1">
            <a:off x="9130320" y="2517840"/>
            <a:ext cx="49320" cy="7632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73" name="Connector 167"/>
          <p:cNvCxnSpPr/>
          <p:nvPr/>
        </p:nvCxnSpPr>
        <p:spPr>
          <a:xfrm flipV="1">
            <a:off x="9234720" y="2377800"/>
            <a:ext cx="60480" cy="680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74" name="Connector 168"/>
          <p:cNvCxnSpPr/>
          <p:nvPr/>
        </p:nvCxnSpPr>
        <p:spPr>
          <a:xfrm flipV="1">
            <a:off x="9360720" y="2257200"/>
            <a:ext cx="70200" cy="579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75" name="Connector 169"/>
          <p:cNvCxnSpPr/>
          <p:nvPr/>
        </p:nvCxnSpPr>
        <p:spPr>
          <a:xfrm flipV="1">
            <a:off x="9505080" y="2158200"/>
            <a:ext cx="78120" cy="468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76" name="Connector 170"/>
          <p:cNvCxnSpPr/>
          <p:nvPr/>
        </p:nvCxnSpPr>
        <p:spPr>
          <a:xfrm flipV="1">
            <a:off x="9664560" y="2084040"/>
            <a:ext cx="84240" cy="342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77" name="Connector 171"/>
          <p:cNvCxnSpPr/>
          <p:nvPr/>
        </p:nvCxnSpPr>
        <p:spPr>
          <a:xfrm flipV="1">
            <a:off x="9835560" y="2035800"/>
            <a:ext cx="88560" cy="208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78" name="Connector 172"/>
          <p:cNvCxnSpPr/>
          <p:nvPr/>
        </p:nvCxnSpPr>
        <p:spPr>
          <a:xfrm flipV="1">
            <a:off x="10013760" y="2014920"/>
            <a:ext cx="90720" cy="72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479" name="Connector 173"/>
          <p:cNvCxnSpPr/>
          <p:nvPr/>
        </p:nvCxnSpPr>
        <p:spPr>
          <a:xfrm>
            <a:off x="10164960" y="2054520"/>
            <a:ext cx="725760" cy="20199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480" name="Connector 174"/>
          <p:cNvCxnSpPr/>
          <p:nvPr/>
        </p:nvCxnSpPr>
        <p:spPr>
          <a:xfrm>
            <a:off x="10339920" y="2070360"/>
            <a:ext cx="408960" cy="21070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481" name="Connector 175"/>
          <p:cNvCxnSpPr/>
          <p:nvPr/>
        </p:nvCxnSpPr>
        <p:spPr>
          <a:xfrm>
            <a:off x="10510200" y="2112480"/>
            <a:ext cx="82440" cy="21448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482" name="Connector 176"/>
          <p:cNvCxnSpPr/>
          <p:nvPr/>
        </p:nvCxnSpPr>
        <p:spPr>
          <a:xfrm flipH="1">
            <a:off x="10425600" y="2180520"/>
            <a:ext cx="246600" cy="21319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483" name="Connector 177"/>
          <p:cNvCxnSpPr/>
          <p:nvPr/>
        </p:nvCxnSpPr>
        <p:spPr>
          <a:xfrm flipH="1">
            <a:off x="10252800" y="2271960"/>
            <a:ext cx="569160" cy="206964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484" name="Connector 178"/>
          <p:cNvCxnSpPr/>
          <p:nvPr/>
        </p:nvCxnSpPr>
        <p:spPr>
          <a:xfrm flipH="1">
            <a:off x="10077480" y="2385360"/>
            <a:ext cx="878040" cy="19587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485" name="Connector 179"/>
          <p:cNvCxnSpPr/>
          <p:nvPr/>
        </p:nvCxnSpPr>
        <p:spPr>
          <a:xfrm flipH="1">
            <a:off x="9903600" y="2517840"/>
            <a:ext cx="1167120" cy="18018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486" name="Connector 180"/>
          <p:cNvCxnSpPr/>
          <p:nvPr/>
        </p:nvCxnSpPr>
        <p:spPr>
          <a:xfrm flipH="1">
            <a:off x="9735840" y="2666520"/>
            <a:ext cx="1428120" cy="16023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487" name="Connector 181"/>
          <p:cNvCxnSpPr/>
          <p:nvPr/>
        </p:nvCxnSpPr>
        <p:spPr>
          <a:xfrm flipH="1">
            <a:off x="9577440" y="2827440"/>
            <a:ext cx="1656000" cy="136584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488" name="Connector 182"/>
          <p:cNvCxnSpPr/>
          <p:nvPr/>
        </p:nvCxnSpPr>
        <p:spPr>
          <a:xfrm flipH="1">
            <a:off x="9432720" y="2997360"/>
            <a:ext cx="1845000" cy="10969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489" name="Connector 183"/>
          <p:cNvCxnSpPr/>
          <p:nvPr/>
        </p:nvCxnSpPr>
        <p:spPr>
          <a:xfrm flipH="1">
            <a:off x="9304560" y="3171600"/>
            <a:ext cx="1990800" cy="8028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490" name="Connector 184"/>
          <p:cNvCxnSpPr/>
          <p:nvPr/>
        </p:nvCxnSpPr>
        <p:spPr>
          <a:xfrm flipH="1">
            <a:off x="9196560" y="3346920"/>
            <a:ext cx="2089800" cy="48924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491" name="Connector 185"/>
          <p:cNvCxnSpPr/>
          <p:nvPr/>
        </p:nvCxnSpPr>
        <p:spPr>
          <a:xfrm flipH="1">
            <a:off x="9110520" y="3518640"/>
            <a:ext cx="2140200" cy="1648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492" name="Connector 186"/>
          <p:cNvCxnSpPr/>
          <p:nvPr/>
        </p:nvCxnSpPr>
        <p:spPr>
          <a:xfrm flipH="1" flipV="1">
            <a:off x="9048960" y="3518640"/>
            <a:ext cx="2140200" cy="1648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493" name="Connector 187"/>
          <p:cNvCxnSpPr/>
          <p:nvPr/>
        </p:nvCxnSpPr>
        <p:spPr>
          <a:xfrm flipH="1" flipV="1">
            <a:off x="9013320" y="3346920"/>
            <a:ext cx="2089800" cy="48924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494" name="Connector 188"/>
          <p:cNvCxnSpPr/>
          <p:nvPr/>
        </p:nvCxnSpPr>
        <p:spPr>
          <a:xfrm flipH="1" flipV="1">
            <a:off x="9004320" y="3171600"/>
            <a:ext cx="1990800" cy="8028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495" name="Connector 189"/>
          <p:cNvCxnSpPr/>
          <p:nvPr/>
        </p:nvCxnSpPr>
        <p:spPr>
          <a:xfrm flipH="1" flipV="1">
            <a:off x="9021960" y="2997360"/>
            <a:ext cx="1845000" cy="10969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496" name="Connector 190"/>
          <p:cNvCxnSpPr/>
          <p:nvPr/>
        </p:nvCxnSpPr>
        <p:spPr>
          <a:xfrm flipH="1" flipV="1">
            <a:off x="9066240" y="2827440"/>
            <a:ext cx="1656000" cy="136584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497" name="Connector 191"/>
          <p:cNvCxnSpPr/>
          <p:nvPr/>
        </p:nvCxnSpPr>
        <p:spPr>
          <a:xfrm flipH="1" flipV="1">
            <a:off x="9135720" y="2666520"/>
            <a:ext cx="1428120" cy="16023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498" name="Connector 192"/>
          <p:cNvCxnSpPr/>
          <p:nvPr/>
        </p:nvCxnSpPr>
        <p:spPr>
          <a:xfrm flipH="1" flipV="1">
            <a:off x="9228960" y="2517840"/>
            <a:ext cx="1167120" cy="18018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499" name="Connector 193"/>
          <p:cNvCxnSpPr/>
          <p:nvPr/>
        </p:nvCxnSpPr>
        <p:spPr>
          <a:xfrm flipH="1" flipV="1">
            <a:off x="9344160" y="2385360"/>
            <a:ext cx="878040" cy="19587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500" name="Connector 194"/>
          <p:cNvCxnSpPr/>
          <p:nvPr/>
        </p:nvCxnSpPr>
        <p:spPr>
          <a:xfrm flipH="1" flipV="1">
            <a:off x="9477720" y="2271960"/>
            <a:ext cx="569160" cy="206964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501" name="Connector 195"/>
          <p:cNvCxnSpPr/>
          <p:nvPr/>
        </p:nvCxnSpPr>
        <p:spPr>
          <a:xfrm flipH="1" flipV="1">
            <a:off x="9627480" y="2180520"/>
            <a:ext cx="246600" cy="21319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502" name="Connector 196"/>
          <p:cNvCxnSpPr/>
          <p:nvPr/>
        </p:nvCxnSpPr>
        <p:spPr>
          <a:xfrm flipV="1">
            <a:off x="9707040" y="2112480"/>
            <a:ext cx="82440" cy="21448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503" name="Connector 197"/>
          <p:cNvCxnSpPr/>
          <p:nvPr/>
        </p:nvCxnSpPr>
        <p:spPr>
          <a:xfrm flipV="1">
            <a:off x="9550800" y="2070360"/>
            <a:ext cx="408960" cy="21070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504" name="Connector 198"/>
          <p:cNvCxnSpPr/>
          <p:nvPr/>
        </p:nvCxnSpPr>
        <p:spPr>
          <a:xfrm flipV="1">
            <a:off x="9408960" y="2054520"/>
            <a:ext cx="725760" cy="20199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505" name="Connector 199"/>
          <p:cNvCxnSpPr/>
          <p:nvPr/>
        </p:nvCxnSpPr>
        <p:spPr>
          <a:xfrm flipV="1">
            <a:off x="9284040" y="2065680"/>
            <a:ext cx="1025640" cy="18856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506" name="Connector 200"/>
          <p:cNvCxnSpPr/>
          <p:nvPr/>
        </p:nvCxnSpPr>
        <p:spPr>
          <a:xfrm flipV="1">
            <a:off x="9179640" y="2103120"/>
            <a:ext cx="1301400" cy="17071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507" name="Connector 201"/>
          <p:cNvCxnSpPr/>
          <p:nvPr/>
        </p:nvCxnSpPr>
        <p:spPr>
          <a:xfrm flipV="1">
            <a:off x="9097920" y="2166480"/>
            <a:ext cx="1546560" cy="14886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508" name="Connector 202"/>
          <p:cNvCxnSpPr/>
          <p:nvPr/>
        </p:nvCxnSpPr>
        <p:spPr>
          <a:xfrm flipV="1">
            <a:off x="9040680" y="2254320"/>
            <a:ext cx="1755720" cy="12348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509" name="Connector 203"/>
          <p:cNvCxnSpPr/>
          <p:nvPr/>
        </p:nvCxnSpPr>
        <p:spPr>
          <a:xfrm flipV="1">
            <a:off x="9009720" y="2364120"/>
            <a:ext cx="1923480" cy="9525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510" name="Connector 204"/>
          <p:cNvCxnSpPr/>
          <p:nvPr/>
        </p:nvCxnSpPr>
        <p:spPr>
          <a:xfrm flipV="1">
            <a:off x="9005400" y="2493360"/>
            <a:ext cx="2046240" cy="6480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511" name="Connector 205"/>
          <p:cNvCxnSpPr/>
          <p:nvPr/>
        </p:nvCxnSpPr>
        <p:spPr>
          <a:xfrm flipV="1">
            <a:off x="9027720" y="2639160"/>
            <a:ext cx="2121480" cy="3279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512" name="Connector 206"/>
          <p:cNvCxnSpPr/>
          <p:nvPr/>
        </p:nvCxnSpPr>
        <p:spPr>
          <a:xfrm>
            <a:off x="9076680" y="2798280"/>
            <a:ext cx="2146320" cy="3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513" name="Connector 207"/>
          <p:cNvCxnSpPr/>
          <p:nvPr/>
        </p:nvCxnSpPr>
        <p:spPr>
          <a:xfrm>
            <a:off x="9150480" y="2639160"/>
            <a:ext cx="2121480" cy="3279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514" name="Connector 208"/>
          <p:cNvCxnSpPr/>
          <p:nvPr/>
        </p:nvCxnSpPr>
        <p:spPr>
          <a:xfrm>
            <a:off x="9248040" y="2493360"/>
            <a:ext cx="2046240" cy="6480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515" name="Connector 209"/>
          <p:cNvCxnSpPr/>
          <p:nvPr/>
        </p:nvCxnSpPr>
        <p:spPr>
          <a:xfrm>
            <a:off x="9366480" y="2364120"/>
            <a:ext cx="1923480" cy="9525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516" name="Connector 210"/>
          <p:cNvCxnSpPr/>
          <p:nvPr/>
        </p:nvCxnSpPr>
        <p:spPr>
          <a:xfrm>
            <a:off x="9503280" y="2254320"/>
            <a:ext cx="1755720" cy="12348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517" name="Connector 211"/>
          <p:cNvCxnSpPr/>
          <p:nvPr/>
        </p:nvCxnSpPr>
        <p:spPr>
          <a:xfrm>
            <a:off x="9655200" y="2166480"/>
            <a:ext cx="1546560" cy="14886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518" name="Connector 212"/>
          <p:cNvCxnSpPr/>
          <p:nvPr/>
        </p:nvCxnSpPr>
        <p:spPr>
          <a:xfrm>
            <a:off x="9818640" y="2103120"/>
            <a:ext cx="1301400" cy="17071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519" name="Connector 213"/>
          <p:cNvCxnSpPr/>
          <p:nvPr/>
        </p:nvCxnSpPr>
        <p:spPr>
          <a:xfrm>
            <a:off x="9990000" y="2065680"/>
            <a:ext cx="1025640" cy="18856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sp>
        <p:nvSpPr>
          <p:cNvPr id="520" name="Oval 214"/>
          <p:cNvSpPr/>
          <p:nvPr/>
        </p:nvSpPr>
        <p:spPr>
          <a:xfrm>
            <a:off x="10104120" y="196596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1" name="Oval 215"/>
          <p:cNvSpPr/>
          <p:nvPr/>
        </p:nvSpPr>
        <p:spPr>
          <a:xfrm>
            <a:off x="10285560" y="198000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2" name="Oval 216"/>
          <p:cNvSpPr/>
          <p:nvPr/>
        </p:nvSpPr>
        <p:spPr>
          <a:xfrm>
            <a:off x="10462680" y="202140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3" name="Oval 217"/>
          <p:cNvSpPr/>
          <p:nvPr/>
        </p:nvSpPr>
        <p:spPr>
          <a:xfrm>
            <a:off x="10631520" y="208944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4" name="Oval 218"/>
          <p:cNvSpPr/>
          <p:nvPr/>
        </p:nvSpPr>
        <p:spPr>
          <a:xfrm>
            <a:off x="10788120" y="218232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5" name="Oval 219"/>
          <p:cNvSpPr/>
          <p:nvPr/>
        </p:nvSpPr>
        <p:spPr>
          <a:xfrm>
            <a:off x="10928520" y="229824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6" name="Oval 220"/>
          <p:cNvSpPr/>
          <p:nvPr/>
        </p:nvSpPr>
        <p:spPr>
          <a:xfrm>
            <a:off x="11049480" y="243396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7" name="Oval 221"/>
          <p:cNvSpPr/>
          <p:nvPr/>
        </p:nvSpPr>
        <p:spPr>
          <a:xfrm>
            <a:off x="11148480" y="258696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8" name="Oval 222"/>
          <p:cNvSpPr/>
          <p:nvPr/>
        </p:nvSpPr>
        <p:spPr>
          <a:xfrm>
            <a:off x="11223000" y="275292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9" name="Oval 223"/>
          <p:cNvSpPr/>
          <p:nvPr/>
        </p:nvSpPr>
        <p:spPr>
          <a:xfrm>
            <a:off x="11271240" y="292824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0" name="Oval 224"/>
          <p:cNvSpPr/>
          <p:nvPr/>
        </p:nvSpPr>
        <p:spPr>
          <a:xfrm>
            <a:off x="11292120" y="310932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1" name="Oval 225"/>
          <p:cNvSpPr/>
          <p:nvPr/>
        </p:nvSpPr>
        <p:spPr>
          <a:xfrm>
            <a:off x="11284920" y="329112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2" name="Oval 226"/>
          <p:cNvSpPr/>
          <p:nvPr/>
        </p:nvSpPr>
        <p:spPr>
          <a:xfrm>
            <a:off x="11250360" y="346968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3" name="Oval 227"/>
          <p:cNvSpPr/>
          <p:nvPr/>
        </p:nvSpPr>
        <p:spPr>
          <a:xfrm>
            <a:off x="11188800" y="364104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4" name="Oval 228"/>
          <p:cNvSpPr/>
          <p:nvPr/>
        </p:nvSpPr>
        <p:spPr>
          <a:xfrm>
            <a:off x="11102040" y="380088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5" name="Oval 229"/>
          <p:cNvSpPr/>
          <p:nvPr/>
        </p:nvSpPr>
        <p:spPr>
          <a:xfrm>
            <a:off x="10991520" y="394560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6" name="Oval 230"/>
          <p:cNvSpPr/>
          <p:nvPr/>
        </p:nvSpPr>
        <p:spPr>
          <a:xfrm>
            <a:off x="10860480" y="407160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7" name="Oval 231"/>
          <p:cNvSpPr/>
          <p:nvPr/>
        </p:nvSpPr>
        <p:spPr>
          <a:xfrm>
            <a:off x="10711440" y="417636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8" name="Oval 232"/>
          <p:cNvSpPr/>
          <p:nvPr/>
        </p:nvSpPr>
        <p:spPr>
          <a:xfrm>
            <a:off x="10548360" y="425736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9" name="Oval 233"/>
          <p:cNvSpPr/>
          <p:nvPr/>
        </p:nvSpPr>
        <p:spPr>
          <a:xfrm>
            <a:off x="10374840" y="431208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0" name="Oval 234"/>
          <p:cNvSpPr/>
          <p:nvPr/>
        </p:nvSpPr>
        <p:spPr>
          <a:xfrm>
            <a:off x="10195200" y="433980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1" name="Oval 235"/>
          <p:cNvSpPr/>
          <p:nvPr/>
        </p:nvSpPr>
        <p:spPr>
          <a:xfrm>
            <a:off x="10013040" y="433980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2" name="Oval 236"/>
          <p:cNvSpPr/>
          <p:nvPr/>
        </p:nvSpPr>
        <p:spPr>
          <a:xfrm>
            <a:off x="9833400" y="431208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3" name="Oval 237"/>
          <p:cNvSpPr/>
          <p:nvPr/>
        </p:nvSpPr>
        <p:spPr>
          <a:xfrm>
            <a:off x="9659880" y="425736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4" name="Oval 238"/>
          <p:cNvSpPr/>
          <p:nvPr/>
        </p:nvSpPr>
        <p:spPr>
          <a:xfrm>
            <a:off x="9496800" y="417636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5" name="Oval 239"/>
          <p:cNvSpPr/>
          <p:nvPr/>
        </p:nvSpPr>
        <p:spPr>
          <a:xfrm>
            <a:off x="9347760" y="407160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6" name="Oval 240"/>
          <p:cNvSpPr/>
          <p:nvPr/>
        </p:nvSpPr>
        <p:spPr>
          <a:xfrm>
            <a:off x="9216720" y="394560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7" name="Oval 241"/>
          <p:cNvSpPr/>
          <p:nvPr/>
        </p:nvSpPr>
        <p:spPr>
          <a:xfrm>
            <a:off x="9106200" y="380088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8" name="Oval 242"/>
          <p:cNvSpPr/>
          <p:nvPr/>
        </p:nvSpPr>
        <p:spPr>
          <a:xfrm>
            <a:off x="9019440" y="364104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9" name="Oval 243"/>
          <p:cNvSpPr/>
          <p:nvPr/>
        </p:nvSpPr>
        <p:spPr>
          <a:xfrm>
            <a:off x="8957880" y="346968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0" name="Oval 244"/>
          <p:cNvSpPr/>
          <p:nvPr/>
        </p:nvSpPr>
        <p:spPr>
          <a:xfrm>
            <a:off x="8923320" y="329112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1" name="Oval 245"/>
          <p:cNvSpPr/>
          <p:nvPr/>
        </p:nvSpPr>
        <p:spPr>
          <a:xfrm>
            <a:off x="8916120" y="310932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2" name="Oval 246"/>
          <p:cNvSpPr/>
          <p:nvPr/>
        </p:nvSpPr>
        <p:spPr>
          <a:xfrm>
            <a:off x="8937000" y="292824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3" name="Oval 247"/>
          <p:cNvSpPr/>
          <p:nvPr/>
        </p:nvSpPr>
        <p:spPr>
          <a:xfrm>
            <a:off x="8985240" y="275292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4" name="Oval 248"/>
          <p:cNvSpPr/>
          <p:nvPr/>
        </p:nvSpPr>
        <p:spPr>
          <a:xfrm>
            <a:off x="9059760" y="258696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5" name="Oval 249"/>
          <p:cNvSpPr/>
          <p:nvPr/>
        </p:nvSpPr>
        <p:spPr>
          <a:xfrm>
            <a:off x="9158760" y="243396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6" name="Oval 250"/>
          <p:cNvSpPr/>
          <p:nvPr/>
        </p:nvSpPr>
        <p:spPr>
          <a:xfrm>
            <a:off x="9279720" y="229824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7" name="Oval 251"/>
          <p:cNvSpPr/>
          <p:nvPr/>
        </p:nvSpPr>
        <p:spPr>
          <a:xfrm>
            <a:off x="9420120" y="218232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8" name="Oval 252"/>
          <p:cNvSpPr/>
          <p:nvPr/>
        </p:nvSpPr>
        <p:spPr>
          <a:xfrm>
            <a:off x="9576720" y="208944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9" name="Oval 253"/>
          <p:cNvSpPr/>
          <p:nvPr/>
        </p:nvSpPr>
        <p:spPr>
          <a:xfrm>
            <a:off x="9745560" y="202140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0" name="Oval 254"/>
          <p:cNvSpPr/>
          <p:nvPr/>
        </p:nvSpPr>
        <p:spPr>
          <a:xfrm>
            <a:off x="9922680" y="1980000"/>
            <a:ext cx="91080" cy="910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440" bIns="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1" name="TextBox 255"/>
          <p:cNvSpPr/>
          <p:nvPr/>
        </p:nvSpPr>
        <p:spPr>
          <a:xfrm>
            <a:off x="8961120" y="457200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класс 9: R = 16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Box 256"/>
          <p:cNvSpPr/>
          <p:nvPr/>
        </p:nvSpPr>
        <p:spPr>
          <a:xfrm>
            <a:off x="6309360" y="5029200"/>
            <a:ext cx="521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Хорды — бирюзовые. Все 10 значений R: 2, 3, 4, 5, 6, 9, 11, 12, 13, 16.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65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566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ОПЫТ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Опыт: GCN и GIN на CSL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569" name="Table 7"/>
          <p:cNvGraphicFramePr/>
          <p:nvPr/>
        </p:nvGraphicFramePr>
        <p:xfrm>
          <a:off x="640080" y="1664280"/>
          <a:ext cx="10911240" cy="1261440"/>
        </p:xfrm>
        <a:graphic>
          <a:graphicData uri="http://schemas.openxmlformats.org/drawingml/2006/table">
            <a:tbl>
              <a:tblPr/>
              <a:tblGrid>
                <a:gridCol w="4364280"/>
                <a:gridCol w="3394440"/>
                <a:gridCol w="315216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Модель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Accuracy, 5 фолдов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Разброс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GCN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0.1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± 0.0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GIN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0.1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± 0.0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70" name="TextBox 8"/>
          <p:cNvSpPr/>
          <p:nvPr/>
        </p:nvSpPr>
        <p:spPr>
          <a:xfrm>
            <a:off x="640080" y="315468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Ровно 0.1 на каждом фолде: сеть выдаёт для всех графов одно и то же. Это не плохое обучение — это предел: все вершины всех графов для неё неразличимы, сколько ни учи.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71" name="Connector 9"/>
          <p:cNvCxnSpPr/>
          <p:nvPr/>
        </p:nvCxnSpPr>
        <p:spPr>
          <a:xfrm>
            <a:off x="1444320" y="4070880"/>
            <a:ext cx="36720" cy="32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572" name="Connector 10"/>
          <p:cNvCxnSpPr/>
          <p:nvPr/>
        </p:nvCxnSpPr>
        <p:spPr>
          <a:xfrm>
            <a:off x="1534680" y="4082040"/>
            <a:ext cx="35280" cy="86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573" name="Connector 11"/>
          <p:cNvCxnSpPr/>
          <p:nvPr/>
        </p:nvCxnSpPr>
        <p:spPr>
          <a:xfrm>
            <a:off x="1621800" y="4106880"/>
            <a:ext cx="33840" cy="136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574" name="Connector 12"/>
          <p:cNvCxnSpPr/>
          <p:nvPr/>
        </p:nvCxnSpPr>
        <p:spPr>
          <a:xfrm>
            <a:off x="1704600" y="4144680"/>
            <a:ext cx="31320" cy="1872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575" name="Connector 13"/>
          <p:cNvCxnSpPr/>
          <p:nvPr/>
        </p:nvCxnSpPr>
        <p:spPr>
          <a:xfrm>
            <a:off x="1780200" y="4194720"/>
            <a:ext cx="28440" cy="230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576" name="Connector 14"/>
          <p:cNvCxnSpPr/>
          <p:nvPr/>
        </p:nvCxnSpPr>
        <p:spPr>
          <a:xfrm>
            <a:off x="1847520" y="4255560"/>
            <a:ext cx="24480" cy="273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577" name="Connector 15"/>
          <p:cNvCxnSpPr/>
          <p:nvPr/>
        </p:nvCxnSpPr>
        <p:spPr>
          <a:xfrm>
            <a:off x="1904760" y="4326120"/>
            <a:ext cx="20160" cy="306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578" name="Connector 16"/>
          <p:cNvCxnSpPr/>
          <p:nvPr/>
        </p:nvCxnSpPr>
        <p:spPr>
          <a:xfrm>
            <a:off x="1950480" y="4404240"/>
            <a:ext cx="15120" cy="334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579" name="Connector 17"/>
          <p:cNvCxnSpPr/>
          <p:nvPr/>
        </p:nvCxnSpPr>
        <p:spPr>
          <a:xfrm>
            <a:off x="1983960" y="4488840"/>
            <a:ext cx="9720" cy="352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580" name="Connector 18"/>
          <p:cNvCxnSpPr/>
          <p:nvPr/>
        </p:nvCxnSpPr>
        <p:spPr>
          <a:xfrm>
            <a:off x="2003760" y="4577400"/>
            <a:ext cx="4680" cy="363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581" name="Connector 19"/>
          <p:cNvCxnSpPr/>
          <p:nvPr/>
        </p:nvCxnSpPr>
        <p:spPr>
          <a:xfrm flipH="1">
            <a:off x="2008800" y="4667760"/>
            <a:ext cx="1440" cy="3672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582" name="Connector 20"/>
          <p:cNvCxnSpPr/>
          <p:nvPr/>
        </p:nvCxnSpPr>
        <p:spPr>
          <a:xfrm flipH="1">
            <a:off x="1995480" y="4758480"/>
            <a:ext cx="7200" cy="356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583" name="Connector 21"/>
          <p:cNvCxnSpPr/>
          <p:nvPr/>
        </p:nvCxnSpPr>
        <p:spPr>
          <a:xfrm flipH="1">
            <a:off x="1968840" y="4846680"/>
            <a:ext cx="12600" cy="342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584" name="Connector 22"/>
          <p:cNvCxnSpPr/>
          <p:nvPr/>
        </p:nvCxnSpPr>
        <p:spPr>
          <a:xfrm flipH="1">
            <a:off x="1929240" y="4930560"/>
            <a:ext cx="17640" cy="320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585" name="Connector 23"/>
          <p:cNvCxnSpPr/>
          <p:nvPr/>
        </p:nvCxnSpPr>
        <p:spPr>
          <a:xfrm flipH="1">
            <a:off x="1877400" y="5008320"/>
            <a:ext cx="22320" cy="288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586" name="Connector 24"/>
          <p:cNvCxnSpPr/>
          <p:nvPr/>
        </p:nvCxnSpPr>
        <p:spPr>
          <a:xfrm flipH="1">
            <a:off x="1815120" y="5077800"/>
            <a:ext cx="26280" cy="252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587" name="Connector 25"/>
          <p:cNvCxnSpPr/>
          <p:nvPr/>
        </p:nvCxnSpPr>
        <p:spPr>
          <a:xfrm flipH="1">
            <a:off x="1743480" y="5137560"/>
            <a:ext cx="29880" cy="212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588" name="Connector 26"/>
          <p:cNvCxnSpPr/>
          <p:nvPr/>
        </p:nvCxnSpPr>
        <p:spPr>
          <a:xfrm flipH="1">
            <a:off x="1663920" y="5186160"/>
            <a:ext cx="32760" cy="165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589" name="Connector 27"/>
          <p:cNvCxnSpPr/>
          <p:nvPr/>
        </p:nvCxnSpPr>
        <p:spPr>
          <a:xfrm flipH="1">
            <a:off x="1578600" y="5222880"/>
            <a:ext cx="34920" cy="111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590" name="Connector 28"/>
          <p:cNvCxnSpPr/>
          <p:nvPr/>
        </p:nvCxnSpPr>
        <p:spPr>
          <a:xfrm flipH="1">
            <a:off x="1489680" y="5246280"/>
            <a:ext cx="36000" cy="57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591" name="Connector 29"/>
          <p:cNvCxnSpPr/>
          <p:nvPr/>
        </p:nvCxnSpPr>
        <p:spPr>
          <a:xfrm flipH="1">
            <a:off x="1398960" y="5256000"/>
            <a:ext cx="36720" cy="3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592" name="Connector 30"/>
          <p:cNvCxnSpPr/>
          <p:nvPr/>
        </p:nvCxnSpPr>
        <p:spPr>
          <a:xfrm flipH="1" flipV="1">
            <a:off x="1308960" y="5246280"/>
            <a:ext cx="36000" cy="57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593" name="Connector 31"/>
          <p:cNvCxnSpPr/>
          <p:nvPr/>
        </p:nvCxnSpPr>
        <p:spPr>
          <a:xfrm flipH="1" flipV="1">
            <a:off x="1221120" y="5222880"/>
            <a:ext cx="34920" cy="111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594" name="Connector 32"/>
          <p:cNvCxnSpPr/>
          <p:nvPr/>
        </p:nvCxnSpPr>
        <p:spPr>
          <a:xfrm flipH="1" flipV="1">
            <a:off x="1137960" y="5186160"/>
            <a:ext cx="32760" cy="165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595" name="Connector 33"/>
          <p:cNvCxnSpPr/>
          <p:nvPr/>
        </p:nvCxnSpPr>
        <p:spPr>
          <a:xfrm flipH="1" flipV="1">
            <a:off x="1061280" y="5137560"/>
            <a:ext cx="29880" cy="212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596" name="Connector 34"/>
          <p:cNvCxnSpPr/>
          <p:nvPr/>
        </p:nvCxnSpPr>
        <p:spPr>
          <a:xfrm flipH="1" flipV="1">
            <a:off x="993240" y="5077800"/>
            <a:ext cx="26280" cy="252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597" name="Connector 35"/>
          <p:cNvCxnSpPr/>
          <p:nvPr/>
        </p:nvCxnSpPr>
        <p:spPr>
          <a:xfrm flipH="1" flipV="1">
            <a:off x="934920" y="5008320"/>
            <a:ext cx="22320" cy="288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598" name="Connector 36"/>
          <p:cNvCxnSpPr/>
          <p:nvPr/>
        </p:nvCxnSpPr>
        <p:spPr>
          <a:xfrm flipH="1" flipV="1">
            <a:off x="887760" y="4930560"/>
            <a:ext cx="17640" cy="320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599" name="Connector 37"/>
          <p:cNvCxnSpPr/>
          <p:nvPr/>
        </p:nvCxnSpPr>
        <p:spPr>
          <a:xfrm flipH="1" flipV="1">
            <a:off x="853200" y="4846680"/>
            <a:ext cx="12600" cy="342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600" name="Connector 38"/>
          <p:cNvCxnSpPr/>
          <p:nvPr/>
        </p:nvCxnSpPr>
        <p:spPr>
          <a:xfrm flipH="1" flipV="1">
            <a:off x="831960" y="4758480"/>
            <a:ext cx="7200" cy="356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601" name="Connector 39"/>
          <p:cNvCxnSpPr/>
          <p:nvPr/>
        </p:nvCxnSpPr>
        <p:spPr>
          <a:xfrm flipH="1" flipV="1">
            <a:off x="824400" y="4667760"/>
            <a:ext cx="1440" cy="3672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602" name="Connector 40"/>
          <p:cNvCxnSpPr/>
          <p:nvPr/>
        </p:nvCxnSpPr>
        <p:spPr>
          <a:xfrm flipV="1">
            <a:off x="826200" y="4577400"/>
            <a:ext cx="4680" cy="363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603" name="Connector 41"/>
          <p:cNvCxnSpPr/>
          <p:nvPr/>
        </p:nvCxnSpPr>
        <p:spPr>
          <a:xfrm flipV="1">
            <a:off x="840960" y="4488840"/>
            <a:ext cx="9720" cy="352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604" name="Connector 42"/>
          <p:cNvCxnSpPr/>
          <p:nvPr/>
        </p:nvCxnSpPr>
        <p:spPr>
          <a:xfrm flipV="1">
            <a:off x="869040" y="4404240"/>
            <a:ext cx="15120" cy="334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605" name="Connector 43"/>
          <p:cNvCxnSpPr/>
          <p:nvPr/>
        </p:nvCxnSpPr>
        <p:spPr>
          <a:xfrm flipV="1">
            <a:off x="909720" y="4326120"/>
            <a:ext cx="20160" cy="306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606" name="Connector 44"/>
          <p:cNvCxnSpPr/>
          <p:nvPr/>
        </p:nvCxnSpPr>
        <p:spPr>
          <a:xfrm flipV="1">
            <a:off x="962640" y="4255560"/>
            <a:ext cx="24480" cy="273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607" name="Connector 45"/>
          <p:cNvCxnSpPr/>
          <p:nvPr/>
        </p:nvCxnSpPr>
        <p:spPr>
          <a:xfrm flipV="1">
            <a:off x="1026000" y="4194720"/>
            <a:ext cx="28440" cy="230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608" name="Connector 46"/>
          <p:cNvCxnSpPr/>
          <p:nvPr/>
        </p:nvCxnSpPr>
        <p:spPr>
          <a:xfrm flipV="1">
            <a:off x="1098720" y="4144680"/>
            <a:ext cx="31320" cy="1872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609" name="Connector 47"/>
          <p:cNvCxnSpPr/>
          <p:nvPr/>
        </p:nvCxnSpPr>
        <p:spPr>
          <a:xfrm flipV="1">
            <a:off x="1179000" y="4106880"/>
            <a:ext cx="33840" cy="136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610" name="Connector 48"/>
          <p:cNvCxnSpPr/>
          <p:nvPr/>
        </p:nvCxnSpPr>
        <p:spPr>
          <a:xfrm flipV="1">
            <a:off x="1264680" y="4082040"/>
            <a:ext cx="35280" cy="86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611" name="Connector 49"/>
          <p:cNvCxnSpPr/>
          <p:nvPr/>
        </p:nvCxnSpPr>
        <p:spPr>
          <a:xfrm flipV="1">
            <a:off x="1353600" y="4070880"/>
            <a:ext cx="36720" cy="32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612" name="Connector 50"/>
          <p:cNvCxnSpPr/>
          <p:nvPr/>
        </p:nvCxnSpPr>
        <p:spPr>
          <a:xfrm>
            <a:off x="1444320" y="4073040"/>
            <a:ext cx="125280" cy="198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13" name="Connector 51"/>
          <p:cNvCxnSpPr/>
          <p:nvPr/>
        </p:nvCxnSpPr>
        <p:spPr>
          <a:xfrm>
            <a:off x="1533960" y="4084200"/>
            <a:ext cx="120960" cy="385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14" name="Connector 52"/>
          <p:cNvCxnSpPr/>
          <p:nvPr/>
        </p:nvCxnSpPr>
        <p:spPr>
          <a:xfrm>
            <a:off x="1621080" y="4108680"/>
            <a:ext cx="113760" cy="565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15" name="Connector 53"/>
          <p:cNvCxnSpPr/>
          <p:nvPr/>
        </p:nvCxnSpPr>
        <p:spPr>
          <a:xfrm>
            <a:off x="1703160" y="4146480"/>
            <a:ext cx="104040" cy="730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16" name="Connector 54"/>
          <p:cNvCxnSpPr/>
          <p:nvPr/>
        </p:nvCxnSpPr>
        <p:spPr>
          <a:xfrm>
            <a:off x="1778760" y="4196160"/>
            <a:ext cx="91800" cy="882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17" name="Connector 55"/>
          <p:cNvCxnSpPr/>
          <p:nvPr/>
        </p:nvCxnSpPr>
        <p:spPr>
          <a:xfrm>
            <a:off x="1846080" y="4257000"/>
            <a:ext cx="77040" cy="1008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18" name="Connector 56"/>
          <p:cNvCxnSpPr/>
          <p:nvPr/>
        </p:nvCxnSpPr>
        <p:spPr>
          <a:xfrm>
            <a:off x="1902960" y="4327200"/>
            <a:ext cx="60840" cy="11124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19" name="Connector 57"/>
          <p:cNvCxnSpPr/>
          <p:nvPr/>
        </p:nvCxnSpPr>
        <p:spPr>
          <a:xfrm>
            <a:off x="1948680" y="4404960"/>
            <a:ext cx="43200" cy="1195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20" name="Connector 58"/>
          <p:cNvCxnSpPr/>
          <p:nvPr/>
        </p:nvCxnSpPr>
        <p:spPr>
          <a:xfrm>
            <a:off x="1981800" y="4489200"/>
            <a:ext cx="24480" cy="1245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21" name="Connector 59"/>
          <p:cNvCxnSpPr/>
          <p:nvPr/>
        </p:nvCxnSpPr>
        <p:spPr>
          <a:xfrm>
            <a:off x="2001600" y="4577400"/>
            <a:ext cx="5400" cy="1270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22" name="Connector 60"/>
          <p:cNvCxnSpPr/>
          <p:nvPr/>
        </p:nvCxnSpPr>
        <p:spPr>
          <a:xfrm flipH="1">
            <a:off x="1993320" y="4667760"/>
            <a:ext cx="15120" cy="1260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23" name="Connector 61"/>
          <p:cNvCxnSpPr/>
          <p:nvPr/>
        </p:nvCxnSpPr>
        <p:spPr>
          <a:xfrm flipH="1">
            <a:off x="1966680" y="4757760"/>
            <a:ext cx="33840" cy="1224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24" name="Connector 62"/>
          <p:cNvCxnSpPr/>
          <p:nvPr/>
        </p:nvCxnSpPr>
        <p:spPr>
          <a:xfrm flipH="1">
            <a:off x="1927080" y="4845960"/>
            <a:ext cx="52200" cy="1155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25" name="Connector 63"/>
          <p:cNvCxnSpPr/>
          <p:nvPr/>
        </p:nvCxnSpPr>
        <p:spPr>
          <a:xfrm flipH="1">
            <a:off x="1875600" y="4929480"/>
            <a:ext cx="69480" cy="1065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26" name="Connector 64"/>
          <p:cNvCxnSpPr/>
          <p:nvPr/>
        </p:nvCxnSpPr>
        <p:spPr>
          <a:xfrm flipH="1">
            <a:off x="1813680" y="5006880"/>
            <a:ext cx="84600" cy="946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27" name="Connector 65"/>
          <p:cNvCxnSpPr/>
          <p:nvPr/>
        </p:nvCxnSpPr>
        <p:spPr>
          <a:xfrm flipH="1">
            <a:off x="1742040" y="5076000"/>
            <a:ext cx="97920" cy="810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28" name="Connector 66"/>
          <p:cNvCxnSpPr/>
          <p:nvPr/>
        </p:nvCxnSpPr>
        <p:spPr>
          <a:xfrm flipH="1">
            <a:off x="1662840" y="5135760"/>
            <a:ext cx="109080" cy="651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29" name="Connector 67"/>
          <p:cNvCxnSpPr/>
          <p:nvPr/>
        </p:nvCxnSpPr>
        <p:spPr>
          <a:xfrm flipH="1">
            <a:off x="1577880" y="5184360"/>
            <a:ext cx="118080" cy="478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30" name="Connector 68"/>
          <p:cNvCxnSpPr/>
          <p:nvPr/>
        </p:nvCxnSpPr>
        <p:spPr>
          <a:xfrm flipH="1">
            <a:off x="1489320" y="5220720"/>
            <a:ext cx="123480" cy="291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31" name="Connector 69"/>
          <p:cNvCxnSpPr/>
          <p:nvPr/>
        </p:nvCxnSpPr>
        <p:spPr>
          <a:xfrm flipH="1">
            <a:off x="1398960" y="5244120"/>
            <a:ext cx="126720" cy="100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32" name="Connector 70"/>
          <p:cNvCxnSpPr/>
          <p:nvPr/>
        </p:nvCxnSpPr>
        <p:spPr>
          <a:xfrm flipH="1" flipV="1">
            <a:off x="1308960" y="5244120"/>
            <a:ext cx="126720" cy="100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33" name="Connector 71"/>
          <p:cNvCxnSpPr/>
          <p:nvPr/>
        </p:nvCxnSpPr>
        <p:spPr>
          <a:xfrm flipH="1" flipV="1">
            <a:off x="1221840" y="5220720"/>
            <a:ext cx="123480" cy="291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34" name="Connector 72"/>
          <p:cNvCxnSpPr/>
          <p:nvPr/>
        </p:nvCxnSpPr>
        <p:spPr>
          <a:xfrm flipH="1" flipV="1">
            <a:off x="1138680" y="5184360"/>
            <a:ext cx="118080" cy="478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35" name="Connector 73"/>
          <p:cNvCxnSpPr/>
          <p:nvPr/>
        </p:nvCxnSpPr>
        <p:spPr>
          <a:xfrm flipH="1" flipV="1">
            <a:off x="1062720" y="5135760"/>
            <a:ext cx="109080" cy="651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36" name="Connector 74"/>
          <p:cNvCxnSpPr/>
          <p:nvPr/>
        </p:nvCxnSpPr>
        <p:spPr>
          <a:xfrm flipH="1" flipV="1">
            <a:off x="994680" y="5076000"/>
            <a:ext cx="97920" cy="810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37" name="Connector 75"/>
          <p:cNvCxnSpPr/>
          <p:nvPr/>
        </p:nvCxnSpPr>
        <p:spPr>
          <a:xfrm flipH="1" flipV="1">
            <a:off x="936360" y="5006880"/>
            <a:ext cx="84600" cy="946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38" name="Connector 76"/>
          <p:cNvCxnSpPr/>
          <p:nvPr/>
        </p:nvCxnSpPr>
        <p:spPr>
          <a:xfrm flipH="1" flipV="1">
            <a:off x="889560" y="4929480"/>
            <a:ext cx="69480" cy="1065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39" name="Connector 77"/>
          <p:cNvCxnSpPr/>
          <p:nvPr/>
        </p:nvCxnSpPr>
        <p:spPr>
          <a:xfrm flipH="1" flipV="1">
            <a:off x="855360" y="4845960"/>
            <a:ext cx="52200" cy="1155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40" name="Connector 78"/>
          <p:cNvCxnSpPr/>
          <p:nvPr/>
        </p:nvCxnSpPr>
        <p:spPr>
          <a:xfrm flipH="1" flipV="1">
            <a:off x="834120" y="4757760"/>
            <a:ext cx="33840" cy="1224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41" name="Connector 79"/>
          <p:cNvCxnSpPr/>
          <p:nvPr/>
        </p:nvCxnSpPr>
        <p:spPr>
          <a:xfrm flipH="1" flipV="1">
            <a:off x="826200" y="4667760"/>
            <a:ext cx="15120" cy="1260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42" name="Connector 80"/>
          <p:cNvCxnSpPr/>
          <p:nvPr/>
        </p:nvCxnSpPr>
        <p:spPr>
          <a:xfrm flipV="1">
            <a:off x="827640" y="4577400"/>
            <a:ext cx="5400" cy="1270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43" name="Connector 81"/>
          <p:cNvCxnSpPr/>
          <p:nvPr/>
        </p:nvCxnSpPr>
        <p:spPr>
          <a:xfrm flipV="1">
            <a:off x="828360" y="4489200"/>
            <a:ext cx="24480" cy="1245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44" name="Connector 82"/>
          <p:cNvCxnSpPr/>
          <p:nvPr/>
        </p:nvCxnSpPr>
        <p:spPr>
          <a:xfrm flipV="1">
            <a:off x="842760" y="4404960"/>
            <a:ext cx="43200" cy="1195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45" name="Connector 83"/>
          <p:cNvCxnSpPr/>
          <p:nvPr/>
        </p:nvCxnSpPr>
        <p:spPr>
          <a:xfrm flipV="1">
            <a:off x="870840" y="4327200"/>
            <a:ext cx="60840" cy="11124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46" name="Connector 84"/>
          <p:cNvCxnSpPr/>
          <p:nvPr/>
        </p:nvCxnSpPr>
        <p:spPr>
          <a:xfrm flipV="1">
            <a:off x="911520" y="4257000"/>
            <a:ext cx="77040" cy="1008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47" name="Connector 85"/>
          <p:cNvCxnSpPr/>
          <p:nvPr/>
        </p:nvCxnSpPr>
        <p:spPr>
          <a:xfrm flipV="1">
            <a:off x="964080" y="4196160"/>
            <a:ext cx="91800" cy="882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48" name="Connector 86"/>
          <p:cNvCxnSpPr/>
          <p:nvPr/>
        </p:nvCxnSpPr>
        <p:spPr>
          <a:xfrm flipV="1">
            <a:off x="1027440" y="4146480"/>
            <a:ext cx="104040" cy="730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49" name="Connector 87"/>
          <p:cNvCxnSpPr/>
          <p:nvPr/>
        </p:nvCxnSpPr>
        <p:spPr>
          <a:xfrm flipV="1">
            <a:off x="1099800" y="4108680"/>
            <a:ext cx="113760" cy="565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50" name="Connector 88"/>
          <p:cNvCxnSpPr/>
          <p:nvPr/>
        </p:nvCxnSpPr>
        <p:spPr>
          <a:xfrm flipV="1">
            <a:off x="1179720" y="4084200"/>
            <a:ext cx="120960" cy="385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51" name="Connector 89"/>
          <p:cNvCxnSpPr/>
          <p:nvPr/>
        </p:nvCxnSpPr>
        <p:spPr>
          <a:xfrm flipV="1">
            <a:off x="1265040" y="4073040"/>
            <a:ext cx="125280" cy="198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652" name="Connector 90"/>
          <p:cNvCxnSpPr/>
          <p:nvPr/>
        </p:nvCxnSpPr>
        <p:spPr>
          <a:xfrm>
            <a:off x="1353960" y="4075920"/>
            <a:ext cx="126720" cy="3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sp>
        <p:nvSpPr>
          <p:cNvPr id="653" name="Oval 91"/>
          <p:cNvSpPr/>
          <p:nvPr/>
        </p:nvSpPr>
        <p:spPr>
          <a:xfrm>
            <a:off x="1389960" y="40417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4" name="Oval 92"/>
          <p:cNvSpPr/>
          <p:nvPr/>
        </p:nvSpPr>
        <p:spPr>
          <a:xfrm>
            <a:off x="1480680" y="404856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5" name="Oval 93"/>
          <p:cNvSpPr/>
          <p:nvPr/>
        </p:nvSpPr>
        <p:spPr>
          <a:xfrm>
            <a:off x="1569240" y="406944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6" name="Oval 94"/>
          <p:cNvSpPr/>
          <p:nvPr/>
        </p:nvSpPr>
        <p:spPr>
          <a:xfrm>
            <a:off x="1653480" y="410328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7" name="Oval 95"/>
          <p:cNvSpPr/>
          <p:nvPr/>
        </p:nvSpPr>
        <p:spPr>
          <a:xfrm>
            <a:off x="1731960" y="41497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8" name="Oval 96"/>
          <p:cNvSpPr/>
          <p:nvPr/>
        </p:nvSpPr>
        <p:spPr>
          <a:xfrm>
            <a:off x="1802160" y="420768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9" name="Oval 97"/>
          <p:cNvSpPr/>
          <p:nvPr/>
        </p:nvSpPr>
        <p:spPr>
          <a:xfrm>
            <a:off x="1862640" y="42757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0" name="Oval 98"/>
          <p:cNvSpPr/>
          <p:nvPr/>
        </p:nvSpPr>
        <p:spPr>
          <a:xfrm>
            <a:off x="1911960" y="435204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1" name="Oval 99"/>
          <p:cNvSpPr/>
          <p:nvPr/>
        </p:nvSpPr>
        <p:spPr>
          <a:xfrm>
            <a:off x="1949400" y="44352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2" name="Oval 100"/>
          <p:cNvSpPr/>
          <p:nvPr/>
        </p:nvSpPr>
        <p:spPr>
          <a:xfrm>
            <a:off x="1973520" y="452268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3" name="Oval 101"/>
          <p:cNvSpPr/>
          <p:nvPr/>
        </p:nvSpPr>
        <p:spPr>
          <a:xfrm>
            <a:off x="1983960" y="46134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4" name="Oval 102"/>
          <p:cNvSpPr/>
          <p:nvPr/>
        </p:nvSpPr>
        <p:spPr>
          <a:xfrm>
            <a:off x="1980360" y="47041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5" name="Oval 103"/>
          <p:cNvSpPr/>
          <p:nvPr/>
        </p:nvSpPr>
        <p:spPr>
          <a:xfrm>
            <a:off x="1963080" y="47934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6" name="Oval 104"/>
          <p:cNvSpPr/>
          <p:nvPr/>
        </p:nvSpPr>
        <p:spPr>
          <a:xfrm>
            <a:off x="1932120" y="487908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7" name="Oval 105"/>
          <p:cNvSpPr/>
          <p:nvPr/>
        </p:nvSpPr>
        <p:spPr>
          <a:xfrm>
            <a:off x="1888920" y="49590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8" name="Oval 106"/>
          <p:cNvSpPr/>
          <p:nvPr/>
        </p:nvSpPr>
        <p:spPr>
          <a:xfrm>
            <a:off x="1833480" y="503136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9" name="Oval 107"/>
          <p:cNvSpPr/>
          <p:nvPr/>
        </p:nvSpPr>
        <p:spPr>
          <a:xfrm>
            <a:off x="1767960" y="50947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0" name="Oval 108"/>
          <p:cNvSpPr/>
          <p:nvPr/>
        </p:nvSpPr>
        <p:spPr>
          <a:xfrm>
            <a:off x="1693440" y="51469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1" name="Oval 109"/>
          <p:cNvSpPr/>
          <p:nvPr/>
        </p:nvSpPr>
        <p:spPr>
          <a:xfrm>
            <a:off x="1612080" y="518724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2" name="Oval 110"/>
          <p:cNvSpPr/>
          <p:nvPr/>
        </p:nvSpPr>
        <p:spPr>
          <a:xfrm>
            <a:off x="1525320" y="52146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3" name="Oval 111"/>
          <p:cNvSpPr/>
          <p:nvPr/>
        </p:nvSpPr>
        <p:spPr>
          <a:xfrm>
            <a:off x="1435320" y="522864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4" name="Oval 112"/>
          <p:cNvSpPr/>
          <p:nvPr/>
        </p:nvSpPr>
        <p:spPr>
          <a:xfrm>
            <a:off x="1344240" y="522864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5" name="Oval 113"/>
          <p:cNvSpPr/>
          <p:nvPr/>
        </p:nvSpPr>
        <p:spPr>
          <a:xfrm>
            <a:off x="1254600" y="52146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6" name="Oval 114"/>
          <p:cNvSpPr/>
          <p:nvPr/>
        </p:nvSpPr>
        <p:spPr>
          <a:xfrm>
            <a:off x="1167840" y="518724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7" name="Oval 115"/>
          <p:cNvSpPr/>
          <p:nvPr/>
        </p:nvSpPr>
        <p:spPr>
          <a:xfrm>
            <a:off x="1086120" y="51469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8" name="Oval 116"/>
          <p:cNvSpPr/>
          <p:nvPr/>
        </p:nvSpPr>
        <p:spPr>
          <a:xfrm>
            <a:off x="1011600" y="50947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9" name="Oval 117"/>
          <p:cNvSpPr/>
          <p:nvPr/>
        </p:nvSpPr>
        <p:spPr>
          <a:xfrm>
            <a:off x="946080" y="503136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0" name="Oval 118"/>
          <p:cNvSpPr/>
          <p:nvPr/>
        </p:nvSpPr>
        <p:spPr>
          <a:xfrm>
            <a:off x="891000" y="49590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1" name="Oval 119"/>
          <p:cNvSpPr/>
          <p:nvPr/>
        </p:nvSpPr>
        <p:spPr>
          <a:xfrm>
            <a:off x="847440" y="487908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2" name="Oval 120"/>
          <p:cNvSpPr/>
          <p:nvPr/>
        </p:nvSpPr>
        <p:spPr>
          <a:xfrm>
            <a:off x="816840" y="47934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3" name="Oval 121"/>
          <p:cNvSpPr/>
          <p:nvPr/>
        </p:nvSpPr>
        <p:spPr>
          <a:xfrm>
            <a:off x="799560" y="47041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4" name="Oval 122"/>
          <p:cNvSpPr/>
          <p:nvPr/>
        </p:nvSpPr>
        <p:spPr>
          <a:xfrm>
            <a:off x="795960" y="46134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5" name="Oval 123"/>
          <p:cNvSpPr/>
          <p:nvPr/>
        </p:nvSpPr>
        <p:spPr>
          <a:xfrm>
            <a:off x="806400" y="452268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6" name="Oval 124"/>
          <p:cNvSpPr/>
          <p:nvPr/>
        </p:nvSpPr>
        <p:spPr>
          <a:xfrm>
            <a:off x="830520" y="44352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7" name="Oval 125"/>
          <p:cNvSpPr/>
          <p:nvPr/>
        </p:nvSpPr>
        <p:spPr>
          <a:xfrm>
            <a:off x="867600" y="435204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8" name="Oval 126"/>
          <p:cNvSpPr/>
          <p:nvPr/>
        </p:nvSpPr>
        <p:spPr>
          <a:xfrm>
            <a:off x="917280" y="42757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9" name="Oval 127"/>
          <p:cNvSpPr/>
          <p:nvPr/>
        </p:nvSpPr>
        <p:spPr>
          <a:xfrm>
            <a:off x="977760" y="420768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0" name="Oval 128"/>
          <p:cNvSpPr/>
          <p:nvPr/>
        </p:nvSpPr>
        <p:spPr>
          <a:xfrm>
            <a:off x="1047960" y="41497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1" name="Oval 129"/>
          <p:cNvSpPr/>
          <p:nvPr/>
        </p:nvSpPr>
        <p:spPr>
          <a:xfrm>
            <a:off x="1126080" y="410328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2" name="Oval 130"/>
          <p:cNvSpPr/>
          <p:nvPr/>
        </p:nvSpPr>
        <p:spPr>
          <a:xfrm>
            <a:off x="1210680" y="406944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3" name="Oval 131"/>
          <p:cNvSpPr/>
          <p:nvPr/>
        </p:nvSpPr>
        <p:spPr>
          <a:xfrm>
            <a:off x="1299240" y="404856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4" name="TextBox 132"/>
          <p:cNvSpPr/>
          <p:nvPr/>
        </p:nvSpPr>
        <p:spPr>
          <a:xfrm>
            <a:off x="640080" y="534924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R = 2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95" name="Connector 133"/>
          <p:cNvCxnSpPr/>
          <p:nvPr/>
        </p:nvCxnSpPr>
        <p:spPr>
          <a:xfrm>
            <a:off x="2998800" y="4070880"/>
            <a:ext cx="36720" cy="32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696" name="Connector 134"/>
          <p:cNvCxnSpPr/>
          <p:nvPr/>
        </p:nvCxnSpPr>
        <p:spPr>
          <a:xfrm>
            <a:off x="3089160" y="4082040"/>
            <a:ext cx="35280" cy="86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697" name="Connector 135"/>
          <p:cNvCxnSpPr/>
          <p:nvPr/>
        </p:nvCxnSpPr>
        <p:spPr>
          <a:xfrm>
            <a:off x="3176280" y="4106880"/>
            <a:ext cx="33840" cy="136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698" name="Connector 136"/>
          <p:cNvCxnSpPr/>
          <p:nvPr/>
        </p:nvCxnSpPr>
        <p:spPr>
          <a:xfrm>
            <a:off x="3259080" y="4144680"/>
            <a:ext cx="31320" cy="1872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699" name="Connector 137"/>
          <p:cNvCxnSpPr/>
          <p:nvPr/>
        </p:nvCxnSpPr>
        <p:spPr>
          <a:xfrm>
            <a:off x="3334680" y="4194720"/>
            <a:ext cx="28440" cy="230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00" name="Connector 138"/>
          <p:cNvCxnSpPr/>
          <p:nvPr/>
        </p:nvCxnSpPr>
        <p:spPr>
          <a:xfrm>
            <a:off x="3402000" y="4255560"/>
            <a:ext cx="24480" cy="273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01" name="Connector 139"/>
          <p:cNvCxnSpPr/>
          <p:nvPr/>
        </p:nvCxnSpPr>
        <p:spPr>
          <a:xfrm>
            <a:off x="3459240" y="4326120"/>
            <a:ext cx="20160" cy="306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02" name="Connector 140"/>
          <p:cNvCxnSpPr/>
          <p:nvPr/>
        </p:nvCxnSpPr>
        <p:spPr>
          <a:xfrm>
            <a:off x="3504960" y="4404240"/>
            <a:ext cx="15120" cy="334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03" name="Connector 141"/>
          <p:cNvCxnSpPr/>
          <p:nvPr/>
        </p:nvCxnSpPr>
        <p:spPr>
          <a:xfrm>
            <a:off x="3538440" y="4488840"/>
            <a:ext cx="9720" cy="352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04" name="Connector 142"/>
          <p:cNvCxnSpPr/>
          <p:nvPr/>
        </p:nvCxnSpPr>
        <p:spPr>
          <a:xfrm>
            <a:off x="3558240" y="4577400"/>
            <a:ext cx="4680" cy="363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05" name="Connector 143"/>
          <p:cNvCxnSpPr/>
          <p:nvPr/>
        </p:nvCxnSpPr>
        <p:spPr>
          <a:xfrm flipH="1">
            <a:off x="3563280" y="4667760"/>
            <a:ext cx="1440" cy="3672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06" name="Connector 144"/>
          <p:cNvCxnSpPr/>
          <p:nvPr/>
        </p:nvCxnSpPr>
        <p:spPr>
          <a:xfrm flipH="1">
            <a:off x="3549960" y="4758480"/>
            <a:ext cx="7200" cy="356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07" name="Connector 145"/>
          <p:cNvCxnSpPr/>
          <p:nvPr/>
        </p:nvCxnSpPr>
        <p:spPr>
          <a:xfrm flipH="1">
            <a:off x="3523320" y="4846680"/>
            <a:ext cx="12600" cy="342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08" name="Connector 146"/>
          <p:cNvCxnSpPr/>
          <p:nvPr/>
        </p:nvCxnSpPr>
        <p:spPr>
          <a:xfrm flipH="1">
            <a:off x="3483720" y="4930560"/>
            <a:ext cx="17640" cy="320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09" name="Connector 147"/>
          <p:cNvCxnSpPr/>
          <p:nvPr/>
        </p:nvCxnSpPr>
        <p:spPr>
          <a:xfrm flipH="1">
            <a:off x="3431880" y="5008320"/>
            <a:ext cx="22320" cy="288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10" name="Connector 148"/>
          <p:cNvCxnSpPr/>
          <p:nvPr/>
        </p:nvCxnSpPr>
        <p:spPr>
          <a:xfrm flipH="1">
            <a:off x="3369600" y="5077800"/>
            <a:ext cx="26280" cy="252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11" name="Connector 149"/>
          <p:cNvCxnSpPr/>
          <p:nvPr/>
        </p:nvCxnSpPr>
        <p:spPr>
          <a:xfrm flipH="1">
            <a:off x="3297960" y="5137560"/>
            <a:ext cx="29880" cy="212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12" name="Connector 150"/>
          <p:cNvCxnSpPr/>
          <p:nvPr/>
        </p:nvCxnSpPr>
        <p:spPr>
          <a:xfrm flipH="1">
            <a:off x="3218400" y="5186160"/>
            <a:ext cx="32760" cy="165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13" name="Connector 151"/>
          <p:cNvCxnSpPr/>
          <p:nvPr/>
        </p:nvCxnSpPr>
        <p:spPr>
          <a:xfrm flipH="1">
            <a:off x="3133080" y="5222880"/>
            <a:ext cx="34920" cy="111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14" name="Connector 152"/>
          <p:cNvCxnSpPr/>
          <p:nvPr/>
        </p:nvCxnSpPr>
        <p:spPr>
          <a:xfrm flipH="1">
            <a:off x="3044160" y="5246280"/>
            <a:ext cx="36000" cy="57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15" name="Connector 153"/>
          <p:cNvCxnSpPr/>
          <p:nvPr/>
        </p:nvCxnSpPr>
        <p:spPr>
          <a:xfrm flipH="1">
            <a:off x="2953440" y="5256000"/>
            <a:ext cx="36720" cy="3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16" name="Connector 154"/>
          <p:cNvCxnSpPr/>
          <p:nvPr/>
        </p:nvCxnSpPr>
        <p:spPr>
          <a:xfrm flipH="1" flipV="1">
            <a:off x="2863440" y="5246280"/>
            <a:ext cx="36000" cy="57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17" name="Connector 155"/>
          <p:cNvCxnSpPr/>
          <p:nvPr/>
        </p:nvCxnSpPr>
        <p:spPr>
          <a:xfrm flipH="1" flipV="1">
            <a:off x="2775600" y="5222880"/>
            <a:ext cx="34920" cy="111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18" name="Connector 156"/>
          <p:cNvCxnSpPr/>
          <p:nvPr/>
        </p:nvCxnSpPr>
        <p:spPr>
          <a:xfrm flipH="1" flipV="1">
            <a:off x="2692440" y="5186160"/>
            <a:ext cx="32760" cy="165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19" name="Connector 157"/>
          <p:cNvCxnSpPr/>
          <p:nvPr/>
        </p:nvCxnSpPr>
        <p:spPr>
          <a:xfrm flipH="1" flipV="1">
            <a:off x="2615760" y="5137560"/>
            <a:ext cx="29880" cy="212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20" name="Connector 158"/>
          <p:cNvCxnSpPr/>
          <p:nvPr/>
        </p:nvCxnSpPr>
        <p:spPr>
          <a:xfrm flipH="1" flipV="1">
            <a:off x="2547720" y="5077800"/>
            <a:ext cx="26280" cy="252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21" name="Connector 159"/>
          <p:cNvCxnSpPr/>
          <p:nvPr/>
        </p:nvCxnSpPr>
        <p:spPr>
          <a:xfrm flipH="1" flipV="1">
            <a:off x="2489400" y="5008320"/>
            <a:ext cx="22320" cy="288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22" name="Connector 160"/>
          <p:cNvCxnSpPr/>
          <p:nvPr/>
        </p:nvCxnSpPr>
        <p:spPr>
          <a:xfrm flipH="1" flipV="1">
            <a:off x="2442240" y="4930560"/>
            <a:ext cx="17640" cy="320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23" name="Connector 161"/>
          <p:cNvCxnSpPr/>
          <p:nvPr/>
        </p:nvCxnSpPr>
        <p:spPr>
          <a:xfrm flipH="1" flipV="1">
            <a:off x="2407680" y="4846680"/>
            <a:ext cx="12600" cy="342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24" name="Connector 162"/>
          <p:cNvCxnSpPr/>
          <p:nvPr/>
        </p:nvCxnSpPr>
        <p:spPr>
          <a:xfrm flipH="1" flipV="1">
            <a:off x="2386440" y="4758480"/>
            <a:ext cx="7200" cy="356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25" name="Connector 163"/>
          <p:cNvCxnSpPr/>
          <p:nvPr/>
        </p:nvCxnSpPr>
        <p:spPr>
          <a:xfrm flipH="1" flipV="1">
            <a:off x="2378880" y="4667760"/>
            <a:ext cx="1440" cy="3672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26" name="Connector 164"/>
          <p:cNvCxnSpPr/>
          <p:nvPr/>
        </p:nvCxnSpPr>
        <p:spPr>
          <a:xfrm flipV="1">
            <a:off x="2380680" y="4577400"/>
            <a:ext cx="4680" cy="363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27" name="Connector 165"/>
          <p:cNvCxnSpPr/>
          <p:nvPr/>
        </p:nvCxnSpPr>
        <p:spPr>
          <a:xfrm flipV="1">
            <a:off x="2395440" y="4488840"/>
            <a:ext cx="9720" cy="352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28" name="Connector 166"/>
          <p:cNvCxnSpPr/>
          <p:nvPr/>
        </p:nvCxnSpPr>
        <p:spPr>
          <a:xfrm flipV="1">
            <a:off x="2423520" y="4404240"/>
            <a:ext cx="15120" cy="334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29" name="Connector 167"/>
          <p:cNvCxnSpPr/>
          <p:nvPr/>
        </p:nvCxnSpPr>
        <p:spPr>
          <a:xfrm flipV="1">
            <a:off x="2464200" y="4326120"/>
            <a:ext cx="20160" cy="306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30" name="Connector 168"/>
          <p:cNvCxnSpPr/>
          <p:nvPr/>
        </p:nvCxnSpPr>
        <p:spPr>
          <a:xfrm flipV="1">
            <a:off x="2517120" y="4255560"/>
            <a:ext cx="24480" cy="273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31" name="Connector 169"/>
          <p:cNvCxnSpPr/>
          <p:nvPr/>
        </p:nvCxnSpPr>
        <p:spPr>
          <a:xfrm flipV="1">
            <a:off x="2580480" y="4194720"/>
            <a:ext cx="28440" cy="230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32" name="Connector 170"/>
          <p:cNvCxnSpPr/>
          <p:nvPr/>
        </p:nvCxnSpPr>
        <p:spPr>
          <a:xfrm flipV="1">
            <a:off x="2653200" y="4144680"/>
            <a:ext cx="31320" cy="1872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33" name="Connector 171"/>
          <p:cNvCxnSpPr/>
          <p:nvPr/>
        </p:nvCxnSpPr>
        <p:spPr>
          <a:xfrm flipV="1">
            <a:off x="2733480" y="4106880"/>
            <a:ext cx="33840" cy="136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34" name="Connector 172"/>
          <p:cNvCxnSpPr/>
          <p:nvPr/>
        </p:nvCxnSpPr>
        <p:spPr>
          <a:xfrm flipV="1">
            <a:off x="2819160" y="4082040"/>
            <a:ext cx="35280" cy="86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35" name="Connector 173"/>
          <p:cNvCxnSpPr/>
          <p:nvPr/>
        </p:nvCxnSpPr>
        <p:spPr>
          <a:xfrm flipV="1">
            <a:off x="2908080" y="4070880"/>
            <a:ext cx="36720" cy="32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736" name="Connector 174"/>
          <p:cNvCxnSpPr/>
          <p:nvPr/>
        </p:nvCxnSpPr>
        <p:spPr>
          <a:xfrm>
            <a:off x="2992680" y="4086360"/>
            <a:ext cx="541800" cy="4467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37" name="Connector 175"/>
          <p:cNvCxnSpPr/>
          <p:nvPr/>
        </p:nvCxnSpPr>
        <p:spPr>
          <a:xfrm>
            <a:off x="3080520" y="4096440"/>
            <a:ext cx="467280" cy="5238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38" name="Connector 176"/>
          <p:cNvCxnSpPr/>
          <p:nvPr/>
        </p:nvCxnSpPr>
        <p:spPr>
          <a:xfrm>
            <a:off x="3165840" y="4119480"/>
            <a:ext cx="381600" cy="5893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39" name="Connector 177"/>
          <p:cNvCxnSpPr/>
          <p:nvPr/>
        </p:nvCxnSpPr>
        <p:spPr>
          <a:xfrm>
            <a:off x="3246480" y="4155480"/>
            <a:ext cx="287280" cy="64044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40" name="Connector 178"/>
          <p:cNvCxnSpPr/>
          <p:nvPr/>
        </p:nvCxnSpPr>
        <p:spPr>
          <a:xfrm>
            <a:off x="3321000" y="4203720"/>
            <a:ext cx="186120" cy="67644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41" name="Connector 179"/>
          <p:cNvCxnSpPr/>
          <p:nvPr/>
        </p:nvCxnSpPr>
        <p:spPr>
          <a:xfrm>
            <a:off x="3386880" y="4262400"/>
            <a:ext cx="81000" cy="6969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42" name="Connector 180"/>
          <p:cNvCxnSpPr/>
          <p:nvPr/>
        </p:nvCxnSpPr>
        <p:spPr>
          <a:xfrm flipH="1">
            <a:off x="3416400" y="4330440"/>
            <a:ext cx="27360" cy="7012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43" name="Connector 181"/>
          <p:cNvCxnSpPr/>
          <p:nvPr/>
        </p:nvCxnSpPr>
        <p:spPr>
          <a:xfrm flipH="1">
            <a:off x="3354840" y="4406400"/>
            <a:ext cx="133920" cy="6886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44" name="Connector 182"/>
          <p:cNvCxnSpPr/>
          <p:nvPr/>
        </p:nvCxnSpPr>
        <p:spPr>
          <a:xfrm flipH="1">
            <a:off x="3284640" y="4488120"/>
            <a:ext cx="237600" cy="6606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45" name="Connector 183"/>
          <p:cNvCxnSpPr/>
          <p:nvPr/>
        </p:nvCxnSpPr>
        <p:spPr>
          <a:xfrm flipH="1">
            <a:off x="3206880" y="4574160"/>
            <a:ext cx="335520" cy="6166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46" name="Connector 184"/>
          <p:cNvCxnSpPr/>
          <p:nvPr/>
        </p:nvCxnSpPr>
        <p:spPr>
          <a:xfrm flipH="1">
            <a:off x="3123720" y="4662360"/>
            <a:ext cx="425520" cy="5580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47" name="Connector 185"/>
          <p:cNvCxnSpPr/>
          <p:nvPr/>
        </p:nvCxnSpPr>
        <p:spPr>
          <a:xfrm flipH="1">
            <a:off x="3036960" y="4750560"/>
            <a:ext cx="505800" cy="4867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48" name="Connector 186"/>
          <p:cNvCxnSpPr/>
          <p:nvPr/>
        </p:nvCxnSpPr>
        <p:spPr>
          <a:xfrm flipH="1">
            <a:off x="2948400" y="4836600"/>
            <a:ext cx="574200" cy="4039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49" name="Connector 187"/>
          <p:cNvCxnSpPr/>
          <p:nvPr/>
        </p:nvCxnSpPr>
        <p:spPr>
          <a:xfrm flipH="1">
            <a:off x="2860920" y="4918680"/>
            <a:ext cx="628920" cy="3114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50" name="Connector 188"/>
          <p:cNvCxnSpPr/>
          <p:nvPr/>
        </p:nvCxnSpPr>
        <p:spPr>
          <a:xfrm flipH="1">
            <a:off x="2775600" y="4994640"/>
            <a:ext cx="669240" cy="21204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51" name="Connector 189"/>
          <p:cNvCxnSpPr/>
          <p:nvPr/>
        </p:nvCxnSpPr>
        <p:spPr>
          <a:xfrm flipH="1">
            <a:off x="2694960" y="5063040"/>
            <a:ext cx="693720" cy="1072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52" name="Connector 190"/>
          <p:cNvCxnSpPr/>
          <p:nvPr/>
        </p:nvCxnSpPr>
        <p:spPr>
          <a:xfrm flipH="1">
            <a:off x="2620800" y="5121720"/>
            <a:ext cx="702000" cy="3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53" name="Connector 191"/>
          <p:cNvCxnSpPr/>
          <p:nvPr/>
        </p:nvCxnSpPr>
        <p:spPr>
          <a:xfrm flipH="1" flipV="1">
            <a:off x="2554920" y="5063040"/>
            <a:ext cx="693720" cy="1072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54" name="Connector 192"/>
          <p:cNvCxnSpPr/>
          <p:nvPr/>
        </p:nvCxnSpPr>
        <p:spPr>
          <a:xfrm flipH="1" flipV="1">
            <a:off x="2498760" y="4994640"/>
            <a:ext cx="669240" cy="21204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55" name="Connector 193"/>
          <p:cNvCxnSpPr/>
          <p:nvPr/>
        </p:nvCxnSpPr>
        <p:spPr>
          <a:xfrm flipH="1" flipV="1">
            <a:off x="2453760" y="4918680"/>
            <a:ext cx="628920" cy="3114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56" name="Connector 194"/>
          <p:cNvCxnSpPr/>
          <p:nvPr/>
        </p:nvCxnSpPr>
        <p:spPr>
          <a:xfrm flipH="1" flipV="1">
            <a:off x="2421000" y="4836600"/>
            <a:ext cx="574200" cy="4039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57" name="Connector 195"/>
          <p:cNvCxnSpPr/>
          <p:nvPr/>
        </p:nvCxnSpPr>
        <p:spPr>
          <a:xfrm flipH="1" flipV="1">
            <a:off x="2400840" y="4750560"/>
            <a:ext cx="505800" cy="4867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58" name="Connector 196"/>
          <p:cNvCxnSpPr/>
          <p:nvPr/>
        </p:nvCxnSpPr>
        <p:spPr>
          <a:xfrm flipH="1" flipV="1">
            <a:off x="2394360" y="4662360"/>
            <a:ext cx="425520" cy="5580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59" name="Connector 197"/>
          <p:cNvCxnSpPr/>
          <p:nvPr/>
        </p:nvCxnSpPr>
        <p:spPr>
          <a:xfrm flipH="1" flipV="1">
            <a:off x="2401200" y="4574160"/>
            <a:ext cx="335520" cy="6166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60" name="Connector 198"/>
          <p:cNvCxnSpPr/>
          <p:nvPr/>
        </p:nvCxnSpPr>
        <p:spPr>
          <a:xfrm flipH="1" flipV="1">
            <a:off x="2421360" y="4488120"/>
            <a:ext cx="237600" cy="6606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61" name="Connector 199"/>
          <p:cNvCxnSpPr/>
          <p:nvPr/>
        </p:nvCxnSpPr>
        <p:spPr>
          <a:xfrm flipH="1" flipV="1">
            <a:off x="2454840" y="4406400"/>
            <a:ext cx="133920" cy="6886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62" name="Connector 200"/>
          <p:cNvCxnSpPr/>
          <p:nvPr/>
        </p:nvCxnSpPr>
        <p:spPr>
          <a:xfrm flipH="1" flipV="1">
            <a:off x="2499840" y="4330440"/>
            <a:ext cx="27360" cy="7012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63" name="Connector 201"/>
          <p:cNvCxnSpPr/>
          <p:nvPr/>
        </p:nvCxnSpPr>
        <p:spPr>
          <a:xfrm flipV="1">
            <a:off x="2475720" y="4262400"/>
            <a:ext cx="81000" cy="6969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64" name="Connector 202"/>
          <p:cNvCxnSpPr/>
          <p:nvPr/>
        </p:nvCxnSpPr>
        <p:spPr>
          <a:xfrm flipV="1">
            <a:off x="2436480" y="4203720"/>
            <a:ext cx="186120" cy="67644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65" name="Connector 203"/>
          <p:cNvCxnSpPr/>
          <p:nvPr/>
        </p:nvCxnSpPr>
        <p:spPr>
          <a:xfrm flipV="1">
            <a:off x="2409840" y="4155480"/>
            <a:ext cx="287280" cy="64044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66" name="Connector 204"/>
          <p:cNvCxnSpPr/>
          <p:nvPr/>
        </p:nvCxnSpPr>
        <p:spPr>
          <a:xfrm flipV="1">
            <a:off x="2396160" y="4119480"/>
            <a:ext cx="381600" cy="5893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67" name="Connector 205"/>
          <p:cNvCxnSpPr/>
          <p:nvPr/>
        </p:nvCxnSpPr>
        <p:spPr>
          <a:xfrm flipV="1">
            <a:off x="2395800" y="4096440"/>
            <a:ext cx="467280" cy="5238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68" name="Connector 206"/>
          <p:cNvCxnSpPr/>
          <p:nvPr/>
        </p:nvCxnSpPr>
        <p:spPr>
          <a:xfrm flipV="1">
            <a:off x="2409120" y="4086360"/>
            <a:ext cx="541800" cy="4467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69" name="Connector 207"/>
          <p:cNvCxnSpPr/>
          <p:nvPr/>
        </p:nvCxnSpPr>
        <p:spPr>
          <a:xfrm flipV="1">
            <a:off x="2435760" y="4089960"/>
            <a:ext cx="603360" cy="3585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70" name="Connector 208"/>
          <p:cNvCxnSpPr/>
          <p:nvPr/>
        </p:nvCxnSpPr>
        <p:spPr>
          <a:xfrm flipV="1">
            <a:off x="2475000" y="4106880"/>
            <a:ext cx="650880" cy="26244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71" name="Connector 209"/>
          <p:cNvCxnSpPr/>
          <p:nvPr/>
        </p:nvCxnSpPr>
        <p:spPr>
          <a:xfrm flipV="1">
            <a:off x="2525760" y="4136760"/>
            <a:ext cx="683280" cy="1602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72" name="Connector 210"/>
          <p:cNvCxnSpPr/>
          <p:nvPr/>
        </p:nvCxnSpPr>
        <p:spPr>
          <a:xfrm flipV="1">
            <a:off x="2586960" y="4179240"/>
            <a:ext cx="699480" cy="540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73" name="Connector 211"/>
          <p:cNvCxnSpPr/>
          <p:nvPr/>
        </p:nvCxnSpPr>
        <p:spPr>
          <a:xfrm>
            <a:off x="2657160" y="4179240"/>
            <a:ext cx="699480" cy="540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74" name="Connector 212"/>
          <p:cNvCxnSpPr/>
          <p:nvPr/>
        </p:nvCxnSpPr>
        <p:spPr>
          <a:xfrm>
            <a:off x="2734560" y="4136760"/>
            <a:ext cx="683280" cy="1602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75" name="Connector 213"/>
          <p:cNvCxnSpPr/>
          <p:nvPr/>
        </p:nvCxnSpPr>
        <p:spPr>
          <a:xfrm>
            <a:off x="2817720" y="4106880"/>
            <a:ext cx="650880" cy="26244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776" name="Connector 214"/>
          <p:cNvCxnSpPr/>
          <p:nvPr/>
        </p:nvCxnSpPr>
        <p:spPr>
          <a:xfrm>
            <a:off x="2904480" y="4089960"/>
            <a:ext cx="603360" cy="3585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sp>
        <p:nvSpPr>
          <p:cNvPr id="777" name="Oval 215"/>
          <p:cNvSpPr/>
          <p:nvPr/>
        </p:nvSpPr>
        <p:spPr>
          <a:xfrm>
            <a:off x="2944440" y="40417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8" name="Oval 216"/>
          <p:cNvSpPr/>
          <p:nvPr/>
        </p:nvSpPr>
        <p:spPr>
          <a:xfrm>
            <a:off x="3035160" y="404856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9" name="Oval 217"/>
          <p:cNvSpPr/>
          <p:nvPr/>
        </p:nvSpPr>
        <p:spPr>
          <a:xfrm>
            <a:off x="3123720" y="406944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0" name="Oval 218"/>
          <p:cNvSpPr/>
          <p:nvPr/>
        </p:nvSpPr>
        <p:spPr>
          <a:xfrm>
            <a:off x="3207960" y="410328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1" name="Oval 219"/>
          <p:cNvSpPr/>
          <p:nvPr/>
        </p:nvSpPr>
        <p:spPr>
          <a:xfrm>
            <a:off x="3286440" y="41497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2" name="Oval 220"/>
          <p:cNvSpPr/>
          <p:nvPr/>
        </p:nvSpPr>
        <p:spPr>
          <a:xfrm>
            <a:off x="3356640" y="420768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3" name="Oval 221"/>
          <p:cNvSpPr/>
          <p:nvPr/>
        </p:nvSpPr>
        <p:spPr>
          <a:xfrm>
            <a:off x="3417120" y="42757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4" name="Oval 222"/>
          <p:cNvSpPr/>
          <p:nvPr/>
        </p:nvSpPr>
        <p:spPr>
          <a:xfrm>
            <a:off x="3466440" y="435204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5" name="Oval 223"/>
          <p:cNvSpPr/>
          <p:nvPr/>
        </p:nvSpPr>
        <p:spPr>
          <a:xfrm>
            <a:off x="3503880" y="44352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6" name="Oval 224"/>
          <p:cNvSpPr/>
          <p:nvPr/>
        </p:nvSpPr>
        <p:spPr>
          <a:xfrm>
            <a:off x="3528000" y="452268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7" name="Oval 225"/>
          <p:cNvSpPr/>
          <p:nvPr/>
        </p:nvSpPr>
        <p:spPr>
          <a:xfrm>
            <a:off x="3538440" y="46134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8" name="Oval 226"/>
          <p:cNvSpPr/>
          <p:nvPr/>
        </p:nvSpPr>
        <p:spPr>
          <a:xfrm>
            <a:off x="3534840" y="47041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9" name="Oval 227"/>
          <p:cNvSpPr/>
          <p:nvPr/>
        </p:nvSpPr>
        <p:spPr>
          <a:xfrm>
            <a:off x="3517560" y="47934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0" name="Oval 228"/>
          <p:cNvSpPr/>
          <p:nvPr/>
        </p:nvSpPr>
        <p:spPr>
          <a:xfrm>
            <a:off x="3486600" y="487908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1" name="Oval 229"/>
          <p:cNvSpPr/>
          <p:nvPr/>
        </p:nvSpPr>
        <p:spPr>
          <a:xfrm>
            <a:off x="3443400" y="49590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2" name="Oval 230"/>
          <p:cNvSpPr/>
          <p:nvPr/>
        </p:nvSpPr>
        <p:spPr>
          <a:xfrm>
            <a:off x="3387960" y="503136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3" name="Oval 231"/>
          <p:cNvSpPr/>
          <p:nvPr/>
        </p:nvSpPr>
        <p:spPr>
          <a:xfrm>
            <a:off x="3322440" y="50947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4" name="Oval 232"/>
          <p:cNvSpPr/>
          <p:nvPr/>
        </p:nvSpPr>
        <p:spPr>
          <a:xfrm>
            <a:off x="3247920" y="51469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5" name="Oval 233"/>
          <p:cNvSpPr/>
          <p:nvPr/>
        </p:nvSpPr>
        <p:spPr>
          <a:xfrm>
            <a:off x="3166560" y="518724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6" name="Oval 234"/>
          <p:cNvSpPr/>
          <p:nvPr/>
        </p:nvSpPr>
        <p:spPr>
          <a:xfrm>
            <a:off x="3079800" y="52146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7" name="Oval 235"/>
          <p:cNvSpPr/>
          <p:nvPr/>
        </p:nvSpPr>
        <p:spPr>
          <a:xfrm>
            <a:off x="2989800" y="522864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8" name="Oval 236"/>
          <p:cNvSpPr/>
          <p:nvPr/>
        </p:nvSpPr>
        <p:spPr>
          <a:xfrm>
            <a:off x="2898720" y="522864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9" name="Oval 237"/>
          <p:cNvSpPr/>
          <p:nvPr/>
        </p:nvSpPr>
        <p:spPr>
          <a:xfrm>
            <a:off x="2809080" y="52146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0" name="Oval 238"/>
          <p:cNvSpPr/>
          <p:nvPr/>
        </p:nvSpPr>
        <p:spPr>
          <a:xfrm>
            <a:off x="2722320" y="518724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1" name="Oval 239"/>
          <p:cNvSpPr/>
          <p:nvPr/>
        </p:nvSpPr>
        <p:spPr>
          <a:xfrm>
            <a:off x="2640600" y="51469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2" name="Oval 240"/>
          <p:cNvSpPr/>
          <p:nvPr/>
        </p:nvSpPr>
        <p:spPr>
          <a:xfrm>
            <a:off x="2566080" y="50947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3" name="Oval 241"/>
          <p:cNvSpPr/>
          <p:nvPr/>
        </p:nvSpPr>
        <p:spPr>
          <a:xfrm>
            <a:off x="2500560" y="503136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4" name="Oval 242"/>
          <p:cNvSpPr/>
          <p:nvPr/>
        </p:nvSpPr>
        <p:spPr>
          <a:xfrm>
            <a:off x="2445480" y="49590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5" name="Oval 243"/>
          <p:cNvSpPr/>
          <p:nvPr/>
        </p:nvSpPr>
        <p:spPr>
          <a:xfrm>
            <a:off x="2401920" y="487908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6" name="Oval 244"/>
          <p:cNvSpPr/>
          <p:nvPr/>
        </p:nvSpPr>
        <p:spPr>
          <a:xfrm>
            <a:off x="2371320" y="47934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7" name="Oval 245"/>
          <p:cNvSpPr/>
          <p:nvPr/>
        </p:nvSpPr>
        <p:spPr>
          <a:xfrm>
            <a:off x="2354040" y="47041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8" name="Oval 246"/>
          <p:cNvSpPr/>
          <p:nvPr/>
        </p:nvSpPr>
        <p:spPr>
          <a:xfrm>
            <a:off x="2350440" y="46134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9" name="Oval 247"/>
          <p:cNvSpPr/>
          <p:nvPr/>
        </p:nvSpPr>
        <p:spPr>
          <a:xfrm>
            <a:off x="2360880" y="452268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0" name="Oval 248"/>
          <p:cNvSpPr/>
          <p:nvPr/>
        </p:nvSpPr>
        <p:spPr>
          <a:xfrm>
            <a:off x="2385000" y="44352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1" name="Oval 249"/>
          <p:cNvSpPr/>
          <p:nvPr/>
        </p:nvSpPr>
        <p:spPr>
          <a:xfrm>
            <a:off x="2422080" y="435204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2" name="Oval 250"/>
          <p:cNvSpPr/>
          <p:nvPr/>
        </p:nvSpPr>
        <p:spPr>
          <a:xfrm>
            <a:off x="2471760" y="42757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3" name="Oval 251"/>
          <p:cNvSpPr/>
          <p:nvPr/>
        </p:nvSpPr>
        <p:spPr>
          <a:xfrm>
            <a:off x="2532240" y="420768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4" name="Oval 252"/>
          <p:cNvSpPr/>
          <p:nvPr/>
        </p:nvSpPr>
        <p:spPr>
          <a:xfrm>
            <a:off x="2602440" y="41497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5" name="Oval 253"/>
          <p:cNvSpPr/>
          <p:nvPr/>
        </p:nvSpPr>
        <p:spPr>
          <a:xfrm>
            <a:off x="2680560" y="410328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6" name="Oval 254"/>
          <p:cNvSpPr/>
          <p:nvPr/>
        </p:nvSpPr>
        <p:spPr>
          <a:xfrm>
            <a:off x="2765160" y="406944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7" name="Oval 255"/>
          <p:cNvSpPr/>
          <p:nvPr/>
        </p:nvSpPr>
        <p:spPr>
          <a:xfrm>
            <a:off x="2853720" y="404856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8" name="TextBox 256"/>
          <p:cNvSpPr/>
          <p:nvPr/>
        </p:nvSpPr>
        <p:spPr>
          <a:xfrm>
            <a:off x="2194560" y="534924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R = 9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19" name="Connector 257"/>
          <p:cNvCxnSpPr/>
          <p:nvPr/>
        </p:nvCxnSpPr>
        <p:spPr>
          <a:xfrm>
            <a:off x="4553280" y="4070880"/>
            <a:ext cx="36720" cy="32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20" name="Connector 258"/>
          <p:cNvCxnSpPr/>
          <p:nvPr/>
        </p:nvCxnSpPr>
        <p:spPr>
          <a:xfrm>
            <a:off x="4643640" y="4082040"/>
            <a:ext cx="35280" cy="86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21" name="Connector 259"/>
          <p:cNvCxnSpPr/>
          <p:nvPr/>
        </p:nvCxnSpPr>
        <p:spPr>
          <a:xfrm>
            <a:off x="4730760" y="4106880"/>
            <a:ext cx="33840" cy="136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22" name="Connector 260"/>
          <p:cNvCxnSpPr/>
          <p:nvPr/>
        </p:nvCxnSpPr>
        <p:spPr>
          <a:xfrm>
            <a:off x="4813560" y="4144680"/>
            <a:ext cx="31320" cy="1872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23" name="Connector 261"/>
          <p:cNvCxnSpPr/>
          <p:nvPr/>
        </p:nvCxnSpPr>
        <p:spPr>
          <a:xfrm>
            <a:off x="4889160" y="4194720"/>
            <a:ext cx="28440" cy="230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24" name="Connector 262"/>
          <p:cNvCxnSpPr/>
          <p:nvPr/>
        </p:nvCxnSpPr>
        <p:spPr>
          <a:xfrm>
            <a:off x="4956480" y="4255560"/>
            <a:ext cx="24480" cy="273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25" name="Connector 263"/>
          <p:cNvCxnSpPr/>
          <p:nvPr/>
        </p:nvCxnSpPr>
        <p:spPr>
          <a:xfrm>
            <a:off x="5013720" y="4326120"/>
            <a:ext cx="20160" cy="306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26" name="Connector 264"/>
          <p:cNvCxnSpPr/>
          <p:nvPr/>
        </p:nvCxnSpPr>
        <p:spPr>
          <a:xfrm>
            <a:off x="5059440" y="4404240"/>
            <a:ext cx="15120" cy="334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27" name="Connector 265"/>
          <p:cNvCxnSpPr/>
          <p:nvPr/>
        </p:nvCxnSpPr>
        <p:spPr>
          <a:xfrm>
            <a:off x="5092920" y="4488840"/>
            <a:ext cx="9720" cy="352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28" name="Connector 266"/>
          <p:cNvCxnSpPr/>
          <p:nvPr/>
        </p:nvCxnSpPr>
        <p:spPr>
          <a:xfrm>
            <a:off x="5112720" y="4577400"/>
            <a:ext cx="4680" cy="363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29" name="Connector 267"/>
          <p:cNvCxnSpPr/>
          <p:nvPr/>
        </p:nvCxnSpPr>
        <p:spPr>
          <a:xfrm flipH="1">
            <a:off x="5117760" y="4667760"/>
            <a:ext cx="1440" cy="3672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30" name="Connector 268"/>
          <p:cNvCxnSpPr/>
          <p:nvPr/>
        </p:nvCxnSpPr>
        <p:spPr>
          <a:xfrm flipH="1">
            <a:off x="5104440" y="4758480"/>
            <a:ext cx="7200" cy="356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31" name="Connector 269"/>
          <p:cNvCxnSpPr/>
          <p:nvPr/>
        </p:nvCxnSpPr>
        <p:spPr>
          <a:xfrm flipH="1">
            <a:off x="5077800" y="4846680"/>
            <a:ext cx="12600" cy="342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32" name="Connector 270"/>
          <p:cNvCxnSpPr/>
          <p:nvPr/>
        </p:nvCxnSpPr>
        <p:spPr>
          <a:xfrm flipH="1">
            <a:off x="5038200" y="4930560"/>
            <a:ext cx="17640" cy="320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33" name="Connector 271"/>
          <p:cNvCxnSpPr/>
          <p:nvPr/>
        </p:nvCxnSpPr>
        <p:spPr>
          <a:xfrm flipH="1">
            <a:off x="4986360" y="5008320"/>
            <a:ext cx="22320" cy="288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34" name="Connector 272"/>
          <p:cNvCxnSpPr/>
          <p:nvPr/>
        </p:nvCxnSpPr>
        <p:spPr>
          <a:xfrm flipH="1">
            <a:off x="4924080" y="5077800"/>
            <a:ext cx="26280" cy="252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35" name="Connector 273"/>
          <p:cNvCxnSpPr/>
          <p:nvPr/>
        </p:nvCxnSpPr>
        <p:spPr>
          <a:xfrm flipH="1">
            <a:off x="4852440" y="5137560"/>
            <a:ext cx="29880" cy="212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36" name="Connector 274"/>
          <p:cNvCxnSpPr/>
          <p:nvPr/>
        </p:nvCxnSpPr>
        <p:spPr>
          <a:xfrm flipH="1">
            <a:off x="4772880" y="5186160"/>
            <a:ext cx="32760" cy="165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37" name="Connector 275"/>
          <p:cNvCxnSpPr/>
          <p:nvPr/>
        </p:nvCxnSpPr>
        <p:spPr>
          <a:xfrm flipH="1">
            <a:off x="4687560" y="5222880"/>
            <a:ext cx="34920" cy="111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38" name="Connector 276"/>
          <p:cNvCxnSpPr/>
          <p:nvPr/>
        </p:nvCxnSpPr>
        <p:spPr>
          <a:xfrm flipH="1">
            <a:off x="4598640" y="5246280"/>
            <a:ext cx="36000" cy="57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39" name="Connector 277"/>
          <p:cNvCxnSpPr/>
          <p:nvPr/>
        </p:nvCxnSpPr>
        <p:spPr>
          <a:xfrm flipH="1">
            <a:off x="4507920" y="5256000"/>
            <a:ext cx="36720" cy="3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40" name="Connector 278"/>
          <p:cNvCxnSpPr/>
          <p:nvPr/>
        </p:nvCxnSpPr>
        <p:spPr>
          <a:xfrm flipH="1" flipV="1">
            <a:off x="4417920" y="5246280"/>
            <a:ext cx="36000" cy="57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41" name="Connector 279"/>
          <p:cNvCxnSpPr/>
          <p:nvPr/>
        </p:nvCxnSpPr>
        <p:spPr>
          <a:xfrm flipH="1" flipV="1">
            <a:off x="4330080" y="5222880"/>
            <a:ext cx="34920" cy="111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42" name="Connector 280"/>
          <p:cNvCxnSpPr/>
          <p:nvPr/>
        </p:nvCxnSpPr>
        <p:spPr>
          <a:xfrm flipH="1" flipV="1">
            <a:off x="4246920" y="5186160"/>
            <a:ext cx="32760" cy="165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43" name="Connector 281"/>
          <p:cNvCxnSpPr/>
          <p:nvPr/>
        </p:nvCxnSpPr>
        <p:spPr>
          <a:xfrm flipH="1" flipV="1">
            <a:off x="4170240" y="5137560"/>
            <a:ext cx="29880" cy="212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44" name="Connector 282"/>
          <p:cNvCxnSpPr/>
          <p:nvPr/>
        </p:nvCxnSpPr>
        <p:spPr>
          <a:xfrm flipH="1" flipV="1">
            <a:off x="4102200" y="5077800"/>
            <a:ext cx="26280" cy="252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45" name="Connector 283"/>
          <p:cNvCxnSpPr/>
          <p:nvPr/>
        </p:nvCxnSpPr>
        <p:spPr>
          <a:xfrm flipH="1" flipV="1">
            <a:off x="4043880" y="5008320"/>
            <a:ext cx="22320" cy="288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46" name="Connector 284"/>
          <p:cNvCxnSpPr/>
          <p:nvPr/>
        </p:nvCxnSpPr>
        <p:spPr>
          <a:xfrm flipH="1" flipV="1">
            <a:off x="3996720" y="4930560"/>
            <a:ext cx="17640" cy="320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47" name="Connector 285"/>
          <p:cNvCxnSpPr/>
          <p:nvPr/>
        </p:nvCxnSpPr>
        <p:spPr>
          <a:xfrm flipH="1" flipV="1">
            <a:off x="3962160" y="4846680"/>
            <a:ext cx="12600" cy="342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48" name="Connector 286"/>
          <p:cNvCxnSpPr/>
          <p:nvPr/>
        </p:nvCxnSpPr>
        <p:spPr>
          <a:xfrm flipH="1" flipV="1">
            <a:off x="3940920" y="4758480"/>
            <a:ext cx="7200" cy="356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49" name="Connector 287"/>
          <p:cNvCxnSpPr/>
          <p:nvPr/>
        </p:nvCxnSpPr>
        <p:spPr>
          <a:xfrm flipH="1" flipV="1">
            <a:off x="3933360" y="4667760"/>
            <a:ext cx="1440" cy="3672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50" name="Connector 288"/>
          <p:cNvCxnSpPr/>
          <p:nvPr/>
        </p:nvCxnSpPr>
        <p:spPr>
          <a:xfrm flipV="1">
            <a:off x="3935160" y="4577400"/>
            <a:ext cx="4680" cy="363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51" name="Connector 289"/>
          <p:cNvCxnSpPr/>
          <p:nvPr/>
        </p:nvCxnSpPr>
        <p:spPr>
          <a:xfrm flipV="1">
            <a:off x="3949920" y="4488840"/>
            <a:ext cx="9720" cy="352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52" name="Connector 290"/>
          <p:cNvCxnSpPr/>
          <p:nvPr/>
        </p:nvCxnSpPr>
        <p:spPr>
          <a:xfrm flipV="1">
            <a:off x="3978000" y="4404240"/>
            <a:ext cx="15120" cy="334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53" name="Connector 291"/>
          <p:cNvCxnSpPr/>
          <p:nvPr/>
        </p:nvCxnSpPr>
        <p:spPr>
          <a:xfrm flipV="1">
            <a:off x="4018680" y="4326120"/>
            <a:ext cx="20160" cy="3060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54" name="Connector 292"/>
          <p:cNvCxnSpPr/>
          <p:nvPr/>
        </p:nvCxnSpPr>
        <p:spPr>
          <a:xfrm flipV="1">
            <a:off x="4071600" y="4255560"/>
            <a:ext cx="24480" cy="2736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55" name="Connector 293"/>
          <p:cNvCxnSpPr/>
          <p:nvPr/>
        </p:nvCxnSpPr>
        <p:spPr>
          <a:xfrm flipV="1">
            <a:off x="4134960" y="4194720"/>
            <a:ext cx="28440" cy="230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56" name="Connector 294"/>
          <p:cNvCxnSpPr/>
          <p:nvPr/>
        </p:nvCxnSpPr>
        <p:spPr>
          <a:xfrm flipV="1">
            <a:off x="4207680" y="4144680"/>
            <a:ext cx="31320" cy="1872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57" name="Connector 295"/>
          <p:cNvCxnSpPr/>
          <p:nvPr/>
        </p:nvCxnSpPr>
        <p:spPr>
          <a:xfrm flipV="1">
            <a:off x="4287960" y="4106880"/>
            <a:ext cx="33840" cy="1368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58" name="Connector 296"/>
          <p:cNvCxnSpPr/>
          <p:nvPr/>
        </p:nvCxnSpPr>
        <p:spPr>
          <a:xfrm flipV="1">
            <a:off x="4373640" y="4082040"/>
            <a:ext cx="35280" cy="86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59" name="Connector 297"/>
          <p:cNvCxnSpPr/>
          <p:nvPr/>
        </p:nvCxnSpPr>
        <p:spPr>
          <a:xfrm flipV="1">
            <a:off x="4462560" y="4070880"/>
            <a:ext cx="36720" cy="3240"/>
          </a:xfrm>
          <a:prstGeom prst="straightConnector1">
            <a:avLst/>
          </a:prstGeom>
          <a:ln w="9525">
            <a:solidFill>
              <a:srgbClr val="b6c1d1"/>
            </a:solidFill>
            <a:round/>
          </a:ln>
        </p:spPr>
      </p:cxnSp>
      <p:cxnSp>
        <p:nvCxnSpPr>
          <p:cNvPr id="860" name="Connector 298"/>
          <p:cNvCxnSpPr/>
          <p:nvPr/>
        </p:nvCxnSpPr>
        <p:spPr>
          <a:xfrm>
            <a:off x="4535280" y="4094640"/>
            <a:ext cx="360000" cy="10018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61" name="Connector 299"/>
          <p:cNvCxnSpPr/>
          <p:nvPr/>
        </p:nvCxnSpPr>
        <p:spPr>
          <a:xfrm>
            <a:off x="4622040" y="4102920"/>
            <a:ext cx="203040" cy="10447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62" name="Connector 300"/>
          <p:cNvCxnSpPr/>
          <p:nvPr/>
        </p:nvCxnSpPr>
        <p:spPr>
          <a:xfrm>
            <a:off x="4706640" y="4124160"/>
            <a:ext cx="41040" cy="106344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63" name="Connector 301"/>
          <p:cNvCxnSpPr/>
          <p:nvPr/>
        </p:nvCxnSpPr>
        <p:spPr>
          <a:xfrm flipH="1">
            <a:off x="4664520" y="4158000"/>
            <a:ext cx="122400" cy="10569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64" name="Connector 302"/>
          <p:cNvCxnSpPr/>
          <p:nvPr/>
        </p:nvCxnSpPr>
        <p:spPr>
          <a:xfrm flipH="1">
            <a:off x="4578840" y="4203720"/>
            <a:ext cx="282240" cy="10260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65" name="Connector 303"/>
          <p:cNvCxnSpPr/>
          <p:nvPr/>
        </p:nvCxnSpPr>
        <p:spPr>
          <a:xfrm flipH="1">
            <a:off x="4491720" y="4259880"/>
            <a:ext cx="435600" cy="9712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66" name="Connector 304"/>
          <p:cNvCxnSpPr/>
          <p:nvPr/>
        </p:nvCxnSpPr>
        <p:spPr>
          <a:xfrm flipH="1">
            <a:off x="4405680" y="4326120"/>
            <a:ext cx="578520" cy="8931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67" name="Connector 305"/>
          <p:cNvCxnSpPr/>
          <p:nvPr/>
        </p:nvCxnSpPr>
        <p:spPr>
          <a:xfrm flipH="1">
            <a:off x="4322160" y="4399920"/>
            <a:ext cx="708120" cy="7945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68" name="Connector 306"/>
          <p:cNvCxnSpPr/>
          <p:nvPr/>
        </p:nvCxnSpPr>
        <p:spPr>
          <a:xfrm flipH="1">
            <a:off x="4243680" y="4479840"/>
            <a:ext cx="821160" cy="6771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69" name="Connector 307"/>
          <p:cNvCxnSpPr/>
          <p:nvPr/>
        </p:nvCxnSpPr>
        <p:spPr>
          <a:xfrm flipH="1">
            <a:off x="4171680" y="4564080"/>
            <a:ext cx="914760" cy="5439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70" name="Connector 308"/>
          <p:cNvCxnSpPr/>
          <p:nvPr/>
        </p:nvCxnSpPr>
        <p:spPr>
          <a:xfrm flipH="1">
            <a:off x="4107960" y="4650840"/>
            <a:ext cx="987120" cy="3978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71" name="Connector 309"/>
          <p:cNvCxnSpPr/>
          <p:nvPr/>
        </p:nvCxnSpPr>
        <p:spPr>
          <a:xfrm flipH="1">
            <a:off x="4053960" y="4737600"/>
            <a:ext cx="1036080" cy="2430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72" name="Connector 310"/>
          <p:cNvCxnSpPr/>
          <p:nvPr/>
        </p:nvCxnSpPr>
        <p:spPr>
          <a:xfrm flipH="1">
            <a:off x="4011120" y="4822920"/>
            <a:ext cx="1061280" cy="817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73" name="Connector 311"/>
          <p:cNvCxnSpPr/>
          <p:nvPr/>
        </p:nvCxnSpPr>
        <p:spPr>
          <a:xfrm flipH="1" flipV="1">
            <a:off x="3980160" y="4822920"/>
            <a:ext cx="1061280" cy="817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74" name="Connector 312"/>
          <p:cNvCxnSpPr/>
          <p:nvPr/>
        </p:nvCxnSpPr>
        <p:spPr>
          <a:xfrm flipH="1" flipV="1">
            <a:off x="3962520" y="4737600"/>
            <a:ext cx="1036080" cy="2430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75" name="Connector 313"/>
          <p:cNvCxnSpPr/>
          <p:nvPr/>
        </p:nvCxnSpPr>
        <p:spPr>
          <a:xfrm flipH="1" flipV="1">
            <a:off x="3957480" y="4650840"/>
            <a:ext cx="987120" cy="3978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76" name="Connector 314"/>
          <p:cNvCxnSpPr/>
          <p:nvPr/>
        </p:nvCxnSpPr>
        <p:spPr>
          <a:xfrm flipH="1" flipV="1">
            <a:off x="3966120" y="4564080"/>
            <a:ext cx="914760" cy="5439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77" name="Connector 315"/>
          <p:cNvCxnSpPr/>
          <p:nvPr/>
        </p:nvCxnSpPr>
        <p:spPr>
          <a:xfrm flipH="1" flipV="1">
            <a:off x="3987720" y="4479840"/>
            <a:ext cx="821160" cy="6771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78" name="Connector 316"/>
          <p:cNvCxnSpPr/>
          <p:nvPr/>
        </p:nvCxnSpPr>
        <p:spPr>
          <a:xfrm flipH="1" flipV="1">
            <a:off x="4022280" y="4399920"/>
            <a:ext cx="708120" cy="7945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79" name="Connector 317"/>
          <p:cNvCxnSpPr/>
          <p:nvPr/>
        </p:nvCxnSpPr>
        <p:spPr>
          <a:xfrm flipH="1" flipV="1">
            <a:off x="4068360" y="4326120"/>
            <a:ext cx="578520" cy="8931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80" name="Connector 318"/>
          <p:cNvCxnSpPr/>
          <p:nvPr/>
        </p:nvCxnSpPr>
        <p:spPr>
          <a:xfrm flipH="1" flipV="1">
            <a:off x="4125240" y="4259880"/>
            <a:ext cx="435600" cy="9712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81" name="Connector 319"/>
          <p:cNvCxnSpPr/>
          <p:nvPr/>
        </p:nvCxnSpPr>
        <p:spPr>
          <a:xfrm flipH="1" flipV="1">
            <a:off x="4191480" y="4203720"/>
            <a:ext cx="282240" cy="10260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82" name="Connector 320"/>
          <p:cNvCxnSpPr/>
          <p:nvPr/>
        </p:nvCxnSpPr>
        <p:spPr>
          <a:xfrm flipH="1" flipV="1">
            <a:off x="4265640" y="4158000"/>
            <a:ext cx="122400" cy="10569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83" name="Connector 321"/>
          <p:cNvCxnSpPr/>
          <p:nvPr/>
        </p:nvCxnSpPr>
        <p:spPr>
          <a:xfrm flipV="1">
            <a:off x="4304880" y="4124160"/>
            <a:ext cx="41040" cy="106344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84" name="Connector 322"/>
          <p:cNvCxnSpPr/>
          <p:nvPr/>
        </p:nvCxnSpPr>
        <p:spPr>
          <a:xfrm flipV="1">
            <a:off x="4227480" y="4102920"/>
            <a:ext cx="203040" cy="10447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85" name="Connector 323"/>
          <p:cNvCxnSpPr/>
          <p:nvPr/>
        </p:nvCxnSpPr>
        <p:spPr>
          <a:xfrm flipV="1">
            <a:off x="4157280" y="4094640"/>
            <a:ext cx="360000" cy="10018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86" name="Connector 324"/>
          <p:cNvCxnSpPr/>
          <p:nvPr/>
        </p:nvCxnSpPr>
        <p:spPr>
          <a:xfrm flipV="1">
            <a:off x="4095360" y="4100040"/>
            <a:ext cx="508680" cy="9349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87" name="Connector 325"/>
          <p:cNvCxnSpPr/>
          <p:nvPr/>
        </p:nvCxnSpPr>
        <p:spPr>
          <a:xfrm flipV="1">
            <a:off x="4043880" y="4118400"/>
            <a:ext cx="645120" cy="8463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88" name="Connector 326"/>
          <p:cNvCxnSpPr/>
          <p:nvPr/>
        </p:nvCxnSpPr>
        <p:spPr>
          <a:xfrm flipV="1">
            <a:off x="4003560" y="4149720"/>
            <a:ext cx="766800" cy="7380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89" name="Connector 327"/>
          <p:cNvCxnSpPr/>
          <p:nvPr/>
        </p:nvCxnSpPr>
        <p:spPr>
          <a:xfrm flipV="1">
            <a:off x="3975480" y="4192920"/>
            <a:ext cx="870480" cy="6123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90" name="Connector 328"/>
          <p:cNvCxnSpPr/>
          <p:nvPr/>
        </p:nvCxnSpPr>
        <p:spPr>
          <a:xfrm flipV="1">
            <a:off x="3960360" y="4247280"/>
            <a:ext cx="953640" cy="4723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91" name="Connector 329"/>
          <p:cNvCxnSpPr/>
          <p:nvPr/>
        </p:nvCxnSpPr>
        <p:spPr>
          <a:xfrm flipV="1">
            <a:off x="3958200" y="4311360"/>
            <a:ext cx="1014840" cy="3211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92" name="Connector 330"/>
          <p:cNvCxnSpPr/>
          <p:nvPr/>
        </p:nvCxnSpPr>
        <p:spPr>
          <a:xfrm flipV="1">
            <a:off x="3969720" y="4383360"/>
            <a:ext cx="1051920" cy="1630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93" name="Connector 331"/>
          <p:cNvCxnSpPr/>
          <p:nvPr/>
        </p:nvCxnSpPr>
        <p:spPr>
          <a:xfrm>
            <a:off x="3994200" y="4462200"/>
            <a:ext cx="1064160" cy="3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94" name="Connector 332"/>
          <p:cNvCxnSpPr/>
          <p:nvPr/>
        </p:nvCxnSpPr>
        <p:spPr>
          <a:xfrm>
            <a:off x="4030920" y="4383360"/>
            <a:ext cx="1051920" cy="16308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95" name="Connector 333"/>
          <p:cNvCxnSpPr/>
          <p:nvPr/>
        </p:nvCxnSpPr>
        <p:spPr>
          <a:xfrm>
            <a:off x="4079520" y="4311360"/>
            <a:ext cx="1014840" cy="3211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96" name="Connector 334"/>
          <p:cNvCxnSpPr/>
          <p:nvPr/>
        </p:nvCxnSpPr>
        <p:spPr>
          <a:xfrm>
            <a:off x="4138560" y="4247280"/>
            <a:ext cx="953640" cy="4723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97" name="Connector 335"/>
          <p:cNvCxnSpPr/>
          <p:nvPr/>
        </p:nvCxnSpPr>
        <p:spPr>
          <a:xfrm>
            <a:off x="4206600" y="4192920"/>
            <a:ext cx="870480" cy="6123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98" name="Connector 336"/>
          <p:cNvCxnSpPr/>
          <p:nvPr/>
        </p:nvCxnSpPr>
        <p:spPr>
          <a:xfrm>
            <a:off x="4282200" y="4149720"/>
            <a:ext cx="766800" cy="73800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899" name="Connector 337"/>
          <p:cNvCxnSpPr/>
          <p:nvPr/>
        </p:nvCxnSpPr>
        <p:spPr>
          <a:xfrm>
            <a:off x="4363560" y="4118400"/>
            <a:ext cx="645120" cy="84636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cxnSp>
        <p:nvCxnSpPr>
          <p:cNvPr id="900" name="Connector 338"/>
          <p:cNvCxnSpPr/>
          <p:nvPr/>
        </p:nvCxnSpPr>
        <p:spPr>
          <a:xfrm>
            <a:off x="4448520" y="4100040"/>
            <a:ext cx="508680" cy="934920"/>
          </a:xfrm>
          <a:prstGeom prst="straightConnector1">
            <a:avLst/>
          </a:prstGeom>
          <a:ln w="9525">
            <a:solidFill>
              <a:srgbClr val="56b1b1"/>
            </a:solidFill>
            <a:round/>
          </a:ln>
        </p:spPr>
      </p:cxnSp>
      <p:sp>
        <p:nvSpPr>
          <p:cNvPr id="901" name="Oval 339"/>
          <p:cNvSpPr/>
          <p:nvPr/>
        </p:nvSpPr>
        <p:spPr>
          <a:xfrm>
            <a:off x="4498920" y="40417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2" name="Oval 340"/>
          <p:cNvSpPr/>
          <p:nvPr/>
        </p:nvSpPr>
        <p:spPr>
          <a:xfrm>
            <a:off x="4589640" y="404856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3" name="Oval 341"/>
          <p:cNvSpPr/>
          <p:nvPr/>
        </p:nvSpPr>
        <p:spPr>
          <a:xfrm>
            <a:off x="4678200" y="406944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4" name="Oval 342"/>
          <p:cNvSpPr/>
          <p:nvPr/>
        </p:nvSpPr>
        <p:spPr>
          <a:xfrm>
            <a:off x="4762440" y="410328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5" name="Oval 343"/>
          <p:cNvSpPr/>
          <p:nvPr/>
        </p:nvSpPr>
        <p:spPr>
          <a:xfrm>
            <a:off x="4840920" y="41497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6" name="Oval 344"/>
          <p:cNvSpPr/>
          <p:nvPr/>
        </p:nvSpPr>
        <p:spPr>
          <a:xfrm>
            <a:off x="4911120" y="420768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7" name="Oval 345"/>
          <p:cNvSpPr/>
          <p:nvPr/>
        </p:nvSpPr>
        <p:spPr>
          <a:xfrm>
            <a:off x="4971600" y="42757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8" name="Oval 346"/>
          <p:cNvSpPr/>
          <p:nvPr/>
        </p:nvSpPr>
        <p:spPr>
          <a:xfrm>
            <a:off x="5020920" y="435204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9" name="Oval 347"/>
          <p:cNvSpPr/>
          <p:nvPr/>
        </p:nvSpPr>
        <p:spPr>
          <a:xfrm>
            <a:off x="5058360" y="44352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0" name="Oval 348"/>
          <p:cNvSpPr/>
          <p:nvPr/>
        </p:nvSpPr>
        <p:spPr>
          <a:xfrm>
            <a:off x="5082480" y="452268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1" name="Oval 349"/>
          <p:cNvSpPr/>
          <p:nvPr/>
        </p:nvSpPr>
        <p:spPr>
          <a:xfrm>
            <a:off x="5092920" y="46134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2" name="Oval 350"/>
          <p:cNvSpPr/>
          <p:nvPr/>
        </p:nvSpPr>
        <p:spPr>
          <a:xfrm>
            <a:off x="5089320" y="47041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3" name="Oval 351"/>
          <p:cNvSpPr/>
          <p:nvPr/>
        </p:nvSpPr>
        <p:spPr>
          <a:xfrm>
            <a:off x="5072040" y="47934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4" name="Oval 352"/>
          <p:cNvSpPr/>
          <p:nvPr/>
        </p:nvSpPr>
        <p:spPr>
          <a:xfrm>
            <a:off x="5041080" y="487908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5" name="Oval 353"/>
          <p:cNvSpPr/>
          <p:nvPr/>
        </p:nvSpPr>
        <p:spPr>
          <a:xfrm>
            <a:off x="4997880" y="49590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6" name="Oval 354"/>
          <p:cNvSpPr/>
          <p:nvPr/>
        </p:nvSpPr>
        <p:spPr>
          <a:xfrm>
            <a:off x="4942440" y="503136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7" name="Oval 355"/>
          <p:cNvSpPr/>
          <p:nvPr/>
        </p:nvSpPr>
        <p:spPr>
          <a:xfrm>
            <a:off x="4876920" y="50947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8" name="Oval 356"/>
          <p:cNvSpPr/>
          <p:nvPr/>
        </p:nvSpPr>
        <p:spPr>
          <a:xfrm>
            <a:off x="4802400" y="51469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9" name="Oval 357"/>
          <p:cNvSpPr/>
          <p:nvPr/>
        </p:nvSpPr>
        <p:spPr>
          <a:xfrm>
            <a:off x="4721040" y="518724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0" name="Oval 358"/>
          <p:cNvSpPr/>
          <p:nvPr/>
        </p:nvSpPr>
        <p:spPr>
          <a:xfrm>
            <a:off x="4634280" y="52146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1" name="Oval 359"/>
          <p:cNvSpPr/>
          <p:nvPr/>
        </p:nvSpPr>
        <p:spPr>
          <a:xfrm>
            <a:off x="4544280" y="522864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2" name="Oval 360"/>
          <p:cNvSpPr/>
          <p:nvPr/>
        </p:nvSpPr>
        <p:spPr>
          <a:xfrm>
            <a:off x="4453200" y="522864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3" name="Oval 361"/>
          <p:cNvSpPr/>
          <p:nvPr/>
        </p:nvSpPr>
        <p:spPr>
          <a:xfrm>
            <a:off x="4363560" y="52146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4" name="Oval 362"/>
          <p:cNvSpPr/>
          <p:nvPr/>
        </p:nvSpPr>
        <p:spPr>
          <a:xfrm>
            <a:off x="4276800" y="518724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5" name="Oval 363"/>
          <p:cNvSpPr/>
          <p:nvPr/>
        </p:nvSpPr>
        <p:spPr>
          <a:xfrm>
            <a:off x="4195080" y="51469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6" name="Oval 364"/>
          <p:cNvSpPr/>
          <p:nvPr/>
        </p:nvSpPr>
        <p:spPr>
          <a:xfrm>
            <a:off x="4120560" y="50947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7" name="Oval 365"/>
          <p:cNvSpPr/>
          <p:nvPr/>
        </p:nvSpPr>
        <p:spPr>
          <a:xfrm>
            <a:off x="4055040" y="503136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8" name="Oval 366"/>
          <p:cNvSpPr/>
          <p:nvPr/>
        </p:nvSpPr>
        <p:spPr>
          <a:xfrm>
            <a:off x="3999960" y="49590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9" name="Oval 367"/>
          <p:cNvSpPr/>
          <p:nvPr/>
        </p:nvSpPr>
        <p:spPr>
          <a:xfrm>
            <a:off x="3956400" y="487908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0" name="Oval 368"/>
          <p:cNvSpPr/>
          <p:nvPr/>
        </p:nvSpPr>
        <p:spPr>
          <a:xfrm>
            <a:off x="3925800" y="47934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1" name="Oval 369"/>
          <p:cNvSpPr/>
          <p:nvPr/>
        </p:nvSpPr>
        <p:spPr>
          <a:xfrm>
            <a:off x="3908520" y="47041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2" name="Oval 370"/>
          <p:cNvSpPr/>
          <p:nvPr/>
        </p:nvSpPr>
        <p:spPr>
          <a:xfrm>
            <a:off x="3904920" y="46134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3" name="Oval 371"/>
          <p:cNvSpPr/>
          <p:nvPr/>
        </p:nvSpPr>
        <p:spPr>
          <a:xfrm>
            <a:off x="3915360" y="452268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4" name="Oval 372"/>
          <p:cNvSpPr/>
          <p:nvPr/>
        </p:nvSpPr>
        <p:spPr>
          <a:xfrm>
            <a:off x="3939480" y="443520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5" name="Oval 373"/>
          <p:cNvSpPr/>
          <p:nvPr/>
        </p:nvSpPr>
        <p:spPr>
          <a:xfrm>
            <a:off x="3976560" y="435204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6" name="Oval 374"/>
          <p:cNvSpPr/>
          <p:nvPr/>
        </p:nvSpPr>
        <p:spPr>
          <a:xfrm>
            <a:off x="4026240" y="42757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7" name="Oval 375"/>
          <p:cNvSpPr/>
          <p:nvPr/>
        </p:nvSpPr>
        <p:spPr>
          <a:xfrm>
            <a:off x="4086720" y="420768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8" name="Oval 376"/>
          <p:cNvSpPr/>
          <p:nvPr/>
        </p:nvSpPr>
        <p:spPr>
          <a:xfrm>
            <a:off x="4156920" y="414972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9" name="Oval 377"/>
          <p:cNvSpPr/>
          <p:nvPr/>
        </p:nvSpPr>
        <p:spPr>
          <a:xfrm>
            <a:off x="4235040" y="410328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0" name="Oval 378"/>
          <p:cNvSpPr/>
          <p:nvPr/>
        </p:nvSpPr>
        <p:spPr>
          <a:xfrm>
            <a:off x="4319640" y="406944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1" name="Oval 379"/>
          <p:cNvSpPr/>
          <p:nvPr/>
        </p:nvSpPr>
        <p:spPr>
          <a:xfrm>
            <a:off x="4408200" y="4048560"/>
            <a:ext cx="54360" cy="543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480" bIns="-64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2" name="TextBox 380"/>
          <p:cNvSpPr/>
          <p:nvPr/>
        </p:nvSpPr>
        <p:spPr>
          <a:xfrm>
            <a:off x="3749040" y="534924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R = 16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43" name="Connector 381"/>
          <p:cNvCxnSpPr/>
          <p:nvPr/>
        </p:nvCxnSpPr>
        <p:spPr>
          <a:xfrm>
            <a:off x="5394960" y="4663440"/>
            <a:ext cx="640440" cy="360"/>
          </a:xfrm>
          <a:prstGeom prst="straightConnector1">
            <a:avLst/>
          </a:prstGeom>
          <a:ln w="22225">
            <a:solidFill>
              <a:srgbClr val="e07a3f"/>
            </a:solidFill>
            <a:round/>
          </a:ln>
        </p:spPr>
      </p:cxnSp>
      <p:sp>
        <p:nvSpPr>
          <p:cNvPr id="944" name="Isosceles Triangle 382"/>
          <p:cNvSpPr/>
          <p:nvPr/>
        </p:nvSpPr>
        <p:spPr>
          <a:xfrm rot="5400000">
            <a:off x="5962320" y="459036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5" name="Rounded Rectangle 383"/>
          <p:cNvSpPr/>
          <p:nvPr/>
        </p:nvSpPr>
        <p:spPr>
          <a:xfrm>
            <a:off x="6126480" y="4343400"/>
            <a:ext cx="1737000" cy="639720"/>
          </a:xfrm>
          <a:prstGeom prst="roundRect">
            <a:avLst>
              <a:gd name="adj" fmla="val 15000"/>
            </a:avLst>
          </a:prstGeom>
          <a:solidFill>
            <a:srgbClr val="cfe9e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GCN или GIN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46" name="Connector 384"/>
          <p:cNvCxnSpPr/>
          <p:nvPr/>
        </p:nvCxnSpPr>
        <p:spPr>
          <a:xfrm>
            <a:off x="7954920" y="4663440"/>
            <a:ext cx="640800" cy="360"/>
          </a:xfrm>
          <a:prstGeom prst="straightConnector1">
            <a:avLst/>
          </a:prstGeom>
          <a:ln w="22225">
            <a:solidFill>
              <a:srgbClr val="e07a3f"/>
            </a:solidFill>
            <a:round/>
          </a:ln>
        </p:spPr>
      </p:cxnSp>
      <p:sp>
        <p:nvSpPr>
          <p:cNvPr id="947" name="Isosceles Triangle 385"/>
          <p:cNvSpPr/>
          <p:nvPr/>
        </p:nvSpPr>
        <p:spPr>
          <a:xfrm rot="5400000">
            <a:off x="8522640" y="459036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8" name="Rectangle 386"/>
          <p:cNvSpPr/>
          <p:nvPr/>
        </p:nvSpPr>
        <p:spPr>
          <a:xfrm>
            <a:off x="8732520" y="4480560"/>
            <a:ext cx="456840" cy="383760"/>
          </a:xfrm>
          <a:prstGeom prst="rect">
            <a:avLst/>
          </a:prstGeom>
          <a:solidFill>
            <a:srgbClr val="d4ebeb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9" name="Rectangle 387"/>
          <p:cNvSpPr/>
          <p:nvPr/>
        </p:nvSpPr>
        <p:spPr>
          <a:xfrm>
            <a:off x="9189720" y="4480560"/>
            <a:ext cx="456840" cy="383760"/>
          </a:xfrm>
          <a:prstGeom prst="rect">
            <a:avLst/>
          </a:prstGeom>
          <a:solidFill>
            <a:srgbClr val="f6d7c5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0" name="Rectangle 388"/>
          <p:cNvSpPr/>
          <p:nvPr/>
        </p:nvSpPr>
        <p:spPr>
          <a:xfrm>
            <a:off x="9646920" y="4480560"/>
            <a:ext cx="456840" cy="383760"/>
          </a:xfrm>
          <a:prstGeom prst="rect">
            <a:avLst/>
          </a:prstGeom>
          <a:solidFill>
            <a:srgbClr val="8bc9c9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1" name="Rectangle 389"/>
          <p:cNvSpPr/>
          <p:nvPr/>
        </p:nvSpPr>
        <p:spPr>
          <a:xfrm>
            <a:off x="10104120" y="4480560"/>
            <a:ext cx="456840" cy="383760"/>
          </a:xfrm>
          <a:prstGeom prst="rect">
            <a:avLst/>
          </a:prstGeom>
          <a:solidFill>
            <a:srgbClr val="f1f8f8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2" name="TextBox 390"/>
          <p:cNvSpPr/>
          <p:nvPr/>
        </p:nvSpPr>
        <p:spPr>
          <a:xfrm>
            <a:off x="8412480" y="498348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один и тот же вектор для всех 150 графов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55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956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СЛЕПЫЕ ЗОНЫ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Что ещё обычная GNN не видит?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9" name="TextBox 7"/>
          <p:cNvSpPr/>
          <p:nvPr/>
        </p:nvSpPr>
        <p:spPr>
          <a:xfrm>
            <a:off x="640080" y="1481400"/>
            <a:ext cx="566892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Связность: цикл из 6 вершин и два треугольника для неё одинаковы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Циклы: сколько треугольников в графе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499"/>
              </a:spcAft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      –   у случайных графов, где у каждой вершины 4 соседа, на 20 вершинах треугольников в среднем 5.3, разброс 2.1 — а GNN видит все такие графы одинаково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Для молекул это критично: свойства зависят от колец и их размеров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60" name="Connector 8"/>
          <p:cNvCxnSpPr/>
          <p:nvPr/>
        </p:nvCxnSpPr>
        <p:spPr>
          <a:xfrm flipH="1">
            <a:off x="6665040" y="2143800"/>
            <a:ext cx="888840" cy="144540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961" name="Connector 9"/>
          <p:cNvCxnSpPr/>
          <p:nvPr/>
        </p:nvCxnSpPr>
        <p:spPr>
          <a:xfrm>
            <a:off x="6738840" y="3721320"/>
            <a:ext cx="1792800" cy="36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962" name="Connector 10"/>
          <p:cNvCxnSpPr/>
          <p:nvPr/>
        </p:nvCxnSpPr>
        <p:spPr>
          <a:xfrm flipH="1" flipV="1">
            <a:off x="7716600" y="2143800"/>
            <a:ext cx="888840" cy="144540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963" name="Connector 11"/>
          <p:cNvCxnSpPr/>
          <p:nvPr/>
        </p:nvCxnSpPr>
        <p:spPr>
          <a:xfrm flipH="1">
            <a:off x="7239240" y="2803320"/>
            <a:ext cx="308160" cy="44820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964" name="Connector 12"/>
          <p:cNvCxnSpPr/>
          <p:nvPr/>
        </p:nvCxnSpPr>
        <p:spPr>
          <a:xfrm>
            <a:off x="7306920" y="3379320"/>
            <a:ext cx="656640" cy="36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965" name="Connector 13"/>
          <p:cNvCxnSpPr/>
          <p:nvPr/>
        </p:nvCxnSpPr>
        <p:spPr>
          <a:xfrm flipH="1" flipV="1">
            <a:off x="7723080" y="2803320"/>
            <a:ext cx="308160" cy="44820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966" name="Connector 14"/>
          <p:cNvCxnSpPr/>
          <p:nvPr/>
        </p:nvCxnSpPr>
        <p:spPr>
          <a:xfrm>
            <a:off x="7635240" y="2166840"/>
            <a:ext cx="360" cy="3535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967" name="Connector 15"/>
          <p:cNvCxnSpPr/>
          <p:nvPr/>
        </p:nvCxnSpPr>
        <p:spPr>
          <a:xfrm flipV="1">
            <a:off x="6716520" y="3459600"/>
            <a:ext cx="302040" cy="1821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968" name="Connector 16"/>
          <p:cNvCxnSpPr/>
          <p:nvPr/>
        </p:nvCxnSpPr>
        <p:spPr>
          <a:xfrm flipH="1" flipV="1">
            <a:off x="8251920" y="3459600"/>
            <a:ext cx="302040" cy="1821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969" name="Oval 17"/>
          <p:cNvSpPr/>
          <p:nvPr/>
        </p:nvSpPr>
        <p:spPr>
          <a:xfrm>
            <a:off x="7479720" y="185616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0" name="Oval 18"/>
          <p:cNvSpPr/>
          <p:nvPr/>
        </p:nvSpPr>
        <p:spPr>
          <a:xfrm>
            <a:off x="6428160" y="356616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1" name="Oval 19"/>
          <p:cNvSpPr/>
          <p:nvPr/>
        </p:nvSpPr>
        <p:spPr>
          <a:xfrm>
            <a:off x="8531280" y="356616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2" name="Oval 20"/>
          <p:cNvSpPr/>
          <p:nvPr/>
        </p:nvSpPr>
        <p:spPr>
          <a:xfrm>
            <a:off x="7479720" y="252000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3" name="Oval 21"/>
          <p:cNvSpPr/>
          <p:nvPr/>
        </p:nvSpPr>
        <p:spPr>
          <a:xfrm>
            <a:off x="6996240" y="322416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4" name="Oval 22"/>
          <p:cNvSpPr/>
          <p:nvPr/>
        </p:nvSpPr>
        <p:spPr>
          <a:xfrm>
            <a:off x="7963560" y="322416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975" name="Connector 23"/>
          <p:cNvCxnSpPr/>
          <p:nvPr/>
        </p:nvCxnSpPr>
        <p:spPr>
          <a:xfrm>
            <a:off x="9326880" y="2166840"/>
            <a:ext cx="360" cy="1701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976" name="Connector 24"/>
          <p:cNvCxnSpPr/>
          <p:nvPr/>
        </p:nvCxnSpPr>
        <p:spPr>
          <a:xfrm>
            <a:off x="9398880" y="2149200"/>
            <a:ext cx="907560" cy="17366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977" name="Connector 25"/>
          <p:cNvCxnSpPr/>
          <p:nvPr/>
        </p:nvCxnSpPr>
        <p:spPr>
          <a:xfrm>
            <a:off x="9439200" y="2118960"/>
            <a:ext cx="1878480" cy="17971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978" name="Connector 26"/>
          <p:cNvCxnSpPr/>
          <p:nvPr/>
        </p:nvCxnSpPr>
        <p:spPr>
          <a:xfrm flipH="1">
            <a:off x="9398880" y="2149200"/>
            <a:ext cx="907560" cy="17366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979" name="Connector 27"/>
          <p:cNvCxnSpPr/>
          <p:nvPr/>
        </p:nvCxnSpPr>
        <p:spPr>
          <a:xfrm>
            <a:off x="10378440" y="2166840"/>
            <a:ext cx="360" cy="1701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980" name="Connector 28"/>
          <p:cNvCxnSpPr/>
          <p:nvPr/>
        </p:nvCxnSpPr>
        <p:spPr>
          <a:xfrm>
            <a:off x="10450440" y="2149200"/>
            <a:ext cx="907560" cy="17366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981" name="Connector 29"/>
          <p:cNvCxnSpPr/>
          <p:nvPr/>
        </p:nvCxnSpPr>
        <p:spPr>
          <a:xfrm flipH="1">
            <a:off x="9439200" y="2118960"/>
            <a:ext cx="1878480" cy="17971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982" name="Connector 30"/>
          <p:cNvCxnSpPr/>
          <p:nvPr/>
        </p:nvCxnSpPr>
        <p:spPr>
          <a:xfrm flipH="1">
            <a:off x="10450440" y="2149200"/>
            <a:ext cx="907560" cy="17366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983" name="Connector 31"/>
          <p:cNvCxnSpPr/>
          <p:nvPr/>
        </p:nvCxnSpPr>
        <p:spPr>
          <a:xfrm>
            <a:off x="11430000" y="2166840"/>
            <a:ext cx="360" cy="1701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984" name="Oval 32"/>
          <p:cNvSpPr/>
          <p:nvPr/>
        </p:nvSpPr>
        <p:spPr>
          <a:xfrm>
            <a:off x="9171360" y="185616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5" name="Oval 33"/>
          <p:cNvSpPr/>
          <p:nvPr/>
        </p:nvSpPr>
        <p:spPr>
          <a:xfrm>
            <a:off x="10222920" y="185616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6" name="Oval 34"/>
          <p:cNvSpPr/>
          <p:nvPr/>
        </p:nvSpPr>
        <p:spPr>
          <a:xfrm>
            <a:off x="11274480" y="185616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7" name="Oval 35"/>
          <p:cNvSpPr/>
          <p:nvPr/>
        </p:nvSpPr>
        <p:spPr>
          <a:xfrm>
            <a:off x="9171360" y="386784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8" name="Oval 36"/>
          <p:cNvSpPr/>
          <p:nvPr/>
        </p:nvSpPr>
        <p:spPr>
          <a:xfrm>
            <a:off x="10222920" y="386784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9" name="Oval 37"/>
          <p:cNvSpPr/>
          <p:nvPr/>
        </p:nvSpPr>
        <p:spPr>
          <a:xfrm>
            <a:off x="11274480" y="386784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0" name="TextBox 38"/>
          <p:cNvSpPr/>
          <p:nvPr/>
        </p:nvSpPr>
        <p:spPr>
          <a:xfrm>
            <a:off x="6446520" y="425196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2 треугольника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TextBox 39"/>
          <p:cNvSpPr/>
          <p:nvPr/>
        </p:nvSpPr>
        <p:spPr>
          <a:xfrm>
            <a:off x="9189720" y="425196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ни одного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TextBox 40"/>
          <p:cNvSpPr/>
          <p:nvPr/>
        </p:nvSpPr>
        <p:spPr>
          <a:xfrm>
            <a:off x="6492240" y="47548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У каждой вершины обоих графов по 3 соседа, вершин по 6 — для WL и для GNN графы одинаковы. Треугольники слева подсвечены.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4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15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95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996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ОПЫТ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А на реальных молекулах?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99" name="Picture 7" descr="l04_nci1.png"/>
          <p:cNvPicPr/>
          <p:nvPr/>
        </p:nvPicPr>
        <p:blipFill>
          <a:blip r:embed="rId1"/>
          <a:stretch/>
        </p:blipFill>
        <p:spPr>
          <a:xfrm>
            <a:off x="2989440" y="1481400"/>
            <a:ext cx="6212160" cy="301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0" name="TextBox 8"/>
          <p:cNvSpPr/>
          <p:nvPr/>
        </p:nvSpPr>
        <p:spPr>
          <a:xfrm>
            <a:off x="640080" y="472752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NCI1, 4110 молекул, одни и те же 5 фолдов. GIN лучше GCN на 6 пунктов — сумма вместо нормированного среднего. Но классический WL-kernel всё ещё впереди: более выразительная сеть не гарантирует победу над сильным baseline.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16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03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004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ПРОВЕРЬ СЕБЯ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Вопрос аудитории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7" name="TextBox 7"/>
          <p:cNvSpPr/>
          <p:nvPr/>
        </p:nvSpPr>
        <p:spPr>
          <a:xfrm>
            <a:off x="640080" y="1481400"/>
            <a:ext cx="1091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22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Два графа: цикл из 8 вершин и два цикла по 4 вершины. Какая модель их различит без дополнительных признаков?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Rounded Rectangle 8"/>
          <p:cNvSpPr/>
          <p:nvPr/>
        </p:nvSpPr>
        <p:spPr>
          <a:xfrm>
            <a:off x="640080" y="289872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9" name="TextBox 9"/>
          <p:cNvSpPr/>
          <p:nvPr/>
        </p:nvSpPr>
        <p:spPr>
          <a:xfrm>
            <a:off x="914400" y="30448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A.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GCN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Rounded Rectangle 10"/>
          <p:cNvSpPr/>
          <p:nvPr/>
        </p:nvSpPr>
        <p:spPr>
          <a:xfrm>
            <a:off x="640080" y="358452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1" name="TextBox 11"/>
          <p:cNvSpPr/>
          <p:nvPr/>
        </p:nvSpPr>
        <p:spPr>
          <a:xfrm>
            <a:off x="914400" y="37306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B.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GAT: внимание само найдёт разницу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Rounded Rectangle 12"/>
          <p:cNvSpPr/>
          <p:nvPr/>
        </p:nvSpPr>
        <p:spPr>
          <a:xfrm>
            <a:off x="640080" y="427032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3" name="TextBox 13"/>
          <p:cNvSpPr/>
          <p:nvPr/>
        </p:nvSpPr>
        <p:spPr>
          <a:xfrm>
            <a:off x="914400" y="44164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C.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GIN: он сильнее всех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Rounded Rectangle 14"/>
          <p:cNvSpPr/>
          <p:nvPr/>
        </p:nvSpPr>
        <p:spPr>
          <a:xfrm>
            <a:off x="640080" y="495612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5" name="TextBox 15"/>
          <p:cNvSpPr/>
          <p:nvPr/>
        </p:nvSpPr>
        <p:spPr>
          <a:xfrm>
            <a:off x="914400" y="51022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D.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Никакая обычная GNN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17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18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019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ОТВЕТ НА ВОПРОС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Разбор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2" name="TextBox 7"/>
          <p:cNvSpPr/>
          <p:nvPr/>
        </p:nvSpPr>
        <p:spPr>
          <a:xfrm>
            <a:off x="640080" y="1481400"/>
            <a:ext cx="109112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Два графа: цикл из 8 вершин и два цикла по 4 вершины. Какая модель их различит без дополнительных признаков?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Rounded Rectangle 8"/>
          <p:cNvSpPr/>
          <p:nvPr/>
        </p:nvSpPr>
        <p:spPr>
          <a:xfrm>
            <a:off x="640080" y="237744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4" name="TextBox 9"/>
          <p:cNvSpPr/>
          <p:nvPr/>
        </p:nvSpPr>
        <p:spPr>
          <a:xfrm>
            <a:off x="914400" y="248724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A.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GCN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5" name="Rounded Rectangle 10"/>
          <p:cNvSpPr/>
          <p:nvPr/>
        </p:nvSpPr>
        <p:spPr>
          <a:xfrm>
            <a:off x="640080" y="294444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6" name="TextBox 11"/>
          <p:cNvSpPr/>
          <p:nvPr/>
        </p:nvSpPr>
        <p:spPr>
          <a:xfrm>
            <a:off x="914400" y="305424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B.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GAT: внимание само найдёт разницу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Rounded Rectangle 12"/>
          <p:cNvSpPr/>
          <p:nvPr/>
        </p:nvSpPr>
        <p:spPr>
          <a:xfrm>
            <a:off x="640080" y="351144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8" name="TextBox 13"/>
          <p:cNvSpPr/>
          <p:nvPr/>
        </p:nvSpPr>
        <p:spPr>
          <a:xfrm>
            <a:off x="914400" y="36208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C.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GIN: он сильнее всех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Rounded Rectangle 14"/>
          <p:cNvSpPr/>
          <p:nvPr/>
        </p:nvSpPr>
        <p:spPr>
          <a:xfrm>
            <a:off x="640080" y="407808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cf0e6"/>
          </a:solidFill>
          <a:ln w="2540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0" name="TextBox 15"/>
          <p:cNvSpPr/>
          <p:nvPr/>
        </p:nvSpPr>
        <p:spPr>
          <a:xfrm>
            <a:off x="914400" y="4187880"/>
            <a:ext cx="8259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D.  </a:t>
            </a:r>
            <a:r>
              <a:rPr b="1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Никакая обычная GNN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1" name="TextBox 16"/>
          <p:cNvSpPr/>
          <p:nvPr/>
        </p:nvSpPr>
        <p:spPr>
          <a:xfrm>
            <a:off x="9174240" y="420624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✓ правильный ответ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Rounded Rectangle 17"/>
          <p:cNvSpPr/>
          <p:nvPr/>
        </p:nvSpPr>
        <p:spPr>
          <a:xfrm>
            <a:off x="640080" y="4782240"/>
            <a:ext cx="10911240" cy="1252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3" name="TextBox 18"/>
          <p:cNvSpPr/>
          <p:nvPr/>
        </p:nvSpPr>
        <p:spPr>
          <a:xfrm>
            <a:off x="960120" y="4992480"/>
            <a:ext cx="1027116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2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Почему: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 обоих графах у каждой вершины ровно два соседа, и WL красит все вершины одинаково. GIN равен WL по силе, GCN и GAT слабее — значит, не различит никто. Нужны дополнительные признаки структуры: об этом следующий блок.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5" name="TextBox 2"/>
          <p:cNvSpPr/>
          <p:nvPr/>
        </p:nvSpPr>
        <p:spPr>
          <a:xfrm>
            <a:off x="1280160" y="2743200"/>
            <a:ext cx="9600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Блок 2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TextBox 3"/>
          <p:cNvSpPr/>
          <p:nvPr/>
        </p:nvSpPr>
        <p:spPr>
          <a:xfrm>
            <a:off x="1280160" y="384048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b9c6d8"/>
                </a:solidFill>
                <a:effectLst/>
                <a:uFillTx/>
                <a:latin typeface="Arial"/>
              </a:rPr>
              <a:t>Как дать GNN больше силы?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19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3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040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КОДИРОВКИ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1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Идея: подсказать вершине, где она находится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2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3" name="TextBox 7"/>
          <p:cNvSpPr/>
          <p:nvPr/>
        </p:nvSpPr>
        <p:spPr>
          <a:xfrm>
            <a:off x="640080" y="1481400"/>
            <a:ext cx="585180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Обычная GNN видит только признаки и соседей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Добавим каждой вершине вектор, описывающий структуру вокруг неё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499"/>
              </a:spcAft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      –   структурные кодировки: как часто блуждание возвращается, сколько треугольников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499"/>
              </a:spcAft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      –   позиционные: «координаты» вершины в графе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Кодировку приклеиваем к признакам на входе — сама сеть не меняется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44" name="Connector 8"/>
          <p:cNvCxnSpPr/>
          <p:nvPr/>
        </p:nvCxnSpPr>
        <p:spPr>
          <a:xfrm flipH="1" flipV="1">
            <a:off x="7340400" y="2159640"/>
            <a:ext cx="525600" cy="4446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45" name="Connector 9"/>
          <p:cNvCxnSpPr/>
          <p:nvPr/>
        </p:nvCxnSpPr>
        <p:spPr>
          <a:xfrm flipV="1">
            <a:off x="8180640" y="2149560"/>
            <a:ext cx="628200" cy="4651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46" name="Connector 10"/>
          <p:cNvCxnSpPr/>
          <p:nvPr/>
        </p:nvCxnSpPr>
        <p:spPr>
          <a:xfrm flipH="1">
            <a:off x="7430400" y="2891880"/>
            <a:ext cx="464400" cy="5896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47" name="Connector 11"/>
          <p:cNvCxnSpPr/>
          <p:nvPr/>
        </p:nvCxnSpPr>
        <p:spPr>
          <a:xfrm>
            <a:off x="7201800" y="2230560"/>
            <a:ext cx="89640" cy="12081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48" name="Connector 12"/>
          <p:cNvCxnSpPr/>
          <p:nvPr/>
        </p:nvCxnSpPr>
        <p:spPr>
          <a:xfrm>
            <a:off x="8970120" y="2230920"/>
            <a:ext cx="360" cy="11070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049" name="Oval 13"/>
          <p:cNvSpPr/>
          <p:nvPr/>
        </p:nvSpPr>
        <p:spPr>
          <a:xfrm>
            <a:off x="7818120" y="2532960"/>
            <a:ext cx="402120" cy="40212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0" name="Oval 14"/>
          <p:cNvSpPr/>
          <p:nvPr/>
        </p:nvSpPr>
        <p:spPr>
          <a:xfrm>
            <a:off x="6986160" y="182880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1" name="Oval 15"/>
          <p:cNvSpPr/>
          <p:nvPr/>
        </p:nvSpPr>
        <p:spPr>
          <a:xfrm>
            <a:off x="8769240" y="182880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2" name="Oval 16"/>
          <p:cNvSpPr/>
          <p:nvPr/>
        </p:nvSpPr>
        <p:spPr>
          <a:xfrm>
            <a:off x="7104960" y="343800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3" name="Oval 17"/>
          <p:cNvSpPr/>
          <p:nvPr/>
        </p:nvSpPr>
        <p:spPr>
          <a:xfrm>
            <a:off x="8769240" y="333756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4" name="TextBox 18"/>
          <p:cNvSpPr/>
          <p:nvPr/>
        </p:nvSpPr>
        <p:spPr>
          <a:xfrm>
            <a:off x="6583680" y="420624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признаки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5" name="Rectangle 19"/>
          <p:cNvSpPr/>
          <p:nvPr/>
        </p:nvSpPr>
        <p:spPr>
          <a:xfrm>
            <a:off x="6949440" y="4572000"/>
            <a:ext cx="383760" cy="347040"/>
          </a:xfrm>
          <a:prstGeom prst="rect">
            <a:avLst/>
          </a:prstGeom>
          <a:solidFill>
            <a:srgbClr val="a8d7d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6" name="Rectangle 20"/>
          <p:cNvSpPr/>
          <p:nvPr/>
        </p:nvSpPr>
        <p:spPr>
          <a:xfrm>
            <a:off x="7333560" y="4572000"/>
            <a:ext cx="383760" cy="347040"/>
          </a:xfrm>
          <a:prstGeom prst="rect">
            <a:avLst/>
          </a:prstGeom>
          <a:solidFill>
            <a:srgbClr val="f9e7d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7" name="Rectangle 21"/>
          <p:cNvSpPr/>
          <p:nvPr/>
        </p:nvSpPr>
        <p:spPr>
          <a:xfrm>
            <a:off x="7717680" y="4572000"/>
            <a:ext cx="383760" cy="347040"/>
          </a:xfrm>
          <a:prstGeom prst="rect">
            <a:avLst/>
          </a:prstGeom>
          <a:solidFill>
            <a:srgbClr val="e2f2f2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8" name="TextBox 22"/>
          <p:cNvSpPr/>
          <p:nvPr/>
        </p:nvSpPr>
        <p:spPr>
          <a:xfrm>
            <a:off x="8183880" y="4553640"/>
            <a:ext cx="365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+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9" name="TextBox 23"/>
          <p:cNvSpPr/>
          <p:nvPr/>
        </p:nvSpPr>
        <p:spPr>
          <a:xfrm>
            <a:off x="8503920" y="420624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кодировка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0" name="Rectangle 24"/>
          <p:cNvSpPr/>
          <p:nvPr/>
        </p:nvSpPr>
        <p:spPr>
          <a:xfrm>
            <a:off x="8686800" y="4572000"/>
            <a:ext cx="383760" cy="347040"/>
          </a:xfrm>
          <a:prstGeom prst="rect">
            <a:avLst/>
          </a:prstGeom>
          <a:solidFill>
            <a:srgbClr val="c5e4e4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1" name="Rectangle 25"/>
          <p:cNvSpPr/>
          <p:nvPr/>
        </p:nvSpPr>
        <p:spPr>
          <a:xfrm>
            <a:off x="9070920" y="4572000"/>
            <a:ext cx="383760" cy="347040"/>
          </a:xfrm>
          <a:prstGeom prst="rect">
            <a:avLst/>
          </a:prstGeom>
          <a:solidFill>
            <a:srgbClr val="7dc3c3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2" name="Rectangle 26"/>
          <p:cNvSpPr/>
          <p:nvPr/>
        </p:nvSpPr>
        <p:spPr>
          <a:xfrm>
            <a:off x="9455040" y="4572000"/>
            <a:ext cx="383760" cy="347040"/>
          </a:xfrm>
          <a:prstGeom prst="rect">
            <a:avLst/>
          </a:prstGeom>
          <a:solidFill>
            <a:srgbClr val="f1f8f8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3" name="Rectangle 27"/>
          <p:cNvSpPr/>
          <p:nvPr/>
        </p:nvSpPr>
        <p:spPr>
          <a:xfrm>
            <a:off x="8650080" y="4535280"/>
            <a:ext cx="1225080" cy="420120"/>
          </a:xfrm>
          <a:prstGeom prst="rect">
            <a:avLst/>
          </a:prstGeom>
          <a:noFill/>
          <a:ln w="2540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064" name="Connector 28"/>
          <p:cNvCxnSpPr/>
          <p:nvPr/>
        </p:nvCxnSpPr>
        <p:spPr>
          <a:xfrm>
            <a:off x="10012680" y="4745520"/>
            <a:ext cx="366120" cy="360"/>
          </a:xfrm>
          <a:prstGeom prst="straightConnector1">
            <a:avLst/>
          </a:prstGeom>
          <a:ln w="22225">
            <a:solidFill>
              <a:srgbClr val="e07a3f"/>
            </a:solidFill>
            <a:round/>
          </a:ln>
        </p:spPr>
      </p:cxnSp>
      <p:sp>
        <p:nvSpPr>
          <p:cNvPr id="1065" name="Isosceles Triangle 29"/>
          <p:cNvSpPr/>
          <p:nvPr/>
        </p:nvSpPr>
        <p:spPr>
          <a:xfrm rot="5400000">
            <a:off x="10305720" y="467244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6" name="TextBox 30"/>
          <p:cNvSpPr/>
          <p:nvPr/>
        </p:nvSpPr>
        <p:spPr>
          <a:xfrm>
            <a:off x="10515600" y="459036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в GNN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20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6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070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DWIVEDI ET AL., 2022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1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RWSE: как часто блуждание возвращается домой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2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3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1074" name="Connector 8"/>
          <p:cNvCxnSpPr/>
          <p:nvPr/>
        </p:nvCxnSpPr>
        <p:spPr>
          <a:xfrm>
            <a:off x="1659960" y="2080440"/>
            <a:ext cx="422280" cy="6397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75" name="Connector 9"/>
          <p:cNvCxnSpPr/>
          <p:nvPr/>
        </p:nvCxnSpPr>
        <p:spPr>
          <a:xfrm flipH="1">
            <a:off x="1112760" y="2880360"/>
            <a:ext cx="88344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76" name="Connector 10"/>
          <p:cNvCxnSpPr/>
          <p:nvPr/>
        </p:nvCxnSpPr>
        <p:spPr>
          <a:xfrm flipV="1">
            <a:off x="1026720" y="2080440"/>
            <a:ext cx="422280" cy="6397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077" name="Oval 11"/>
          <p:cNvSpPr/>
          <p:nvPr/>
        </p:nvSpPr>
        <p:spPr>
          <a:xfrm>
            <a:off x="1362600" y="1728360"/>
            <a:ext cx="383760" cy="38376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8" name="Oval 12"/>
          <p:cNvSpPr/>
          <p:nvPr/>
        </p:nvSpPr>
        <p:spPr>
          <a:xfrm>
            <a:off x="1995840" y="2688480"/>
            <a:ext cx="383760" cy="3837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9" name="Oval 13"/>
          <p:cNvSpPr/>
          <p:nvPr/>
        </p:nvSpPr>
        <p:spPr>
          <a:xfrm>
            <a:off x="729000" y="2688480"/>
            <a:ext cx="383760" cy="3837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080" name="Connector 14"/>
          <p:cNvCxnSpPr/>
          <p:nvPr/>
        </p:nvCxnSpPr>
        <p:spPr>
          <a:xfrm>
            <a:off x="1700640" y="3686760"/>
            <a:ext cx="420120" cy="2160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81" name="Connector 15"/>
          <p:cNvCxnSpPr/>
          <p:nvPr/>
        </p:nvCxnSpPr>
        <p:spPr>
          <a:xfrm>
            <a:off x="2266920" y="4142160"/>
            <a:ext cx="360" cy="4024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82" name="Connector 16"/>
          <p:cNvCxnSpPr/>
          <p:nvPr/>
        </p:nvCxnSpPr>
        <p:spPr>
          <a:xfrm flipH="1">
            <a:off x="1700640" y="4784040"/>
            <a:ext cx="420120" cy="2160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83" name="Connector 17"/>
          <p:cNvCxnSpPr/>
          <p:nvPr/>
        </p:nvCxnSpPr>
        <p:spPr>
          <a:xfrm flipH="1" flipV="1">
            <a:off x="988200" y="4784040"/>
            <a:ext cx="420120" cy="2160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84" name="Connector 18"/>
          <p:cNvCxnSpPr/>
          <p:nvPr/>
        </p:nvCxnSpPr>
        <p:spPr>
          <a:xfrm flipV="1">
            <a:off x="841680" y="4142160"/>
            <a:ext cx="360" cy="4024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85" name="Connector 19"/>
          <p:cNvCxnSpPr/>
          <p:nvPr/>
        </p:nvCxnSpPr>
        <p:spPr>
          <a:xfrm flipV="1">
            <a:off x="988200" y="3686760"/>
            <a:ext cx="420120" cy="2160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086" name="Oval 20"/>
          <p:cNvSpPr/>
          <p:nvPr/>
        </p:nvSpPr>
        <p:spPr>
          <a:xfrm>
            <a:off x="1389960" y="3447360"/>
            <a:ext cx="328680" cy="32868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7" name="Oval 21"/>
          <p:cNvSpPr/>
          <p:nvPr/>
        </p:nvSpPr>
        <p:spPr>
          <a:xfrm>
            <a:off x="2102760" y="381312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8" name="Oval 22"/>
          <p:cNvSpPr/>
          <p:nvPr/>
        </p:nvSpPr>
        <p:spPr>
          <a:xfrm>
            <a:off x="2102760" y="454464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9" name="Oval 23"/>
          <p:cNvSpPr/>
          <p:nvPr/>
        </p:nvSpPr>
        <p:spPr>
          <a:xfrm>
            <a:off x="1389960" y="491040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0" name="Oval 24"/>
          <p:cNvSpPr/>
          <p:nvPr/>
        </p:nvSpPr>
        <p:spPr>
          <a:xfrm>
            <a:off x="677160" y="454464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1" name="Oval 25"/>
          <p:cNvSpPr/>
          <p:nvPr/>
        </p:nvSpPr>
        <p:spPr>
          <a:xfrm>
            <a:off x="677160" y="381312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2" name="TextBox 26"/>
          <p:cNvSpPr/>
          <p:nvPr/>
        </p:nvSpPr>
        <p:spPr>
          <a:xfrm>
            <a:off x="3108960" y="16002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вероятность вернуться в v ровно за k шагов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3" name="TextBox 27"/>
          <p:cNvSpPr/>
          <p:nvPr/>
        </p:nvSpPr>
        <p:spPr>
          <a:xfrm>
            <a:off x="4480560" y="2103120"/>
            <a:ext cx="1051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k = 1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4" name="TextBox 28"/>
          <p:cNvSpPr/>
          <p:nvPr/>
        </p:nvSpPr>
        <p:spPr>
          <a:xfrm>
            <a:off x="5532120" y="2103120"/>
            <a:ext cx="1051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k = 2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5" name="TextBox 29"/>
          <p:cNvSpPr/>
          <p:nvPr/>
        </p:nvSpPr>
        <p:spPr>
          <a:xfrm>
            <a:off x="6583680" y="2103120"/>
            <a:ext cx="1051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k = 3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6" name="TextBox 30"/>
          <p:cNvSpPr/>
          <p:nvPr/>
        </p:nvSpPr>
        <p:spPr>
          <a:xfrm>
            <a:off x="7635240" y="2103120"/>
            <a:ext cx="1051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k = 4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7" name="TextBox 31"/>
          <p:cNvSpPr/>
          <p:nvPr/>
        </p:nvSpPr>
        <p:spPr>
          <a:xfrm>
            <a:off x="8686800" y="2103120"/>
            <a:ext cx="1051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k = 5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TextBox 32"/>
          <p:cNvSpPr/>
          <p:nvPr/>
        </p:nvSpPr>
        <p:spPr>
          <a:xfrm>
            <a:off x="9738360" y="2103120"/>
            <a:ext cx="1051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k = 6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9" name="TextBox 33"/>
          <p:cNvSpPr/>
          <p:nvPr/>
        </p:nvSpPr>
        <p:spPr>
          <a:xfrm>
            <a:off x="2743200" y="2377440"/>
            <a:ext cx="1608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треугольник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0" name="Rectangle 34"/>
          <p:cNvSpPr/>
          <p:nvPr/>
        </p:nvSpPr>
        <p:spPr>
          <a:xfrm>
            <a:off x="4480560" y="2377440"/>
            <a:ext cx="1051200" cy="566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0.000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Rectangle 35"/>
          <p:cNvSpPr/>
          <p:nvPr/>
        </p:nvSpPr>
        <p:spPr>
          <a:xfrm>
            <a:off x="5532120" y="2377440"/>
            <a:ext cx="1051200" cy="566640"/>
          </a:xfrm>
          <a:prstGeom prst="rect">
            <a:avLst/>
          </a:prstGeom>
          <a:solidFill>
            <a:srgbClr val="86c7c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0.500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2" name="Rectangle 36"/>
          <p:cNvSpPr/>
          <p:nvPr/>
        </p:nvSpPr>
        <p:spPr>
          <a:xfrm>
            <a:off x="6583680" y="2377440"/>
            <a:ext cx="1051200" cy="566640"/>
          </a:xfrm>
          <a:prstGeom prst="rect">
            <a:avLst/>
          </a:prstGeom>
          <a:solidFill>
            <a:srgbClr val="c3e3e3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0.250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3" name="Rectangle 37"/>
          <p:cNvSpPr/>
          <p:nvPr/>
        </p:nvSpPr>
        <p:spPr>
          <a:xfrm>
            <a:off x="7635240" y="2377440"/>
            <a:ext cx="1051200" cy="566640"/>
          </a:xfrm>
          <a:prstGeom prst="rect">
            <a:avLst/>
          </a:prstGeom>
          <a:solidFill>
            <a:srgbClr val="a5d5d5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0.375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4" name="Rectangle 38"/>
          <p:cNvSpPr/>
          <p:nvPr/>
        </p:nvSpPr>
        <p:spPr>
          <a:xfrm>
            <a:off x="8686800" y="2377440"/>
            <a:ext cx="1051200" cy="566640"/>
          </a:xfrm>
          <a:prstGeom prst="rect">
            <a:avLst/>
          </a:prstGeom>
          <a:solidFill>
            <a:srgbClr val="b4dcd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0.312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5" name="Rectangle 39"/>
          <p:cNvSpPr/>
          <p:nvPr/>
        </p:nvSpPr>
        <p:spPr>
          <a:xfrm>
            <a:off x="9738360" y="2377440"/>
            <a:ext cx="1051200" cy="566640"/>
          </a:xfrm>
          <a:prstGeom prst="rect">
            <a:avLst/>
          </a:prstGeom>
          <a:solidFill>
            <a:srgbClr val="acd8d8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0.344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6" name="TextBox 40"/>
          <p:cNvSpPr/>
          <p:nvPr/>
        </p:nvSpPr>
        <p:spPr>
          <a:xfrm>
            <a:off x="2743200" y="2944440"/>
            <a:ext cx="1608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шестиугольник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7" name="Rectangle 41"/>
          <p:cNvSpPr/>
          <p:nvPr/>
        </p:nvSpPr>
        <p:spPr>
          <a:xfrm>
            <a:off x="4480560" y="2944440"/>
            <a:ext cx="1051200" cy="566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0.000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8" name="Rectangle 42"/>
          <p:cNvSpPr/>
          <p:nvPr/>
        </p:nvSpPr>
        <p:spPr>
          <a:xfrm>
            <a:off x="5532120" y="2944440"/>
            <a:ext cx="1051200" cy="566640"/>
          </a:xfrm>
          <a:prstGeom prst="rect">
            <a:avLst/>
          </a:prstGeom>
          <a:solidFill>
            <a:srgbClr val="86c7c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0.500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9" name="Rectangle 43"/>
          <p:cNvSpPr/>
          <p:nvPr/>
        </p:nvSpPr>
        <p:spPr>
          <a:xfrm>
            <a:off x="6583680" y="2944440"/>
            <a:ext cx="1051200" cy="566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0.000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Rectangle 44"/>
          <p:cNvSpPr/>
          <p:nvPr/>
        </p:nvSpPr>
        <p:spPr>
          <a:xfrm>
            <a:off x="7635240" y="2944440"/>
            <a:ext cx="1051200" cy="566640"/>
          </a:xfrm>
          <a:prstGeom prst="rect">
            <a:avLst/>
          </a:prstGeom>
          <a:solidFill>
            <a:srgbClr val="a5d5d5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0.375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1" name="Rectangle 45"/>
          <p:cNvSpPr/>
          <p:nvPr/>
        </p:nvSpPr>
        <p:spPr>
          <a:xfrm>
            <a:off x="8686800" y="2944440"/>
            <a:ext cx="1051200" cy="566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0.000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2" name="Rectangle 46"/>
          <p:cNvSpPr/>
          <p:nvPr/>
        </p:nvSpPr>
        <p:spPr>
          <a:xfrm>
            <a:off x="9738360" y="2944440"/>
            <a:ext cx="1051200" cy="566640"/>
          </a:xfrm>
          <a:prstGeom prst="rect">
            <a:avLst/>
          </a:prstGeom>
          <a:solidFill>
            <a:srgbClr val="acd8d8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0.344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3" name="Rectangle 47"/>
          <p:cNvSpPr/>
          <p:nvPr/>
        </p:nvSpPr>
        <p:spPr>
          <a:xfrm>
            <a:off x="6546960" y="2340720"/>
            <a:ext cx="1124280" cy="1206720"/>
          </a:xfrm>
          <a:prstGeom prst="rect">
            <a:avLst/>
          </a:prstGeom>
          <a:noFill/>
          <a:ln w="3175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4" name="TextBox 48"/>
          <p:cNvSpPr/>
          <p:nvPr/>
        </p:nvSpPr>
        <p:spPr>
          <a:xfrm>
            <a:off x="3108960" y="3886200"/>
            <a:ext cx="841212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За 3 шага из треугольника вернуться можно (0.25), из шестиугольника — нет (0.0)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Вектор из таких вероятностей и есть RWSE: он видит циклы, которые не видит WL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Считается заранее: k умножений разреженной матрицы переходов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17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118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ПОЗИЦИОННЫЕ КОДИРОВКИ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9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LapPE: координаты вершины из лапласиана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1" name="TextBox 7"/>
          <p:cNvSpPr/>
          <p:nvPr/>
        </p:nvSpPr>
        <p:spPr>
          <a:xfrm>
            <a:off x="640080" y="1481400"/>
            <a:ext cx="585180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Берём собственные векторы лапласиана L = D − A с малыми собственными значениями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Они плавно меняются вдоль графа — как координаты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Знак не определён: v и −v одинаково верны, поэтому при обучении знак переворачивают случайно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Если собственное значение повторяется, векторы определены с точностью до поворота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TextBox 8"/>
          <p:cNvSpPr/>
          <p:nvPr/>
        </p:nvSpPr>
        <p:spPr>
          <a:xfrm>
            <a:off x="6492240" y="173736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первый вектор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23" name="Connector 9"/>
          <p:cNvCxnSpPr/>
          <p:nvPr/>
        </p:nvCxnSpPr>
        <p:spPr>
          <a:xfrm>
            <a:off x="7891920" y="2282040"/>
            <a:ext cx="289080" cy="1198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24" name="Connector 10"/>
          <p:cNvCxnSpPr/>
          <p:nvPr/>
        </p:nvCxnSpPr>
        <p:spPr>
          <a:xfrm>
            <a:off x="8479440" y="2700360"/>
            <a:ext cx="119880" cy="2890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25" name="Connector 11"/>
          <p:cNvCxnSpPr/>
          <p:nvPr/>
        </p:nvCxnSpPr>
        <p:spPr>
          <a:xfrm flipH="1">
            <a:off x="8479440" y="3411360"/>
            <a:ext cx="119880" cy="2890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26" name="Connector 12"/>
          <p:cNvCxnSpPr/>
          <p:nvPr/>
        </p:nvCxnSpPr>
        <p:spPr>
          <a:xfrm flipH="1">
            <a:off x="7891920" y="3998880"/>
            <a:ext cx="289080" cy="1198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27" name="Connector 13"/>
          <p:cNvCxnSpPr/>
          <p:nvPr/>
        </p:nvCxnSpPr>
        <p:spPr>
          <a:xfrm flipH="1" flipV="1">
            <a:off x="7180920" y="3998880"/>
            <a:ext cx="289080" cy="1198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28" name="Connector 14"/>
          <p:cNvCxnSpPr/>
          <p:nvPr/>
        </p:nvCxnSpPr>
        <p:spPr>
          <a:xfrm flipH="1" flipV="1">
            <a:off x="6762600" y="3411360"/>
            <a:ext cx="119880" cy="2890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29" name="Connector 15"/>
          <p:cNvCxnSpPr/>
          <p:nvPr/>
        </p:nvCxnSpPr>
        <p:spPr>
          <a:xfrm flipV="1">
            <a:off x="6762600" y="2700360"/>
            <a:ext cx="119880" cy="2890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30" name="Connector 16"/>
          <p:cNvCxnSpPr/>
          <p:nvPr/>
        </p:nvCxnSpPr>
        <p:spPr>
          <a:xfrm flipV="1">
            <a:off x="7180920" y="2282040"/>
            <a:ext cx="289080" cy="1198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131" name="Oval 17"/>
          <p:cNvSpPr/>
          <p:nvPr/>
        </p:nvSpPr>
        <p:spPr>
          <a:xfrm>
            <a:off x="7452360" y="1965960"/>
            <a:ext cx="456840" cy="456840"/>
          </a:xfrm>
          <a:prstGeom prst="ellipse">
            <a:avLst/>
          </a:prstGeom>
          <a:solidFill>
            <a:srgbClr val="3ea5a5"/>
          </a:solidFill>
          <a:ln w="15240">
            <a:solidFill>
              <a:srgbClr val="3ea5a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0.50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2" name="Oval 18"/>
          <p:cNvSpPr/>
          <p:nvPr/>
        </p:nvSpPr>
        <p:spPr>
          <a:xfrm>
            <a:off x="8163720" y="2260440"/>
            <a:ext cx="456840" cy="456840"/>
          </a:xfrm>
          <a:prstGeom prst="ellipse">
            <a:avLst/>
          </a:prstGeom>
          <a:solidFill>
            <a:srgbClr val="78c0c0"/>
          </a:solidFill>
          <a:ln w="15240">
            <a:solidFill>
              <a:srgbClr val="78c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0.35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3" name="Oval 19"/>
          <p:cNvSpPr/>
          <p:nvPr/>
        </p:nvSpPr>
        <p:spPr>
          <a:xfrm>
            <a:off x="8458200" y="2971800"/>
            <a:ext cx="456840" cy="4568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0.00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4" name="Oval 20"/>
          <p:cNvSpPr/>
          <p:nvPr/>
        </p:nvSpPr>
        <p:spPr>
          <a:xfrm>
            <a:off x="8163720" y="3683160"/>
            <a:ext cx="456840" cy="456840"/>
          </a:xfrm>
          <a:prstGeom prst="ellipse">
            <a:avLst/>
          </a:prstGeom>
          <a:solidFill>
            <a:srgbClr val="eeb593"/>
          </a:solidFill>
          <a:ln w="15240">
            <a:solidFill>
              <a:srgbClr val="eeb59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−0.35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5" name="Oval 21"/>
          <p:cNvSpPr/>
          <p:nvPr/>
        </p:nvSpPr>
        <p:spPr>
          <a:xfrm>
            <a:off x="7452360" y="3977640"/>
            <a:ext cx="456840" cy="456840"/>
          </a:xfrm>
          <a:prstGeom prst="ellipse">
            <a:avLst/>
          </a:prstGeom>
          <a:solidFill>
            <a:srgbClr val="e69565"/>
          </a:solidFill>
          <a:ln w="15240">
            <a:solidFill>
              <a:srgbClr val="e695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−0.50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6" name="Oval 22"/>
          <p:cNvSpPr/>
          <p:nvPr/>
        </p:nvSpPr>
        <p:spPr>
          <a:xfrm>
            <a:off x="6741000" y="3683160"/>
            <a:ext cx="456840" cy="456840"/>
          </a:xfrm>
          <a:prstGeom prst="ellipse">
            <a:avLst/>
          </a:prstGeom>
          <a:solidFill>
            <a:srgbClr val="eeb593"/>
          </a:solidFill>
          <a:ln w="15240">
            <a:solidFill>
              <a:srgbClr val="eeb59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−0.35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7" name="Oval 23"/>
          <p:cNvSpPr/>
          <p:nvPr/>
        </p:nvSpPr>
        <p:spPr>
          <a:xfrm>
            <a:off x="6446520" y="2971800"/>
            <a:ext cx="456840" cy="4568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0.00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8" name="Oval 24"/>
          <p:cNvSpPr/>
          <p:nvPr/>
        </p:nvSpPr>
        <p:spPr>
          <a:xfrm>
            <a:off x="6741000" y="2260440"/>
            <a:ext cx="456840" cy="456840"/>
          </a:xfrm>
          <a:prstGeom prst="ellipse">
            <a:avLst/>
          </a:prstGeom>
          <a:solidFill>
            <a:srgbClr val="78c0c0"/>
          </a:solidFill>
          <a:ln w="15240">
            <a:solidFill>
              <a:srgbClr val="78c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0.35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9" name="TextBox 25"/>
          <p:cNvSpPr/>
          <p:nvPr/>
        </p:nvSpPr>
        <p:spPr>
          <a:xfrm>
            <a:off x="9052560" y="173736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второй вектор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40" name="Connector 26"/>
          <p:cNvCxnSpPr/>
          <p:nvPr/>
        </p:nvCxnSpPr>
        <p:spPr>
          <a:xfrm>
            <a:off x="10452240" y="2282040"/>
            <a:ext cx="289080" cy="1198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41" name="Connector 27"/>
          <p:cNvCxnSpPr/>
          <p:nvPr/>
        </p:nvCxnSpPr>
        <p:spPr>
          <a:xfrm>
            <a:off x="11039760" y="2700360"/>
            <a:ext cx="119880" cy="2890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42" name="Connector 28"/>
          <p:cNvCxnSpPr/>
          <p:nvPr/>
        </p:nvCxnSpPr>
        <p:spPr>
          <a:xfrm flipH="1">
            <a:off x="11039760" y="3411360"/>
            <a:ext cx="119880" cy="2890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43" name="Connector 29"/>
          <p:cNvCxnSpPr/>
          <p:nvPr/>
        </p:nvCxnSpPr>
        <p:spPr>
          <a:xfrm flipH="1">
            <a:off x="10452240" y="3998880"/>
            <a:ext cx="289080" cy="1198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44" name="Connector 30"/>
          <p:cNvCxnSpPr/>
          <p:nvPr/>
        </p:nvCxnSpPr>
        <p:spPr>
          <a:xfrm flipH="1" flipV="1">
            <a:off x="9741240" y="3998880"/>
            <a:ext cx="289080" cy="1198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45" name="Connector 31"/>
          <p:cNvCxnSpPr/>
          <p:nvPr/>
        </p:nvCxnSpPr>
        <p:spPr>
          <a:xfrm flipH="1" flipV="1">
            <a:off x="9322920" y="3411360"/>
            <a:ext cx="119880" cy="2890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46" name="Connector 32"/>
          <p:cNvCxnSpPr/>
          <p:nvPr/>
        </p:nvCxnSpPr>
        <p:spPr>
          <a:xfrm flipV="1">
            <a:off x="9322920" y="2700360"/>
            <a:ext cx="119880" cy="2890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47" name="Connector 33"/>
          <p:cNvCxnSpPr/>
          <p:nvPr/>
        </p:nvCxnSpPr>
        <p:spPr>
          <a:xfrm flipV="1">
            <a:off x="9741240" y="2282040"/>
            <a:ext cx="289080" cy="1198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148" name="Oval 34"/>
          <p:cNvSpPr/>
          <p:nvPr/>
        </p:nvSpPr>
        <p:spPr>
          <a:xfrm>
            <a:off x="10012680" y="1965960"/>
            <a:ext cx="456840" cy="4568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0.00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9" name="Oval 35"/>
          <p:cNvSpPr/>
          <p:nvPr/>
        </p:nvSpPr>
        <p:spPr>
          <a:xfrm>
            <a:off x="10724040" y="2260440"/>
            <a:ext cx="456840" cy="456840"/>
          </a:xfrm>
          <a:prstGeom prst="ellipse">
            <a:avLst/>
          </a:prstGeom>
          <a:solidFill>
            <a:srgbClr val="eeb593"/>
          </a:solidFill>
          <a:ln w="15240">
            <a:solidFill>
              <a:srgbClr val="eeb59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−0.35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0" name="Oval 36"/>
          <p:cNvSpPr/>
          <p:nvPr/>
        </p:nvSpPr>
        <p:spPr>
          <a:xfrm>
            <a:off x="11018520" y="2971800"/>
            <a:ext cx="456840" cy="456840"/>
          </a:xfrm>
          <a:prstGeom prst="ellipse">
            <a:avLst/>
          </a:prstGeom>
          <a:solidFill>
            <a:srgbClr val="e69565"/>
          </a:solidFill>
          <a:ln w="15240">
            <a:solidFill>
              <a:srgbClr val="e695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−0.50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1" name="Oval 37"/>
          <p:cNvSpPr/>
          <p:nvPr/>
        </p:nvSpPr>
        <p:spPr>
          <a:xfrm>
            <a:off x="10724040" y="3683160"/>
            <a:ext cx="456840" cy="456840"/>
          </a:xfrm>
          <a:prstGeom prst="ellipse">
            <a:avLst/>
          </a:prstGeom>
          <a:solidFill>
            <a:srgbClr val="eeb593"/>
          </a:solidFill>
          <a:ln w="15240">
            <a:solidFill>
              <a:srgbClr val="eeb59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−0.35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2" name="Oval 38"/>
          <p:cNvSpPr/>
          <p:nvPr/>
        </p:nvSpPr>
        <p:spPr>
          <a:xfrm>
            <a:off x="10012680" y="3977640"/>
            <a:ext cx="456840" cy="4568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0.00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3" name="Oval 39"/>
          <p:cNvSpPr/>
          <p:nvPr/>
        </p:nvSpPr>
        <p:spPr>
          <a:xfrm>
            <a:off x="9301320" y="3683160"/>
            <a:ext cx="456840" cy="456840"/>
          </a:xfrm>
          <a:prstGeom prst="ellipse">
            <a:avLst/>
          </a:prstGeom>
          <a:solidFill>
            <a:srgbClr val="78c0c0"/>
          </a:solidFill>
          <a:ln w="15240">
            <a:solidFill>
              <a:srgbClr val="78c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0.35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4" name="Oval 40"/>
          <p:cNvSpPr/>
          <p:nvPr/>
        </p:nvSpPr>
        <p:spPr>
          <a:xfrm>
            <a:off x="9006840" y="2971800"/>
            <a:ext cx="456840" cy="456840"/>
          </a:xfrm>
          <a:prstGeom prst="ellipse">
            <a:avLst/>
          </a:prstGeom>
          <a:solidFill>
            <a:srgbClr val="3ea5a5"/>
          </a:solidFill>
          <a:ln w="15240">
            <a:solidFill>
              <a:srgbClr val="3ea5a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0.50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5" name="Oval 41"/>
          <p:cNvSpPr/>
          <p:nvPr/>
        </p:nvSpPr>
        <p:spPr>
          <a:xfrm>
            <a:off x="9301320" y="2260440"/>
            <a:ext cx="456840" cy="456840"/>
          </a:xfrm>
          <a:prstGeom prst="ellipse">
            <a:avLst/>
          </a:prstGeom>
          <a:solidFill>
            <a:srgbClr val="78c0c0"/>
          </a:solidFill>
          <a:ln w="15240">
            <a:solidFill>
              <a:srgbClr val="78c0c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0.35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6" name="TextBox 42"/>
          <p:cNvSpPr/>
          <p:nvPr/>
        </p:nvSpPr>
        <p:spPr>
          <a:xfrm>
            <a:off x="6400800" y="475488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Цикл из 8 вершин. Собственные значения: 0, 0.586, 0.586, 2, 2, 3.414, 3.414, 4 — значение 0.586 повторяется, и эти два вектора можно повернуть друг в друга.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5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160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ОПЫТ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1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Опыт: CSL с кодировками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2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63" name="Picture 7" descr="l04_csl.png"/>
          <p:cNvPicPr/>
          <p:nvPr/>
        </p:nvPicPr>
        <p:blipFill>
          <a:blip r:embed="rId1"/>
          <a:stretch/>
        </p:blipFill>
        <p:spPr>
          <a:xfrm>
            <a:off x="2814120" y="1481400"/>
            <a:ext cx="6563160" cy="310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4" name="TextBox 8"/>
          <p:cNvSpPr/>
          <p:nvPr/>
        </p:nvSpPr>
        <p:spPr>
          <a:xfrm>
            <a:off x="640080" y="481896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Та же сеть, тот же датасет. Без кодировок — 0.1, с RWSE — 0.92, с LapPE — 0.947. Новых весов почти нет: выигрыш даёт одна только подсказка о структуре на входе.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6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67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168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ОПЫТ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9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Опыт: посчитай треугольники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0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171" name="Table 7"/>
          <p:cNvGraphicFramePr/>
          <p:nvPr/>
        </p:nvGraphicFramePr>
        <p:xfrm>
          <a:off x="640080" y="1664280"/>
          <a:ext cx="10911240" cy="1261440"/>
        </p:xfrm>
        <a:graphic>
          <a:graphicData uri="http://schemas.openxmlformats.org/drawingml/2006/table">
            <a:tbl>
              <a:tblPr/>
              <a:tblGrid>
                <a:gridCol w="5455440"/>
                <a:gridCol w="545544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Модель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Средняя ошибка, треугольников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GIN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1.7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GIN + RWSE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0.28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172" name="TextBox 8"/>
          <p:cNvSpPr/>
          <p:nvPr/>
        </p:nvSpPr>
        <p:spPr>
          <a:xfrm>
            <a:off x="640080" y="315468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600 случайных графов, у каждой вершины 4 соседа; надо предсказать число треугольников (в тестовых графах в среднем 5.3, разброс 2.1). GIN без кодировок видит все графы одинаково и выдаёт для них одно и то же число. RWSE на шаге 3 прямо считает замкнутые пути длины 3 — то есть треугольники.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73" name="Connector 9"/>
          <p:cNvCxnSpPr/>
          <p:nvPr/>
        </p:nvCxnSpPr>
        <p:spPr>
          <a:xfrm flipV="1">
            <a:off x="1445040" y="4488120"/>
            <a:ext cx="636840" cy="73440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1174" name="Connector 10"/>
          <p:cNvCxnSpPr/>
          <p:nvPr/>
        </p:nvCxnSpPr>
        <p:spPr>
          <a:xfrm>
            <a:off x="2333160" y="4488120"/>
            <a:ext cx="637200" cy="73440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1175" name="Connector 11"/>
          <p:cNvCxnSpPr/>
          <p:nvPr/>
        </p:nvCxnSpPr>
        <p:spPr>
          <a:xfrm flipH="1">
            <a:off x="1511280" y="5367240"/>
            <a:ext cx="1392840" cy="36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1176" name="Connector 12"/>
          <p:cNvCxnSpPr/>
          <p:nvPr/>
        </p:nvCxnSpPr>
        <p:spPr>
          <a:xfrm>
            <a:off x="2399400" y="4343400"/>
            <a:ext cx="139284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77" name="Connector 13"/>
          <p:cNvCxnSpPr/>
          <p:nvPr/>
        </p:nvCxnSpPr>
        <p:spPr>
          <a:xfrm flipV="1">
            <a:off x="3221640" y="4488120"/>
            <a:ext cx="636840" cy="7344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178" name="Oval 14"/>
          <p:cNvSpPr/>
          <p:nvPr/>
        </p:nvSpPr>
        <p:spPr>
          <a:xfrm>
            <a:off x="1127160" y="5175360"/>
            <a:ext cx="383760" cy="38376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9" name="Oval 15"/>
          <p:cNvSpPr/>
          <p:nvPr/>
        </p:nvSpPr>
        <p:spPr>
          <a:xfrm>
            <a:off x="2015640" y="4151520"/>
            <a:ext cx="383760" cy="3837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0" name="Oval 16"/>
          <p:cNvSpPr/>
          <p:nvPr/>
        </p:nvSpPr>
        <p:spPr>
          <a:xfrm>
            <a:off x="2903760" y="5175360"/>
            <a:ext cx="383760" cy="3837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b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1" name="Oval 17"/>
          <p:cNvSpPr/>
          <p:nvPr/>
        </p:nvSpPr>
        <p:spPr>
          <a:xfrm>
            <a:off x="3792240" y="4151520"/>
            <a:ext cx="383760" cy="3837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2" name="TextBox 18"/>
          <p:cNvSpPr/>
          <p:nvPr/>
        </p:nvSpPr>
        <p:spPr>
          <a:xfrm>
            <a:off x="4937760" y="4434840"/>
            <a:ext cx="658332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v → a → b → v: блуждание вернулось в v за 3 шага, только если v лежит в треугольнике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Больше треугольников у v — выше эта вероятность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4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85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186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BEVILACQUA ET AL., 2022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7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Subgraph GNN: смотрим глазами каждой вершины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9" name="TextBox 7"/>
          <p:cNvSpPr/>
          <p:nvPr/>
        </p:nvSpPr>
        <p:spPr>
          <a:xfrm>
            <a:off x="640080" y="1481400"/>
            <a:ext cx="54860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Делаем n копий графа: в каждой помечаем одну вершину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Прогоняем GNN по каждой копии и собираем результаты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Пометка ломает симметрию: регулярные графы перестают выглядеть одинаково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Цена — в n раз больше вычислений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90" name="Connector 8"/>
          <p:cNvCxnSpPr/>
          <p:nvPr/>
        </p:nvCxnSpPr>
        <p:spPr>
          <a:xfrm>
            <a:off x="7159320" y="2171520"/>
            <a:ext cx="396360" cy="2289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91" name="Connector 9"/>
          <p:cNvCxnSpPr/>
          <p:nvPr/>
        </p:nvCxnSpPr>
        <p:spPr>
          <a:xfrm>
            <a:off x="7674120" y="2606040"/>
            <a:ext cx="360" cy="4575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92" name="Connector 10"/>
          <p:cNvCxnSpPr/>
          <p:nvPr/>
        </p:nvCxnSpPr>
        <p:spPr>
          <a:xfrm flipH="1">
            <a:off x="7159320" y="3268800"/>
            <a:ext cx="396360" cy="2289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93" name="Connector 11"/>
          <p:cNvCxnSpPr/>
          <p:nvPr/>
        </p:nvCxnSpPr>
        <p:spPr>
          <a:xfrm flipH="1" flipV="1">
            <a:off x="6526080" y="3268800"/>
            <a:ext cx="396360" cy="2289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94" name="Connector 12"/>
          <p:cNvCxnSpPr/>
          <p:nvPr/>
        </p:nvCxnSpPr>
        <p:spPr>
          <a:xfrm flipV="1">
            <a:off x="6407280" y="2606040"/>
            <a:ext cx="360" cy="4575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95" name="Connector 13"/>
          <p:cNvCxnSpPr/>
          <p:nvPr/>
        </p:nvCxnSpPr>
        <p:spPr>
          <a:xfrm flipV="1">
            <a:off x="6526080" y="2171520"/>
            <a:ext cx="396360" cy="2289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196" name="Oval 14"/>
          <p:cNvSpPr/>
          <p:nvPr/>
        </p:nvSpPr>
        <p:spPr>
          <a:xfrm>
            <a:off x="6903720" y="1965960"/>
            <a:ext cx="273960" cy="27396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7" name="Oval 15"/>
          <p:cNvSpPr/>
          <p:nvPr/>
        </p:nvSpPr>
        <p:spPr>
          <a:xfrm>
            <a:off x="7537320" y="233172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8" name="Oval 16"/>
          <p:cNvSpPr/>
          <p:nvPr/>
        </p:nvSpPr>
        <p:spPr>
          <a:xfrm>
            <a:off x="7537320" y="306324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9" name="Oval 17"/>
          <p:cNvSpPr/>
          <p:nvPr/>
        </p:nvSpPr>
        <p:spPr>
          <a:xfrm>
            <a:off x="6903720" y="342900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0" name="Oval 18"/>
          <p:cNvSpPr/>
          <p:nvPr/>
        </p:nvSpPr>
        <p:spPr>
          <a:xfrm>
            <a:off x="6270120" y="306324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1" name="Oval 19"/>
          <p:cNvSpPr/>
          <p:nvPr/>
        </p:nvSpPr>
        <p:spPr>
          <a:xfrm>
            <a:off x="6270120" y="233172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2" name="TextBox 20"/>
          <p:cNvSpPr/>
          <p:nvPr/>
        </p:nvSpPr>
        <p:spPr>
          <a:xfrm>
            <a:off x="6309360" y="37490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копия 1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03" name="Connector 21"/>
          <p:cNvCxnSpPr/>
          <p:nvPr/>
        </p:nvCxnSpPr>
        <p:spPr>
          <a:xfrm>
            <a:off x="8850960" y="2171520"/>
            <a:ext cx="396360" cy="2289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204" name="Connector 22"/>
          <p:cNvCxnSpPr/>
          <p:nvPr/>
        </p:nvCxnSpPr>
        <p:spPr>
          <a:xfrm>
            <a:off x="9365760" y="2606040"/>
            <a:ext cx="360" cy="4575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205" name="Connector 23"/>
          <p:cNvCxnSpPr/>
          <p:nvPr/>
        </p:nvCxnSpPr>
        <p:spPr>
          <a:xfrm flipH="1">
            <a:off x="8850960" y="3268800"/>
            <a:ext cx="396360" cy="2289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206" name="Connector 24"/>
          <p:cNvCxnSpPr/>
          <p:nvPr/>
        </p:nvCxnSpPr>
        <p:spPr>
          <a:xfrm flipH="1" flipV="1">
            <a:off x="8217720" y="3268800"/>
            <a:ext cx="396360" cy="2289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207" name="Connector 25"/>
          <p:cNvCxnSpPr/>
          <p:nvPr/>
        </p:nvCxnSpPr>
        <p:spPr>
          <a:xfrm flipV="1">
            <a:off x="8098920" y="2606040"/>
            <a:ext cx="360" cy="4575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208" name="Connector 26"/>
          <p:cNvCxnSpPr/>
          <p:nvPr/>
        </p:nvCxnSpPr>
        <p:spPr>
          <a:xfrm flipV="1">
            <a:off x="8217720" y="2171520"/>
            <a:ext cx="396360" cy="2289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209" name="Oval 27"/>
          <p:cNvSpPr/>
          <p:nvPr/>
        </p:nvSpPr>
        <p:spPr>
          <a:xfrm>
            <a:off x="8595360" y="196596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0" name="Oval 28"/>
          <p:cNvSpPr/>
          <p:nvPr/>
        </p:nvSpPr>
        <p:spPr>
          <a:xfrm>
            <a:off x="9228960" y="2331720"/>
            <a:ext cx="273960" cy="27396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1" name="Oval 29"/>
          <p:cNvSpPr/>
          <p:nvPr/>
        </p:nvSpPr>
        <p:spPr>
          <a:xfrm>
            <a:off x="9228960" y="306324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2" name="Oval 30"/>
          <p:cNvSpPr/>
          <p:nvPr/>
        </p:nvSpPr>
        <p:spPr>
          <a:xfrm>
            <a:off x="8595360" y="342900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3" name="Oval 31"/>
          <p:cNvSpPr/>
          <p:nvPr/>
        </p:nvSpPr>
        <p:spPr>
          <a:xfrm>
            <a:off x="7961760" y="306324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4" name="Oval 32"/>
          <p:cNvSpPr/>
          <p:nvPr/>
        </p:nvSpPr>
        <p:spPr>
          <a:xfrm>
            <a:off x="7961760" y="233172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5" name="TextBox 33"/>
          <p:cNvSpPr/>
          <p:nvPr/>
        </p:nvSpPr>
        <p:spPr>
          <a:xfrm>
            <a:off x="8001000" y="37490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копия 2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16" name="Connector 34"/>
          <p:cNvCxnSpPr/>
          <p:nvPr/>
        </p:nvCxnSpPr>
        <p:spPr>
          <a:xfrm>
            <a:off x="10542600" y="2171520"/>
            <a:ext cx="396360" cy="2289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217" name="Connector 35"/>
          <p:cNvCxnSpPr/>
          <p:nvPr/>
        </p:nvCxnSpPr>
        <p:spPr>
          <a:xfrm>
            <a:off x="11057400" y="2606040"/>
            <a:ext cx="360" cy="4575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218" name="Connector 36"/>
          <p:cNvCxnSpPr/>
          <p:nvPr/>
        </p:nvCxnSpPr>
        <p:spPr>
          <a:xfrm flipH="1">
            <a:off x="10542600" y="3268800"/>
            <a:ext cx="396360" cy="2289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219" name="Connector 37"/>
          <p:cNvCxnSpPr/>
          <p:nvPr/>
        </p:nvCxnSpPr>
        <p:spPr>
          <a:xfrm flipH="1" flipV="1">
            <a:off x="9909360" y="3268800"/>
            <a:ext cx="396360" cy="2289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220" name="Connector 38"/>
          <p:cNvCxnSpPr/>
          <p:nvPr/>
        </p:nvCxnSpPr>
        <p:spPr>
          <a:xfrm flipV="1">
            <a:off x="9790560" y="2606040"/>
            <a:ext cx="360" cy="4575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221" name="Connector 39"/>
          <p:cNvCxnSpPr/>
          <p:nvPr/>
        </p:nvCxnSpPr>
        <p:spPr>
          <a:xfrm flipV="1">
            <a:off x="9909360" y="2171520"/>
            <a:ext cx="396360" cy="2289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222" name="Oval 40"/>
          <p:cNvSpPr/>
          <p:nvPr/>
        </p:nvSpPr>
        <p:spPr>
          <a:xfrm>
            <a:off x="10287000" y="196596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3" name="Oval 41"/>
          <p:cNvSpPr/>
          <p:nvPr/>
        </p:nvSpPr>
        <p:spPr>
          <a:xfrm>
            <a:off x="10920600" y="233172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4" name="Oval 42"/>
          <p:cNvSpPr/>
          <p:nvPr/>
        </p:nvSpPr>
        <p:spPr>
          <a:xfrm>
            <a:off x="10920600" y="3063240"/>
            <a:ext cx="273960" cy="27396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5" name="Oval 43"/>
          <p:cNvSpPr/>
          <p:nvPr/>
        </p:nvSpPr>
        <p:spPr>
          <a:xfrm>
            <a:off x="10287000" y="342900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6" name="Oval 44"/>
          <p:cNvSpPr/>
          <p:nvPr/>
        </p:nvSpPr>
        <p:spPr>
          <a:xfrm>
            <a:off x="9653400" y="306324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7" name="Oval 45"/>
          <p:cNvSpPr/>
          <p:nvPr/>
        </p:nvSpPr>
        <p:spPr>
          <a:xfrm>
            <a:off x="9653400" y="233172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8" name="TextBox 46"/>
          <p:cNvSpPr/>
          <p:nvPr/>
        </p:nvSpPr>
        <p:spPr>
          <a:xfrm>
            <a:off x="9692640" y="37490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копия 3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9" name="TextBox 47"/>
          <p:cNvSpPr/>
          <p:nvPr/>
        </p:nvSpPr>
        <p:spPr>
          <a:xfrm>
            <a:off x="11201400" y="26517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…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30" name="Connector 48"/>
          <p:cNvCxnSpPr/>
          <p:nvPr/>
        </p:nvCxnSpPr>
        <p:spPr>
          <a:xfrm>
            <a:off x="8641080" y="4160520"/>
            <a:ext cx="360" cy="411840"/>
          </a:xfrm>
          <a:prstGeom prst="straightConnector1">
            <a:avLst/>
          </a:prstGeom>
          <a:ln w="22225">
            <a:solidFill>
              <a:srgbClr val="e07a3f"/>
            </a:solidFill>
            <a:round/>
          </a:ln>
        </p:spPr>
      </p:cxnSp>
      <p:sp>
        <p:nvSpPr>
          <p:cNvPr id="1231" name="Isosceles Triangle 49"/>
          <p:cNvSpPr/>
          <p:nvPr/>
        </p:nvSpPr>
        <p:spPr>
          <a:xfrm rot="10800000">
            <a:off x="8568360" y="449928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2" name="Rounded Rectangle 50"/>
          <p:cNvSpPr/>
          <p:nvPr/>
        </p:nvSpPr>
        <p:spPr>
          <a:xfrm>
            <a:off x="7086600" y="4617720"/>
            <a:ext cx="3108600" cy="54828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GNN по каждой копии → пулинг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4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25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35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236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HIGHER-ORDER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7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k-WL: красим не вершины, а наборы вершин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8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9" name="TextBox 7"/>
          <p:cNvSpPr/>
          <p:nvPr/>
        </p:nvSpPr>
        <p:spPr>
          <a:xfrm>
            <a:off x="640080" y="1481400"/>
            <a:ext cx="566892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WL раскрашивает вершины; k-мерные варианты раскрашивают наборы из k вершин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Цвет пары учитывает ребро между вершинами и цвета пар вокруг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 ростом k тест различает всё больше пар графов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Нейросетевые аналоги — k-GNN (Morris et al., 2019)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Цена: наборов n^k — на графе из тысячи вершин троек уже миллиард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40" name="Connector 8"/>
          <p:cNvCxnSpPr/>
          <p:nvPr/>
        </p:nvCxnSpPr>
        <p:spPr>
          <a:xfrm>
            <a:off x="7723800" y="2180520"/>
            <a:ext cx="523080" cy="30240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1241" name="Connector 9"/>
          <p:cNvCxnSpPr/>
          <p:nvPr/>
        </p:nvCxnSpPr>
        <p:spPr>
          <a:xfrm>
            <a:off x="8381160" y="2715480"/>
            <a:ext cx="360" cy="6040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242" name="Connector 10"/>
          <p:cNvCxnSpPr/>
          <p:nvPr/>
        </p:nvCxnSpPr>
        <p:spPr>
          <a:xfrm flipH="1">
            <a:off x="7723800" y="3552120"/>
            <a:ext cx="523080" cy="3024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243" name="Connector 11"/>
          <p:cNvCxnSpPr/>
          <p:nvPr/>
        </p:nvCxnSpPr>
        <p:spPr>
          <a:xfrm flipH="1" flipV="1">
            <a:off x="6932160" y="3552120"/>
            <a:ext cx="523080" cy="3024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244" name="Connector 12"/>
          <p:cNvCxnSpPr/>
          <p:nvPr/>
        </p:nvCxnSpPr>
        <p:spPr>
          <a:xfrm flipV="1">
            <a:off x="6797520" y="2715480"/>
            <a:ext cx="360" cy="6040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245" name="Connector 13"/>
          <p:cNvCxnSpPr/>
          <p:nvPr/>
        </p:nvCxnSpPr>
        <p:spPr>
          <a:xfrm flipV="1">
            <a:off x="6932160" y="2180520"/>
            <a:ext cx="523080" cy="3024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246" name="Oval 14"/>
          <p:cNvSpPr/>
          <p:nvPr/>
        </p:nvSpPr>
        <p:spPr>
          <a:xfrm>
            <a:off x="7434000" y="1947600"/>
            <a:ext cx="310680" cy="31068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7" name="Oval 15"/>
          <p:cNvSpPr/>
          <p:nvPr/>
        </p:nvSpPr>
        <p:spPr>
          <a:xfrm>
            <a:off x="8226000" y="2404800"/>
            <a:ext cx="310680" cy="31068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8" name="Oval 16"/>
          <p:cNvSpPr/>
          <p:nvPr/>
        </p:nvSpPr>
        <p:spPr>
          <a:xfrm>
            <a:off x="8226000" y="331920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9" name="Oval 17"/>
          <p:cNvSpPr/>
          <p:nvPr/>
        </p:nvSpPr>
        <p:spPr>
          <a:xfrm>
            <a:off x="7434000" y="377640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0" name="Oval 18"/>
          <p:cNvSpPr/>
          <p:nvPr/>
        </p:nvSpPr>
        <p:spPr>
          <a:xfrm>
            <a:off x="6642000" y="331920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1" name="Oval 19"/>
          <p:cNvSpPr/>
          <p:nvPr/>
        </p:nvSpPr>
        <p:spPr>
          <a:xfrm>
            <a:off x="6642000" y="240480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2" name="TextBox 20"/>
          <p:cNvSpPr/>
          <p:nvPr/>
        </p:nvSpPr>
        <p:spPr>
          <a:xfrm>
            <a:off x="6400800" y="411480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пара соседей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53" name="Connector 21"/>
          <p:cNvCxnSpPr/>
          <p:nvPr/>
        </p:nvCxnSpPr>
        <p:spPr>
          <a:xfrm>
            <a:off x="10284120" y="2180520"/>
            <a:ext cx="523080" cy="3024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254" name="Connector 22"/>
          <p:cNvCxnSpPr/>
          <p:nvPr/>
        </p:nvCxnSpPr>
        <p:spPr>
          <a:xfrm>
            <a:off x="10941480" y="2715480"/>
            <a:ext cx="360" cy="6040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255" name="Connector 23"/>
          <p:cNvCxnSpPr/>
          <p:nvPr/>
        </p:nvCxnSpPr>
        <p:spPr>
          <a:xfrm flipH="1">
            <a:off x="10284120" y="3552120"/>
            <a:ext cx="523080" cy="3024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256" name="Connector 24"/>
          <p:cNvCxnSpPr/>
          <p:nvPr/>
        </p:nvCxnSpPr>
        <p:spPr>
          <a:xfrm flipH="1" flipV="1">
            <a:off x="9492480" y="3552120"/>
            <a:ext cx="523080" cy="3024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257" name="Connector 25"/>
          <p:cNvCxnSpPr/>
          <p:nvPr/>
        </p:nvCxnSpPr>
        <p:spPr>
          <a:xfrm flipV="1">
            <a:off x="9357840" y="2715480"/>
            <a:ext cx="360" cy="6040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258" name="Connector 26"/>
          <p:cNvCxnSpPr/>
          <p:nvPr/>
        </p:nvCxnSpPr>
        <p:spPr>
          <a:xfrm flipV="1">
            <a:off x="9492480" y="2180520"/>
            <a:ext cx="523080" cy="3024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259" name="Oval 27"/>
          <p:cNvSpPr/>
          <p:nvPr/>
        </p:nvSpPr>
        <p:spPr>
          <a:xfrm>
            <a:off x="9994320" y="1947600"/>
            <a:ext cx="310680" cy="31068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0" name="Oval 28"/>
          <p:cNvSpPr/>
          <p:nvPr/>
        </p:nvSpPr>
        <p:spPr>
          <a:xfrm>
            <a:off x="10786320" y="240480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1" name="Oval 29"/>
          <p:cNvSpPr/>
          <p:nvPr/>
        </p:nvSpPr>
        <p:spPr>
          <a:xfrm>
            <a:off x="10786320" y="331920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2" name="Oval 30"/>
          <p:cNvSpPr/>
          <p:nvPr/>
        </p:nvSpPr>
        <p:spPr>
          <a:xfrm>
            <a:off x="9994320" y="3776400"/>
            <a:ext cx="310680" cy="31068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3" name="Oval 31"/>
          <p:cNvSpPr/>
          <p:nvPr/>
        </p:nvSpPr>
        <p:spPr>
          <a:xfrm>
            <a:off x="9202320" y="331920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4" name="Oval 32"/>
          <p:cNvSpPr/>
          <p:nvPr/>
        </p:nvSpPr>
        <p:spPr>
          <a:xfrm>
            <a:off x="9202320" y="240480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5" name="TextBox 33"/>
          <p:cNvSpPr/>
          <p:nvPr/>
        </p:nvSpPr>
        <p:spPr>
          <a:xfrm>
            <a:off x="8961120" y="411480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пара напротив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6" name="TextBox 34"/>
          <p:cNvSpPr/>
          <p:nvPr/>
        </p:nvSpPr>
        <p:spPr>
          <a:xfrm>
            <a:off x="6492240" y="466344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Для WL все вершины цикла одинаковы. Пары уже различаются: соседние вершины — другой цвет, чем вершины напротив.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26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6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270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ИТОГ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1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Что даёт и чем платим?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2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273" name="Table 7"/>
          <p:cNvGraphicFramePr/>
          <p:nvPr/>
        </p:nvGraphicFramePr>
        <p:xfrm>
          <a:off x="640080" y="1664280"/>
          <a:ext cx="10911240" cy="2621160"/>
        </p:xfrm>
        <a:graphic>
          <a:graphicData uri="http://schemas.openxmlformats.org/drawingml/2006/table">
            <a:tbl>
              <a:tblPr/>
              <a:tblGrid>
                <a:gridCol w="2894760"/>
                <a:gridCol w="4008240"/>
                <a:gridCol w="400824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Подход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Сила различения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Цена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GCN, GraphSAGE, GAT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не больше WL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линейна по числу рёбер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GIN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ровно WL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линейна по числу рёбер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+ RWSE или LapPE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различает часть графов, где WL слеп (как CSL)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предподсчёт: RWSE — дёшево, LapPE — собственные векторы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Subgraph GNN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строго сильнее WL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в n раз дороже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k-GNN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растёт с k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n^k наборов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5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27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76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277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ПРОВЕРЬ СЕБЯ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8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Вопрос аудитории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9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0" name="TextBox 7"/>
          <p:cNvSpPr/>
          <p:nvPr/>
        </p:nvSpPr>
        <p:spPr>
          <a:xfrm>
            <a:off x="640080" y="1481400"/>
            <a:ext cx="1091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22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Нужно предсказывать, сколько колец из трёх атомов в молекуле. Что добавить к GIN первым делом?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1" name="Rounded Rectangle 8"/>
          <p:cNvSpPr/>
          <p:nvPr/>
        </p:nvSpPr>
        <p:spPr>
          <a:xfrm>
            <a:off x="640080" y="289872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2" name="TextBox 9"/>
          <p:cNvSpPr/>
          <p:nvPr/>
        </p:nvSpPr>
        <p:spPr>
          <a:xfrm>
            <a:off x="914400" y="30448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A.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Больше слоёв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3" name="Rounded Rectangle 10"/>
          <p:cNvSpPr/>
          <p:nvPr/>
        </p:nvSpPr>
        <p:spPr>
          <a:xfrm>
            <a:off x="640080" y="358452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4" name="TextBox 11"/>
          <p:cNvSpPr/>
          <p:nvPr/>
        </p:nvSpPr>
        <p:spPr>
          <a:xfrm>
            <a:off x="914400" y="37306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B.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RWSE на входе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5" name="Rounded Rectangle 12"/>
          <p:cNvSpPr/>
          <p:nvPr/>
        </p:nvSpPr>
        <p:spPr>
          <a:xfrm>
            <a:off x="640080" y="427032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6" name="TextBox 13"/>
          <p:cNvSpPr/>
          <p:nvPr/>
        </p:nvSpPr>
        <p:spPr>
          <a:xfrm>
            <a:off x="914400" y="44164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C.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Среднее вместо суммы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7" name="Rounded Rectangle 14"/>
          <p:cNvSpPr/>
          <p:nvPr/>
        </p:nvSpPr>
        <p:spPr>
          <a:xfrm>
            <a:off x="640080" y="495612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8" name="TextBox 15"/>
          <p:cNvSpPr/>
          <p:nvPr/>
        </p:nvSpPr>
        <p:spPr>
          <a:xfrm>
            <a:off x="914400" y="51022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D.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Больше dropout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0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28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91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292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ОТВЕТ НА ВОПРОС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3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Разбор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4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5" name="TextBox 7"/>
          <p:cNvSpPr/>
          <p:nvPr/>
        </p:nvSpPr>
        <p:spPr>
          <a:xfrm>
            <a:off x="640080" y="1481400"/>
            <a:ext cx="109112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Нужно предсказывать, сколько колец из трёх атомов в молекуле. Что добавить к GIN первым делом?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6" name="Rounded Rectangle 8"/>
          <p:cNvSpPr/>
          <p:nvPr/>
        </p:nvSpPr>
        <p:spPr>
          <a:xfrm>
            <a:off x="640080" y="237744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7" name="TextBox 9"/>
          <p:cNvSpPr/>
          <p:nvPr/>
        </p:nvSpPr>
        <p:spPr>
          <a:xfrm>
            <a:off x="914400" y="248724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A.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Больше слоёв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8" name="Rounded Rectangle 10"/>
          <p:cNvSpPr/>
          <p:nvPr/>
        </p:nvSpPr>
        <p:spPr>
          <a:xfrm>
            <a:off x="640080" y="294444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cf0e6"/>
          </a:solidFill>
          <a:ln w="2540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9" name="TextBox 11"/>
          <p:cNvSpPr/>
          <p:nvPr/>
        </p:nvSpPr>
        <p:spPr>
          <a:xfrm>
            <a:off x="914400" y="3054240"/>
            <a:ext cx="8259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B.  </a:t>
            </a:r>
            <a:r>
              <a:rPr b="1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RWSE на входе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0" name="TextBox 12"/>
          <p:cNvSpPr/>
          <p:nvPr/>
        </p:nvSpPr>
        <p:spPr>
          <a:xfrm>
            <a:off x="9174240" y="307224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✓ правильный ответ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1" name="Rounded Rectangle 13"/>
          <p:cNvSpPr/>
          <p:nvPr/>
        </p:nvSpPr>
        <p:spPr>
          <a:xfrm>
            <a:off x="640080" y="351144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2" name="TextBox 14"/>
          <p:cNvSpPr/>
          <p:nvPr/>
        </p:nvSpPr>
        <p:spPr>
          <a:xfrm>
            <a:off x="914400" y="36208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C.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Среднее вместо суммы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3" name="Rounded Rectangle 15"/>
          <p:cNvSpPr/>
          <p:nvPr/>
        </p:nvSpPr>
        <p:spPr>
          <a:xfrm>
            <a:off x="640080" y="407808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4" name="TextBox 16"/>
          <p:cNvSpPr/>
          <p:nvPr/>
        </p:nvSpPr>
        <p:spPr>
          <a:xfrm>
            <a:off x="914400" y="41878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D.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Больше dropout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5" name="Rounded Rectangle 17"/>
          <p:cNvSpPr/>
          <p:nvPr/>
        </p:nvSpPr>
        <p:spPr>
          <a:xfrm>
            <a:off x="640080" y="4782240"/>
            <a:ext cx="10911240" cy="1252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6" name="TextBox 18"/>
          <p:cNvSpPr/>
          <p:nvPr/>
        </p:nvSpPr>
        <p:spPr>
          <a:xfrm>
            <a:off x="960120" y="4992480"/>
            <a:ext cx="1027116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2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Почему: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Число треугольников — ровно то, чего WL не видит. Слои и dropout предел WL не сдвигают, а среднее его только ослабит. RWSE на шаге 3 прямо кодирует треугольники: в нашем опыте ошибка упала с 1.7 до 0.28.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8" name="TextBox 2"/>
          <p:cNvSpPr/>
          <p:nvPr/>
        </p:nvSpPr>
        <p:spPr>
          <a:xfrm>
            <a:off x="1280160" y="2743200"/>
            <a:ext cx="9600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Блок 3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9" name="TextBox 3"/>
          <p:cNvSpPr/>
          <p:nvPr/>
        </p:nvSpPr>
        <p:spPr>
          <a:xfrm>
            <a:off x="1280160" y="384048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b9c6d8"/>
                </a:solidFill>
                <a:effectLst/>
                <a:uFillTx/>
                <a:latin typeface="Arial"/>
              </a:rPr>
              <a:t>Over-squashing и гетерофилия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1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30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12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313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ALON &amp; YAHAV, 2021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4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Окрестность растёт экспоненциально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5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6" name="TextBox 7"/>
          <p:cNvSpPr/>
          <p:nvPr/>
        </p:nvSpPr>
        <p:spPr>
          <a:xfrm>
            <a:off x="640080" y="1481400"/>
            <a:ext cx="54860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За r слоёв вершина собирает информацию со всей окрестности радиуса r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 бинарном дереве это 2ʳ листьев на глубине r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А вектор вершины фиксированного размера — у нас 32 числа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Всё, что знают листья, должно протиснуться в этот вектор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Это и есть over-squashing: информация сплющивается по дороге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17" name="Connector 8"/>
          <p:cNvCxnSpPr/>
          <p:nvPr/>
        </p:nvCxnSpPr>
        <p:spPr>
          <a:xfrm flipH="1">
            <a:off x="7373520" y="1872360"/>
            <a:ext cx="889200" cy="6670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18" name="Connector 9"/>
          <p:cNvCxnSpPr/>
          <p:nvPr/>
        </p:nvCxnSpPr>
        <p:spPr>
          <a:xfrm>
            <a:off x="8379360" y="1872360"/>
            <a:ext cx="889200" cy="6670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19" name="Connector 10"/>
          <p:cNvCxnSpPr/>
          <p:nvPr/>
        </p:nvCxnSpPr>
        <p:spPr>
          <a:xfrm flipH="1">
            <a:off x="6852600" y="2643840"/>
            <a:ext cx="422280" cy="6328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20" name="Connector 11"/>
          <p:cNvCxnSpPr/>
          <p:nvPr/>
        </p:nvCxnSpPr>
        <p:spPr>
          <a:xfrm>
            <a:off x="7355520" y="2643840"/>
            <a:ext cx="422280" cy="6328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21" name="Connector 12"/>
          <p:cNvCxnSpPr/>
          <p:nvPr/>
        </p:nvCxnSpPr>
        <p:spPr>
          <a:xfrm flipH="1">
            <a:off x="8864280" y="2643840"/>
            <a:ext cx="422280" cy="6328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22" name="Connector 13"/>
          <p:cNvCxnSpPr/>
          <p:nvPr/>
        </p:nvCxnSpPr>
        <p:spPr>
          <a:xfrm>
            <a:off x="9367200" y="2643840"/>
            <a:ext cx="422280" cy="6328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23" name="Connector 14"/>
          <p:cNvCxnSpPr/>
          <p:nvPr/>
        </p:nvCxnSpPr>
        <p:spPr>
          <a:xfrm flipH="1">
            <a:off x="6583680" y="3406680"/>
            <a:ext cx="205560" cy="6159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24" name="Connector 15"/>
          <p:cNvCxnSpPr/>
          <p:nvPr/>
        </p:nvCxnSpPr>
        <p:spPr>
          <a:xfrm>
            <a:off x="6835320" y="3406680"/>
            <a:ext cx="205560" cy="6159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25" name="Connector 16"/>
          <p:cNvCxnSpPr/>
          <p:nvPr/>
        </p:nvCxnSpPr>
        <p:spPr>
          <a:xfrm flipH="1">
            <a:off x="7589520" y="3406680"/>
            <a:ext cx="205560" cy="6159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26" name="Connector 17"/>
          <p:cNvCxnSpPr/>
          <p:nvPr/>
        </p:nvCxnSpPr>
        <p:spPr>
          <a:xfrm>
            <a:off x="7841160" y="3406680"/>
            <a:ext cx="205560" cy="6159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27" name="Connector 18"/>
          <p:cNvCxnSpPr/>
          <p:nvPr/>
        </p:nvCxnSpPr>
        <p:spPr>
          <a:xfrm flipH="1">
            <a:off x="8595360" y="3406680"/>
            <a:ext cx="205560" cy="6159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28" name="Connector 19"/>
          <p:cNvCxnSpPr/>
          <p:nvPr/>
        </p:nvCxnSpPr>
        <p:spPr>
          <a:xfrm>
            <a:off x="8847000" y="3406680"/>
            <a:ext cx="205560" cy="6159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29" name="Connector 20"/>
          <p:cNvCxnSpPr/>
          <p:nvPr/>
        </p:nvCxnSpPr>
        <p:spPr>
          <a:xfrm flipH="1">
            <a:off x="9601200" y="3406680"/>
            <a:ext cx="205560" cy="6159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30" name="Connector 21"/>
          <p:cNvCxnSpPr/>
          <p:nvPr/>
        </p:nvCxnSpPr>
        <p:spPr>
          <a:xfrm>
            <a:off x="9852840" y="3406680"/>
            <a:ext cx="205560" cy="6159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31" name="Connector 22"/>
          <p:cNvCxnSpPr/>
          <p:nvPr/>
        </p:nvCxnSpPr>
        <p:spPr>
          <a:xfrm flipH="1">
            <a:off x="6446880" y="4163760"/>
            <a:ext cx="102240" cy="6105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32" name="Connector 23"/>
          <p:cNvCxnSpPr/>
          <p:nvPr/>
        </p:nvCxnSpPr>
        <p:spPr>
          <a:xfrm>
            <a:off x="6572520" y="4163760"/>
            <a:ext cx="102240" cy="6105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33" name="Connector 24"/>
          <p:cNvCxnSpPr/>
          <p:nvPr/>
        </p:nvCxnSpPr>
        <p:spPr>
          <a:xfrm flipH="1">
            <a:off x="6949800" y="4163760"/>
            <a:ext cx="102240" cy="6105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34" name="Connector 25"/>
          <p:cNvCxnSpPr/>
          <p:nvPr/>
        </p:nvCxnSpPr>
        <p:spPr>
          <a:xfrm>
            <a:off x="7075440" y="4163760"/>
            <a:ext cx="102240" cy="6105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35" name="Connector 26"/>
          <p:cNvCxnSpPr/>
          <p:nvPr/>
        </p:nvCxnSpPr>
        <p:spPr>
          <a:xfrm flipH="1">
            <a:off x="7452720" y="4163760"/>
            <a:ext cx="102240" cy="6105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36" name="Connector 27"/>
          <p:cNvCxnSpPr/>
          <p:nvPr/>
        </p:nvCxnSpPr>
        <p:spPr>
          <a:xfrm>
            <a:off x="7578360" y="4163760"/>
            <a:ext cx="102240" cy="6105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37" name="Connector 28"/>
          <p:cNvCxnSpPr/>
          <p:nvPr/>
        </p:nvCxnSpPr>
        <p:spPr>
          <a:xfrm flipH="1">
            <a:off x="7955640" y="4163760"/>
            <a:ext cx="102240" cy="6105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38" name="Connector 29"/>
          <p:cNvCxnSpPr/>
          <p:nvPr/>
        </p:nvCxnSpPr>
        <p:spPr>
          <a:xfrm>
            <a:off x="8081280" y="4163760"/>
            <a:ext cx="102240" cy="6105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39" name="Connector 30"/>
          <p:cNvCxnSpPr/>
          <p:nvPr/>
        </p:nvCxnSpPr>
        <p:spPr>
          <a:xfrm flipH="1">
            <a:off x="8458560" y="4163760"/>
            <a:ext cx="102240" cy="6105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40" name="Connector 31"/>
          <p:cNvCxnSpPr/>
          <p:nvPr/>
        </p:nvCxnSpPr>
        <p:spPr>
          <a:xfrm>
            <a:off x="8584200" y="4163760"/>
            <a:ext cx="102240" cy="6105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41" name="Connector 32"/>
          <p:cNvCxnSpPr/>
          <p:nvPr/>
        </p:nvCxnSpPr>
        <p:spPr>
          <a:xfrm flipH="1">
            <a:off x="8961480" y="4163760"/>
            <a:ext cx="102240" cy="6105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42" name="Connector 33"/>
          <p:cNvCxnSpPr/>
          <p:nvPr/>
        </p:nvCxnSpPr>
        <p:spPr>
          <a:xfrm>
            <a:off x="9087120" y="4163760"/>
            <a:ext cx="102240" cy="6105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43" name="Connector 34"/>
          <p:cNvCxnSpPr/>
          <p:nvPr/>
        </p:nvCxnSpPr>
        <p:spPr>
          <a:xfrm flipH="1">
            <a:off x="9464400" y="4163760"/>
            <a:ext cx="102240" cy="6105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44" name="Connector 35"/>
          <p:cNvCxnSpPr/>
          <p:nvPr/>
        </p:nvCxnSpPr>
        <p:spPr>
          <a:xfrm>
            <a:off x="9590040" y="4163760"/>
            <a:ext cx="102240" cy="6105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45" name="Connector 36"/>
          <p:cNvCxnSpPr/>
          <p:nvPr/>
        </p:nvCxnSpPr>
        <p:spPr>
          <a:xfrm flipH="1">
            <a:off x="9967320" y="4163760"/>
            <a:ext cx="102240" cy="6105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46" name="Connector 37"/>
          <p:cNvCxnSpPr/>
          <p:nvPr/>
        </p:nvCxnSpPr>
        <p:spPr>
          <a:xfrm>
            <a:off x="10092960" y="4163760"/>
            <a:ext cx="102240" cy="6105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sp>
        <p:nvSpPr>
          <p:cNvPr id="1347" name="Oval 38"/>
          <p:cNvSpPr/>
          <p:nvPr/>
        </p:nvSpPr>
        <p:spPr>
          <a:xfrm>
            <a:off x="8247960" y="1755720"/>
            <a:ext cx="145800" cy="14580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8" name="Oval 39"/>
          <p:cNvSpPr/>
          <p:nvPr/>
        </p:nvSpPr>
        <p:spPr>
          <a:xfrm>
            <a:off x="7242120" y="250992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9" name="Oval 40"/>
          <p:cNvSpPr/>
          <p:nvPr/>
        </p:nvSpPr>
        <p:spPr>
          <a:xfrm>
            <a:off x="9253800" y="250992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0" name="Oval 41"/>
          <p:cNvSpPr/>
          <p:nvPr/>
        </p:nvSpPr>
        <p:spPr>
          <a:xfrm>
            <a:off x="6739200" y="326448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1" name="Oval 42"/>
          <p:cNvSpPr/>
          <p:nvPr/>
        </p:nvSpPr>
        <p:spPr>
          <a:xfrm>
            <a:off x="7745040" y="326448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2" name="Oval 43"/>
          <p:cNvSpPr/>
          <p:nvPr/>
        </p:nvSpPr>
        <p:spPr>
          <a:xfrm>
            <a:off x="8750880" y="326448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3" name="Oval 44"/>
          <p:cNvSpPr/>
          <p:nvPr/>
        </p:nvSpPr>
        <p:spPr>
          <a:xfrm>
            <a:off x="9756720" y="326448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4" name="Oval 45"/>
          <p:cNvSpPr/>
          <p:nvPr/>
        </p:nvSpPr>
        <p:spPr>
          <a:xfrm>
            <a:off x="6487560" y="401868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5" name="Oval 46"/>
          <p:cNvSpPr/>
          <p:nvPr/>
        </p:nvSpPr>
        <p:spPr>
          <a:xfrm>
            <a:off x="6990480" y="401868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6" name="Oval 47"/>
          <p:cNvSpPr/>
          <p:nvPr/>
        </p:nvSpPr>
        <p:spPr>
          <a:xfrm>
            <a:off x="7493400" y="401868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7" name="Oval 48"/>
          <p:cNvSpPr/>
          <p:nvPr/>
        </p:nvSpPr>
        <p:spPr>
          <a:xfrm>
            <a:off x="7996320" y="401868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8" name="Oval 49"/>
          <p:cNvSpPr/>
          <p:nvPr/>
        </p:nvSpPr>
        <p:spPr>
          <a:xfrm>
            <a:off x="8499240" y="401868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9" name="Oval 50"/>
          <p:cNvSpPr/>
          <p:nvPr/>
        </p:nvSpPr>
        <p:spPr>
          <a:xfrm>
            <a:off x="9002160" y="401868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0" name="Oval 51"/>
          <p:cNvSpPr/>
          <p:nvPr/>
        </p:nvSpPr>
        <p:spPr>
          <a:xfrm>
            <a:off x="9505080" y="401868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1" name="Oval 52"/>
          <p:cNvSpPr/>
          <p:nvPr/>
        </p:nvSpPr>
        <p:spPr>
          <a:xfrm>
            <a:off x="10008000" y="401868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2" name="Oval 53"/>
          <p:cNvSpPr/>
          <p:nvPr/>
        </p:nvSpPr>
        <p:spPr>
          <a:xfrm>
            <a:off x="6361920" y="477324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3" name="Oval 54"/>
          <p:cNvSpPr/>
          <p:nvPr/>
        </p:nvSpPr>
        <p:spPr>
          <a:xfrm>
            <a:off x="6613560" y="477324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4" name="Oval 55"/>
          <p:cNvSpPr/>
          <p:nvPr/>
        </p:nvSpPr>
        <p:spPr>
          <a:xfrm>
            <a:off x="6864840" y="477324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5" name="Oval 56"/>
          <p:cNvSpPr/>
          <p:nvPr/>
        </p:nvSpPr>
        <p:spPr>
          <a:xfrm>
            <a:off x="7116480" y="477324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6" name="Oval 57"/>
          <p:cNvSpPr/>
          <p:nvPr/>
        </p:nvSpPr>
        <p:spPr>
          <a:xfrm>
            <a:off x="7367760" y="477324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7" name="Oval 58"/>
          <p:cNvSpPr/>
          <p:nvPr/>
        </p:nvSpPr>
        <p:spPr>
          <a:xfrm>
            <a:off x="7619400" y="477324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8" name="Oval 59"/>
          <p:cNvSpPr/>
          <p:nvPr/>
        </p:nvSpPr>
        <p:spPr>
          <a:xfrm>
            <a:off x="7870680" y="477324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9" name="Oval 60"/>
          <p:cNvSpPr/>
          <p:nvPr/>
        </p:nvSpPr>
        <p:spPr>
          <a:xfrm>
            <a:off x="8122320" y="477324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0" name="Oval 61"/>
          <p:cNvSpPr/>
          <p:nvPr/>
        </p:nvSpPr>
        <p:spPr>
          <a:xfrm>
            <a:off x="8373600" y="477324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1" name="Oval 62"/>
          <p:cNvSpPr/>
          <p:nvPr/>
        </p:nvSpPr>
        <p:spPr>
          <a:xfrm>
            <a:off x="8625240" y="477324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2" name="Oval 63"/>
          <p:cNvSpPr/>
          <p:nvPr/>
        </p:nvSpPr>
        <p:spPr>
          <a:xfrm>
            <a:off x="8876520" y="477324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3" name="Oval 64"/>
          <p:cNvSpPr/>
          <p:nvPr/>
        </p:nvSpPr>
        <p:spPr>
          <a:xfrm>
            <a:off x="9128160" y="477324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4" name="Oval 65"/>
          <p:cNvSpPr/>
          <p:nvPr/>
        </p:nvSpPr>
        <p:spPr>
          <a:xfrm>
            <a:off x="9379440" y="477324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5" name="Oval 66"/>
          <p:cNvSpPr/>
          <p:nvPr/>
        </p:nvSpPr>
        <p:spPr>
          <a:xfrm>
            <a:off x="9631080" y="477324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6" name="Oval 67"/>
          <p:cNvSpPr/>
          <p:nvPr/>
        </p:nvSpPr>
        <p:spPr>
          <a:xfrm>
            <a:off x="9882360" y="477324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7" name="Oval 68"/>
          <p:cNvSpPr/>
          <p:nvPr/>
        </p:nvSpPr>
        <p:spPr>
          <a:xfrm>
            <a:off x="10134000" y="4773240"/>
            <a:ext cx="145800" cy="14580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8" name="TextBox 69"/>
          <p:cNvSpPr/>
          <p:nvPr/>
        </p:nvSpPr>
        <p:spPr>
          <a:xfrm>
            <a:off x="10652760" y="168264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9" name="TextBox 70"/>
          <p:cNvSpPr/>
          <p:nvPr/>
        </p:nvSpPr>
        <p:spPr>
          <a:xfrm>
            <a:off x="10652760" y="243684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0" name="TextBox 71"/>
          <p:cNvSpPr/>
          <p:nvPr/>
        </p:nvSpPr>
        <p:spPr>
          <a:xfrm>
            <a:off x="10652760" y="31914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1" name="TextBox 72"/>
          <p:cNvSpPr/>
          <p:nvPr/>
        </p:nvSpPr>
        <p:spPr>
          <a:xfrm>
            <a:off x="10652760" y="39456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8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2" name="TextBox 73"/>
          <p:cNvSpPr/>
          <p:nvPr/>
        </p:nvSpPr>
        <p:spPr>
          <a:xfrm>
            <a:off x="10652760" y="470016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16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3" name="TextBox 74"/>
          <p:cNvSpPr/>
          <p:nvPr/>
        </p:nvSpPr>
        <p:spPr>
          <a:xfrm>
            <a:off x="10012680" y="5074920"/>
            <a:ext cx="1508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вершин на уровне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5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86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387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TOPPING ET AL., 2022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8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Bottleneck в графе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9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0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1391" name="Connector 8"/>
          <p:cNvCxnSpPr/>
          <p:nvPr/>
        </p:nvCxnSpPr>
        <p:spPr>
          <a:xfrm>
            <a:off x="3252960" y="2732400"/>
            <a:ext cx="1229040" cy="1954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92" name="Connector 9"/>
          <p:cNvCxnSpPr/>
          <p:nvPr/>
        </p:nvCxnSpPr>
        <p:spPr>
          <a:xfrm>
            <a:off x="3238920" y="2777400"/>
            <a:ext cx="1257120" cy="59940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93" name="Connector 10"/>
          <p:cNvCxnSpPr/>
          <p:nvPr/>
        </p:nvCxnSpPr>
        <p:spPr>
          <a:xfrm>
            <a:off x="3090600" y="2871000"/>
            <a:ext cx="360" cy="65880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94" name="Connector 11"/>
          <p:cNvCxnSpPr/>
          <p:nvPr/>
        </p:nvCxnSpPr>
        <p:spPr>
          <a:xfrm flipH="1">
            <a:off x="1685520" y="2777400"/>
            <a:ext cx="1256760" cy="59940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95" name="Connector 12"/>
          <p:cNvCxnSpPr/>
          <p:nvPr/>
        </p:nvCxnSpPr>
        <p:spPr>
          <a:xfrm flipH="1">
            <a:off x="1699200" y="2732400"/>
            <a:ext cx="1229040" cy="1954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96" name="Connector 13"/>
          <p:cNvCxnSpPr/>
          <p:nvPr/>
        </p:nvCxnSpPr>
        <p:spPr>
          <a:xfrm>
            <a:off x="4644360" y="3117960"/>
            <a:ext cx="360" cy="1648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97" name="Connector 14"/>
          <p:cNvCxnSpPr/>
          <p:nvPr/>
        </p:nvCxnSpPr>
        <p:spPr>
          <a:xfrm flipH="1">
            <a:off x="3238920" y="3024000"/>
            <a:ext cx="1257120" cy="59940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98" name="Connector 15"/>
          <p:cNvCxnSpPr/>
          <p:nvPr/>
        </p:nvCxnSpPr>
        <p:spPr>
          <a:xfrm flipH="1">
            <a:off x="1699200" y="2979000"/>
            <a:ext cx="2782800" cy="44280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399" name="Connector 16"/>
          <p:cNvCxnSpPr/>
          <p:nvPr/>
        </p:nvCxnSpPr>
        <p:spPr>
          <a:xfrm flipH="1">
            <a:off x="1701360" y="2953440"/>
            <a:ext cx="2778480" cy="3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00" name="Connector 17"/>
          <p:cNvCxnSpPr/>
          <p:nvPr/>
        </p:nvCxnSpPr>
        <p:spPr>
          <a:xfrm flipH="1">
            <a:off x="3252960" y="3472920"/>
            <a:ext cx="1229040" cy="1954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01" name="Connector 18"/>
          <p:cNvCxnSpPr/>
          <p:nvPr/>
        </p:nvCxnSpPr>
        <p:spPr>
          <a:xfrm flipH="1">
            <a:off x="1701360" y="3447000"/>
            <a:ext cx="2778480" cy="3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02" name="Connector 19"/>
          <p:cNvCxnSpPr/>
          <p:nvPr/>
        </p:nvCxnSpPr>
        <p:spPr>
          <a:xfrm flipH="1" flipV="1">
            <a:off x="1699200" y="2979000"/>
            <a:ext cx="2782800" cy="44280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03" name="Connector 20"/>
          <p:cNvCxnSpPr/>
          <p:nvPr/>
        </p:nvCxnSpPr>
        <p:spPr>
          <a:xfrm flipH="1" flipV="1">
            <a:off x="1699200" y="3472920"/>
            <a:ext cx="1229040" cy="1954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04" name="Connector 21"/>
          <p:cNvCxnSpPr/>
          <p:nvPr/>
        </p:nvCxnSpPr>
        <p:spPr>
          <a:xfrm flipH="1" flipV="1">
            <a:off x="1685520" y="3024000"/>
            <a:ext cx="1256760" cy="59940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05" name="Connector 22"/>
          <p:cNvCxnSpPr/>
          <p:nvPr/>
        </p:nvCxnSpPr>
        <p:spPr>
          <a:xfrm flipV="1">
            <a:off x="1536840" y="3117960"/>
            <a:ext cx="360" cy="1648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06" name="Connector 23"/>
          <p:cNvCxnSpPr/>
          <p:nvPr/>
        </p:nvCxnSpPr>
        <p:spPr>
          <a:xfrm>
            <a:off x="9233280" y="2732400"/>
            <a:ext cx="1229040" cy="1954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07" name="Connector 24"/>
          <p:cNvCxnSpPr/>
          <p:nvPr/>
        </p:nvCxnSpPr>
        <p:spPr>
          <a:xfrm>
            <a:off x="9219240" y="2777400"/>
            <a:ext cx="1256760" cy="59940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08" name="Connector 25"/>
          <p:cNvCxnSpPr/>
          <p:nvPr/>
        </p:nvCxnSpPr>
        <p:spPr>
          <a:xfrm>
            <a:off x="9070560" y="2871000"/>
            <a:ext cx="360" cy="65880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09" name="Connector 26"/>
          <p:cNvCxnSpPr/>
          <p:nvPr/>
        </p:nvCxnSpPr>
        <p:spPr>
          <a:xfrm flipH="1">
            <a:off x="7665480" y="2777400"/>
            <a:ext cx="1257120" cy="59940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10" name="Connector 27"/>
          <p:cNvCxnSpPr/>
          <p:nvPr/>
        </p:nvCxnSpPr>
        <p:spPr>
          <a:xfrm flipH="1">
            <a:off x="7679520" y="2732400"/>
            <a:ext cx="1229040" cy="1954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11" name="Connector 28"/>
          <p:cNvCxnSpPr/>
          <p:nvPr/>
        </p:nvCxnSpPr>
        <p:spPr>
          <a:xfrm>
            <a:off x="10624320" y="3117960"/>
            <a:ext cx="360" cy="1648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12" name="Connector 29"/>
          <p:cNvCxnSpPr/>
          <p:nvPr/>
        </p:nvCxnSpPr>
        <p:spPr>
          <a:xfrm flipH="1">
            <a:off x="9219240" y="3024000"/>
            <a:ext cx="1256760" cy="59940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13" name="Connector 30"/>
          <p:cNvCxnSpPr/>
          <p:nvPr/>
        </p:nvCxnSpPr>
        <p:spPr>
          <a:xfrm flipH="1">
            <a:off x="7679520" y="2979000"/>
            <a:ext cx="2782800" cy="44280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14" name="Connector 31"/>
          <p:cNvCxnSpPr/>
          <p:nvPr/>
        </p:nvCxnSpPr>
        <p:spPr>
          <a:xfrm flipH="1">
            <a:off x="7681680" y="2953440"/>
            <a:ext cx="2778480" cy="3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15" name="Connector 32"/>
          <p:cNvCxnSpPr/>
          <p:nvPr/>
        </p:nvCxnSpPr>
        <p:spPr>
          <a:xfrm flipH="1">
            <a:off x="9233280" y="3472920"/>
            <a:ext cx="1229040" cy="1954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16" name="Connector 33"/>
          <p:cNvCxnSpPr/>
          <p:nvPr/>
        </p:nvCxnSpPr>
        <p:spPr>
          <a:xfrm flipH="1">
            <a:off x="7681680" y="3447000"/>
            <a:ext cx="2778480" cy="3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17" name="Connector 34"/>
          <p:cNvCxnSpPr/>
          <p:nvPr/>
        </p:nvCxnSpPr>
        <p:spPr>
          <a:xfrm flipH="1" flipV="1">
            <a:off x="7679520" y="2979000"/>
            <a:ext cx="2782800" cy="44280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18" name="Connector 35"/>
          <p:cNvCxnSpPr/>
          <p:nvPr/>
        </p:nvCxnSpPr>
        <p:spPr>
          <a:xfrm flipH="1" flipV="1">
            <a:off x="7679520" y="3472920"/>
            <a:ext cx="1229040" cy="1954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19" name="Connector 36"/>
          <p:cNvCxnSpPr/>
          <p:nvPr/>
        </p:nvCxnSpPr>
        <p:spPr>
          <a:xfrm flipH="1" flipV="1">
            <a:off x="7665480" y="3024000"/>
            <a:ext cx="1257120" cy="59940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20" name="Connector 37"/>
          <p:cNvCxnSpPr/>
          <p:nvPr/>
        </p:nvCxnSpPr>
        <p:spPr>
          <a:xfrm flipV="1">
            <a:off x="7516800" y="3117960"/>
            <a:ext cx="360" cy="1648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21" name="Connector 38"/>
          <p:cNvCxnSpPr/>
          <p:nvPr/>
        </p:nvCxnSpPr>
        <p:spPr>
          <a:xfrm>
            <a:off x="4806360" y="2981160"/>
            <a:ext cx="2548800" cy="438480"/>
          </a:xfrm>
          <a:prstGeom prst="straightConnector1">
            <a:avLst/>
          </a:prstGeom>
          <a:ln w="22225">
            <a:solidFill>
              <a:srgbClr val="e07a3f"/>
            </a:solidFill>
            <a:round/>
          </a:ln>
        </p:spPr>
      </p:cxnSp>
      <p:sp>
        <p:nvSpPr>
          <p:cNvPr id="1422" name="Oval 39"/>
          <p:cNvSpPr/>
          <p:nvPr/>
        </p:nvSpPr>
        <p:spPr>
          <a:xfrm>
            <a:off x="2926080" y="254196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3" name="Oval 40"/>
          <p:cNvSpPr/>
          <p:nvPr/>
        </p:nvSpPr>
        <p:spPr>
          <a:xfrm>
            <a:off x="4479840" y="278892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4" name="Oval 41"/>
          <p:cNvSpPr/>
          <p:nvPr/>
        </p:nvSpPr>
        <p:spPr>
          <a:xfrm>
            <a:off x="4479840" y="328284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5" name="Oval 42"/>
          <p:cNvSpPr/>
          <p:nvPr/>
        </p:nvSpPr>
        <p:spPr>
          <a:xfrm>
            <a:off x="2926080" y="352944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6" name="Oval 43"/>
          <p:cNvSpPr/>
          <p:nvPr/>
        </p:nvSpPr>
        <p:spPr>
          <a:xfrm>
            <a:off x="1372320" y="328284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7" name="Oval 44"/>
          <p:cNvSpPr/>
          <p:nvPr/>
        </p:nvSpPr>
        <p:spPr>
          <a:xfrm>
            <a:off x="1372320" y="278892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8" name="Oval 45"/>
          <p:cNvSpPr/>
          <p:nvPr/>
        </p:nvSpPr>
        <p:spPr>
          <a:xfrm>
            <a:off x="8906400" y="254196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9" name="Oval 46"/>
          <p:cNvSpPr/>
          <p:nvPr/>
        </p:nvSpPr>
        <p:spPr>
          <a:xfrm>
            <a:off x="10459800" y="278892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0" name="Oval 47"/>
          <p:cNvSpPr/>
          <p:nvPr/>
        </p:nvSpPr>
        <p:spPr>
          <a:xfrm>
            <a:off x="10459800" y="328284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1" name="Oval 48"/>
          <p:cNvSpPr/>
          <p:nvPr/>
        </p:nvSpPr>
        <p:spPr>
          <a:xfrm>
            <a:off x="8906400" y="352944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2" name="Oval 49"/>
          <p:cNvSpPr/>
          <p:nvPr/>
        </p:nvSpPr>
        <p:spPr>
          <a:xfrm>
            <a:off x="7352640" y="328284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3" name="Oval 50"/>
          <p:cNvSpPr/>
          <p:nvPr/>
        </p:nvSpPr>
        <p:spPr>
          <a:xfrm>
            <a:off x="7352640" y="278892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4" name="TextBox 51"/>
          <p:cNvSpPr/>
          <p:nvPr/>
        </p:nvSpPr>
        <p:spPr>
          <a:xfrm>
            <a:off x="640080" y="493776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5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Всё, что левый кластер знает о правом, идёт через одно ребро — и упаковывается в вектор одной вершины. Чем больше информации нужно передать, тем сильнее она теряется в этом bottleneck.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6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37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438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ПО ALON &amp; YAHAV, 2021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9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Опыт: найди значение по ключу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0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1" name="TextBox 7"/>
          <p:cNvSpPr/>
          <p:nvPr/>
        </p:nvSpPr>
        <p:spPr>
          <a:xfrm>
            <a:off x="640080" y="1481400"/>
            <a:ext cx="54860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Бинарное дерево глубины r; у каждого листа ключ и значение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У корня — ключ; ответ — значение листа с тем же ключом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У GNN ровно r слоёв — этого хватает, чтобы сигнал от листьев дошёл до корня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Если сеть ошибается, дело не в радиусе: по Alon &amp; Yahav — всё не влезает в вектор корня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42" name="Connector 8"/>
          <p:cNvCxnSpPr/>
          <p:nvPr/>
        </p:nvCxnSpPr>
        <p:spPr>
          <a:xfrm flipH="1">
            <a:off x="7969680" y="2352960"/>
            <a:ext cx="748440" cy="7804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443" name="Connector 9"/>
          <p:cNvCxnSpPr/>
          <p:nvPr/>
        </p:nvCxnSpPr>
        <p:spPr>
          <a:xfrm>
            <a:off x="9021240" y="2352960"/>
            <a:ext cx="748440" cy="78048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1444" name="Connector 10"/>
          <p:cNvCxnSpPr/>
          <p:nvPr/>
        </p:nvCxnSpPr>
        <p:spPr>
          <a:xfrm flipH="1">
            <a:off x="7386840" y="3489480"/>
            <a:ext cx="336600" cy="7020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445" name="Connector 11"/>
          <p:cNvCxnSpPr/>
          <p:nvPr/>
        </p:nvCxnSpPr>
        <p:spPr>
          <a:xfrm>
            <a:off x="7912800" y="3489480"/>
            <a:ext cx="336600" cy="7020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446" name="Connector 12"/>
          <p:cNvCxnSpPr/>
          <p:nvPr/>
        </p:nvCxnSpPr>
        <p:spPr>
          <a:xfrm flipH="1">
            <a:off x="9489960" y="3489480"/>
            <a:ext cx="336600" cy="70200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1447" name="Connector 13"/>
          <p:cNvCxnSpPr/>
          <p:nvPr/>
        </p:nvCxnSpPr>
        <p:spPr>
          <a:xfrm>
            <a:off x="10015920" y="3489480"/>
            <a:ext cx="336600" cy="7020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448" name="Oval 14"/>
          <p:cNvSpPr/>
          <p:nvPr/>
        </p:nvSpPr>
        <p:spPr>
          <a:xfrm>
            <a:off x="8650080" y="1974960"/>
            <a:ext cx="438480" cy="43848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9" name="Oval 15"/>
          <p:cNvSpPr/>
          <p:nvPr/>
        </p:nvSpPr>
        <p:spPr>
          <a:xfrm>
            <a:off x="7598520" y="3072240"/>
            <a:ext cx="438480" cy="4384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0" name="Oval 16"/>
          <p:cNvSpPr/>
          <p:nvPr/>
        </p:nvSpPr>
        <p:spPr>
          <a:xfrm>
            <a:off x="9701640" y="3072240"/>
            <a:ext cx="438480" cy="4384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1" name="Oval 17"/>
          <p:cNvSpPr/>
          <p:nvPr/>
        </p:nvSpPr>
        <p:spPr>
          <a:xfrm>
            <a:off x="7072920" y="4169520"/>
            <a:ext cx="438480" cy="4384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3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2" name="Oval 18"/>
          <p:cNvSpPr/>
          <p:nvPr/>
        </p:nvSpPr>
        <p:spPr>
          <a:xfrm>
            <a:off x="8124480" y="4169520"/>
            <a:ext cx="438480" cy="4384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0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3" name="Oval 19"/>
          <p:cNvSpPr/>
          <p:nvPr/>
        </p:nvSpPr>
        <p:spPr>
          <a:xfrm>
            <a:off x="9176040" y="4169520"/>
            <a:ext cx="438480" cy="4384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4" name="Oval 20"/>
          <p:cNvSpPr/>
          <p:nvPr/>
        </p:nvSpPr>
        <p:spPr>
          <a:xfrm>
            <a:off x="10227600" y="4169520"/>
            <a:ext cx="438480" cy="4384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1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5" name="TextBox 21"/>
          <p:cNvSpPr/>
          <p:nvPr/>
        </p:nvSpPr>
        <p:spPr>
          <a:xfrm>
            <a:off x="7955280" y="173736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ключ корня: 2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6" name="TextBox 22"/>
          <p:cNvSpPr/>
          <p:nvPr/>
        </p:nvSpPr>
        <p:spPr>
          <a:xfrm>
            <a:off x="6743880" y="466344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значение B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7" name="TextBox 23"/>
          <p:cNvSpPr/>
          <p:nvPr/>
        </p:nvSpPr>
        <p:spPr>
          <a:xfrm>
            <a:off x="7795440" y="466344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значение A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8" name="TextBox 24"/>
          <p:cNvSpPr/>
          <p:nvPr/>
        </p:nvSpPr>
        <p:spPr>
          <a:xfrm>
            <a:off x="8847000" y="466344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значение D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9" name="TextBox 25"/>
          <p:cNvSpPr/>
          <p:nvPr/>
        </p:nvSpPr>
        <p:spPr>
          <a:xfrm>
            <a:off x="9898560" y="466344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значение C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0" name="TextBox 26"/>
          <p:cNvSpPr/>
          <p:nvPr/>
        </p:nvSpPr>
        <p:spPr>
          <a:xfrm>
            <a:off x="6400800" y="512064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Ответ здесь — D: лист с ключом 2. В опыте значений столько же, сколько листьев, а вектор корня — 32 числа.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2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63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464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ОПЫТ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5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Глубже дерево — хуже точность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6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67" name="Picture 7" descr="l04_oversquashing.png"/>
          <p:cNvPicPr/>
          <p:nvPr/>
        </p:nvPicPr>
        <p:blipFill>
          <a:blip r:embed="rId1"/>
          <a:stretch/>
        </p:blipFill>
        <p:spPr>
          <a:xfrm>
            <a:off x="2910600" y="1481400"/>
            <a:ext cx="6369840" cy="301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8" name="TextBox 8"/>
          <p:cNvSpPr/>
          <p:nvPr/>
        </p:nvSpPr>
        <p:spPr>
          <a:xfrm>
            <a:off x="640080" y="472752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На новых деревьях точность падает с 0.63 при 4 листьях до 0.016 при 64 — уровень угадывания. Падает и точность на обучающих деревьях: сеть не может уложить ответы даже для деревьев, которые видела.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0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71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472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REWIRING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3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Как с этим борются?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4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5" name="TextBox 7"/>
          <p:cNvSpPr/>
          <p:nvPr/>
        </p:nvSpPr>
        <p:spPr>
          <a:xfrm>
            <a:off x="640080" y="1481400"/>
            <a:ext cx="54860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Rewiring: добавить рёбра в обход bottleneck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499"/>
              </a:spcAft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      –   информации больше не нужно протискиваться через одно ребро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Virtual node: новая вершина, связанная со всеми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499"/>
              </a:spcAft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      –   любые две вершины на расстоянии не больше двух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Плата: граф меняется — можно сломать то, что было важно в исходной структуре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76" name="Connector 8"/>
          <p:cNvCxnSpPr/>
          <p:nvPr/>
        </p:nvCxnSpPr>
        <p:spPr>
          <a:xfrm>
            <a:off x="7576920" y="2662920"/>
            <a:ext cx="501120" cy="14724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77" name="Connector 9"/>
          <p:cNvCxnSpPr/>
          <p:nvPr/>
        </p:nvCxnSpPr>
        <p:spPr>
          <a:xfrm>
            <a:off x="7548480" y="2715120"/>
            <a:ext cx="558000" cy="4906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78" name="Connector 10"/>
          <p:cNvCxnSpPr/>
          <p:nvPr/>
        </p:nvCxnSpPr>
        <p:spPr>
          <a:xfrm>
            <a:off x="7445520" y="2761560"/>
            <a:ext cx="360" cy="6213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79" name="Connector 11"/>
          <p:cNvCxnSpPr/>
          <p:nvPr/>
        </p:nvCxnSpPr>
        <p:spPr>
          <a:xfrm flipH="1">
            <a:off x="6784560" y="2715120"/>
            <a:ext cx="558360" cy="4906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80" name="Connector 12"/>
          <p:cNvCxnSpPr/>
          <p:nvPr/>
        </p:nvCxnSpPr>
        <p:spPr>
          <a:xfrm flipH="1">
            <a:off x="6813360" y="2662920"/>
            <a:ext cx="500760" cy="14724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81" name="Connector 13"/>
          <p:cNvCxnSpPr/>
          <p:nvPr/>
        </p:nvCxnSpPr>
        <p:spPr>
          <a:xfrm>
            <a:off x="8209080" y="2985480"/>
            <a:ext cx="360" cy="1738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82" name="Connector 14"/>
          <p:cNvCxnSpPr/>
          <p:nvPr/>
        </p:nvCxnSpPr>
        <p:spPr>
          <a:xfrm flipH="1">
            <a:off x="7548480" y="2939040"/>
            <a:ext cx="558000" cy="4906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83" name="Connector 15"/>
          <p:cNvCxnSpPr/>
          <p:nvPr/>
        </p:nvCxnSpPr>
        <p:spPr>
          <a:xfrm flipH="1">
            <a:off x="6813360" y="2886840"/>
            <a:ext cx="1264680" cy="3711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84" name="Connector 16"/>
          <p:cNvCxnSpPr/>
          <p:nvPr/>
        </p:nvCxnSpPr>
        <p:spPr>
          <a:xfrm flipH="1">
            <a:off x="6818760" y="2848320"/>
            <a:ext cx="1253520" cy="3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85" name="Connector 17"/>
          <p:cNvCxnSpPr/>
          <p:nvPr/>
        </p:nvCxnSpPr>
        <p:spPr>
          <a:xfrm flipH="1">
            <a:off x="7576920" y="3334680"/>
            <a:ext cx="501120" cy="1468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86" name="Connector 18"/>
          <p:cNvCxnSpPr/>
          <p:nvPr/>
        </p:nvCxnSpPr>
        <p:spPr>
          <a:xfrm flipH="1">
            <a:off x="6818760" y="3296160"/>
            <a:ext cx="1253520" cy="3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87" name="Connector 19"/>
          <p:cNvCxnSpPr/>
          <p:nvPr/>
        </p:nvCxnSpPr>
        <p:spPr>
          <a:xfrm flipH="1" flipV="1">
            <a:off x="6813360" y="2886840"/>
            <a:ext cx="1264680" cy="3711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88" name="Connector 20"/>
          <p:cNvCxnSpPr/>
          <p:nvPr/>
        </p:nvCxnSpPr>
        <p:spPr>
          <a:xfrm flipH="1" flipV="1">
            <a:off x="6813360" y="3334680"/>
            <a:ext cx="500760" cy="1468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89" name="Connector 21"/>
          <p:cNvCxnSpPr/>
          <p:nvPr/>
        </p:nvCxnSpPr>
        <p:spPr>
          <a:xfrm flipH="1" flipV="1">
            <a:off x="6784560" y="2939040"/>
            <a:ext cx="558360" cy="4906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90" name="Connector 22"/>
          <p:cNvCxnSpPr/>
          <p:nvPr/>
        </p:nvCxnSpPr>
        <p:spPr>
          <a:xfrm flipV="1">
            <a:off x="6681600" y="2985480"/>
            <a:ext cx="360" cy="1738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91" name="Connector 23"/>
          <p:cNvCxnSpPr/>
          <p:nvPr/>
        </p:nvCxnSpPr>
        <p:spPr>
          <a:xfrm>
            <a:off x="10516680" y="2662920"/>
            <a:ext cx="500760" cy="14724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92" name="Connector 24"/>
          <p:cNvCxnSpPr/>
          <p:nvPr/>
        </p:nvCxnSpPr>
        <p:spPr>
          <a:xfrm>
            <a:off x="10487880" y="2715120"/>
            <a:ext cx="558360" cy="4906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93" name="Connector 25"/>
          <p:cNvCxnSpPr/>
          <p:nvPr/>
        </p:nvCxnSpPr>
        <p:spPr>
          <a:xfrm>
            <a:off x="10384920" y="2761560"/>
            <a:ext cx="360" cy="6213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94" name="Connector 26"/>
          <p:cNvCxnSpPr/>
          <p:nvPr/>
        </p:nvCxnSpPr>
        <p:spPr>
          <a:xfrm flipH="1">
            <a:off x="9724320" y="2715120"/>
            <a:ext cx="558000" cy="4906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95" name="Connector 27"/>
          <p:cNvCxnSpPr/>
          <p:nvPr/>
        </p:nvCxnSpPr>
        <p:spPr>
          <a:xfrm flipH="1">
            <a:off x="9752760" y="2662920"/>
            <a:ext cx="501120" cy="14724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96" name="Connector 28"/>
          <p:cNvCxnSpPr/>
          <p:nvPr/>
        </p:nvCxnSpPr>
        <p:spPr>
          <a:xfrm>
            <a:off x="11148840" y="2985480"/>
            <a:ext cx="360" cy="1738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97" name="Connector 29"/>
          <p:cNvCxnSpPr/>
          <p:nvPr/>
        </p:nvCxnSpPr>
        <p:spPr>
          <a:xfrm flipH="1">
            <a:off x="10487880" y="2939040"/>
            <a:ext cx="558360" cy="4906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98" name="Connector 30"/>
          <p:cNvCxnSpPr/>
          <p:nvPr/>
        </p:nvCxnSpPr>
        <p:spPr>
          <a:xfrm flipH="1">
            <a:off x="9752760" y="2886840"/>
            <a:ext cx="1264680" cy="3711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499" name="Connector 31"/>
          <p:cNvCxnSpPr/>
          <p:nvPr/>
        </p:nvCxnSpPr>
        <p:spPr>
          <a:xfrm flipH="1">
            <a:off x="9758520" y="2848320"/>
            <a:ext cx="1253520" cy="3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500" name="Connector 32"/>
          <p:cNvCxnSpPr/>
          <p:nvPr/>
        </p:nvCxnSpPr>
        <p:spPr>
          <a:xfrm flipH="1">
            <a:off x="10516680" y="3334680"/>
            <a:ext cx="500760" cy="1468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501" name="Connector 33"/>
          <p:cNvCxnSpPr/>
          <p:nvPr/>
        </p:nvCxnSpPr>
        <p:spPr>
          <a:xfrm flipH="1">
            <a:off x="9758520" y="3296160"/>
            <a:ext cx="1253520" cy="3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502" name="Connector 34"/>
          <p:cNvCxnSpPr/>
          <p:nvPr/>
        </p:nvCxnSpPr>
        <p:spPr>
          <a:xfrm flipH="1" flipV="1">
            <a:off x="9752760" y="2886840"/>
            <a:ext cx="1264680" cy="37116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503" name="Connector 35"/>
          <p:cNvCxnSpPr/>
          <p:nvPr/>
        </p:nvCxnSpPr>
        <p:spPr>
          <a:xfrm flipH="1" flipV="1">
            <a:off x="9752760" y="3334680"/>
            <a:ext cx="501120" cy="1468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504" name="Connector 36"/>
          <p:cNvCxnSpPr/>
          <p:nvPr/>
        </p:nvCxnSpPr>
        <p:spPr>
          <a:xfrm flipH="1" flipV="1">
            <a:off x="9724320" y="2939040"/>
            <a:ext cx="558000" cy="4906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505" name="Connector 37"/>
          <p:cNvCxnSpPr/>
          <p:nvPr/>
        </p:nvCxnSpPr>
        <p:spPr>
          <a:xfrm flipV="1">
            <a:off x="9621360" y="2985480"/>
            <a:ext cx="360" cy="1738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506" name="Connector 38"/>
          <p:cNvCxnSpPr/>
          <p:nvPr/>
        </p:nvCxnSpPr>
        <p:spPr>
          <a:xfrm>
            <a:off x="8339760" y="2889720"/>
            <a:ext cx="1151280" cy="36540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507" name="Connector 39"/>
          <p:cNvCxnSpPr/>
          <p:nvPr/>
        </p:nvCxnSpPr>
        <p:spPr>
          <a:xfrm>
            <a:off x="7581960" y="2638440"/>
            <a:ext cx="1903320" cy="196200"/>
          </a:xfrm>
          <a:prstGeom prst="straightConnector1">
            <a:avLst/>
          </a:prstGeom>
          <a:ln w="22225">
            <a:solidFill>
              <a:srgbClr val="e07a3f"/>
            </a:solidFill>
            <a:round/>
          </a:ln>
        </p:spPr>
      </p:cxnSp>
      <p:cxnSp>
        <p:nvCxnSpPr>
          <p:cNvPr id="1508" name="Connector 40"/>
          <p:cNvCxnSpPr/>
          <p:nvPr/>
        </p:nvCxnSpPr>
        <p:spPr>
          <a:xfrm>
            <a:off x="8345520" y="3310200"/>
            <a:ext cx="1903320" cy="195840"/>
          </a:xfrm>
          <a:prstGeom prst="straightConnector1">
            <a:avLst/>
          </a:prstGeom>
          <a:ln w="22225">
            <a:solidFill>
              <a:srgbClr val="e07a3f"/>
            </a:solidFill>
            <a:round/>
          </a:ln>
        </p:spPr>
      </p:cxnSp>
      <p:cxnSp>
        <p:nvCxnSpPr>
          <p:cNvPr id="1509" name="Connector 41"/>
          <p:cNvCxnSpPr/>
          <p:nvPr/>
        </p:nvCxnSpPr>
        <p:spPr>
          <a:xfrm flipH="1" flipV="1">
            <a:off x="8271000" y="3418560"/>
            <a:ext cx="582480" cy="114840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510" name="Connector 42"/>
          <p:cNvCxnSpPr/>
          <p:nvPr/>
        </p:nvCxnSpPr>
        <p:spPr>
          <a:xfrm flipH="1" flipV="1">
            <a:off x="7552800" y="3605400"/>
            <a:ext cx="1255320" cy="9982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511" name="Connector 43"/>
          <p:cNvCxnSpPr/>
          <p:nvPr/>
        </p:nvCxnSpPr>
        <p:spPr>
          <a:xfrm flipV="1">
            <a:off x="9031680" y="3368520"/>
            <a:ext cx="2000880" cy="124812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cxnSp>
        <p:nvCxnSpPr>
          <p:cNvPr id="1512" name="Connector 44"/>
          <p:cNvCxnSpPr/>
          <p:nvPr/>
        </p:nvCxnSpPr>
        <p:spPr>
          <a:xfrm flipV="1">
            <a:off x="9022680" y="3605400"/>
            <a:ext cx="1255320" cy="998280"/>
          </a:xfrm>
          <a:prstGeom prst="straightConnector1">
            <a:avLst/>
          </a:prstGeom>
          <a:ln w="12700">
            <a:solidFill>
              <a:srgbClr val="b6c1d1"/>
            </a:solidFill>
            <a:round/>
          </a:ln>
        </p:spPr>
      </p:cxnSp>
      <p:sp>
        <p:nvSpPr>
          <p:cNvPr id="1513" name="Oval 45"/>
          <p:cNvSpPr/>
          <p:nvPr/>
        </p:nvSpPr>
        <p:spPr>
          <a:xfrm>
            <a:off x="7308360" y="248760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4" name="Oval 46"/>
          <p:cNvSpPr/>
          <p:nvPr/>
        </p:nvSpPr>
        <p:spPr>
          <a:xfrm>
            <a:off x="8072280" y="271152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5" name="Oval 47"/>
          <p:cNvSpPr/>
          <p:nvPr/>
        </p:nvSpPr>
        <p:spPr>
          <a:xfrm>
            <a:off x="8072280" y="315900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6" name="Oval 48"/>
          <p:cNvSpPr/>
          <p:nvPr/>
        </p:nvSpPr>
        <p:spPr>
          <a:xfrm>
            <a:off x="7308360" y="338292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7" name="Oval 49"/>
          <p:cNvSpPr/>
          <p:nvPr/>
        </p:nvSpPr>
        <p:spPr>
          <a:xfrm>
            <a:off x="6544800" y="315900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8" name="Oval 50"/>
          <p:cNvSpPr/>
          <p:nvPr/>
        </p:nvSpPr>
        <p:spPr>
          <a:xfrm>
            <a:off x="6544800" y="271152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9" name="Oval 51"/>
          <p:cNvSpPr/>
          <p:nvPr/>
        </p:nvSpPr>
        <p:spPr>
          <a:xfrm>
            <a:off x="10248120" y="248760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0" name="Oval 52"/>
          <p:cNvSpPr/>
          <p:nvPr/>
        </p:nvSpPr>
        <p:spPr>
          <a:xfrm>
            <a:off x="11011680" y="271152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1" name="Oval 53"/>
          <p:cNvSpPr/>
          <p:nvPr/>
        </p:nvSpPr>
        <p:spPr>
          <a:xfrm>
            <a:off x="11011680" y="315900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2" name="Oval 54"/>
          <p:cNvSpPr/>
          <p:nvPr/>
        </p:nvSpPr>
        <p:spPr>
          <a:xfrm>
            <a:off x="10248120" y="338292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3" name="Oval 55"/>
          <p:cNvSpPr/>
          <p:nvPr/>
        </p:nvSpPr>
        <p:spPr>
          <a:xfrm>
            <a:off x="9484200" y="315900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4" name="Oval 56"/>
          <p:cNvSpPr/>
          <p:nvPr/>
        </p:nvSpPr>
        <p:spPr>
          <a:xfrm>
            <a:off x="9484200" y="2711520"/>
            <a:ext cx="273960" cy="2739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5" name="Oval 57"/>
          <p:cNvSpPr/>
          <p:nvPr/>
        </p:nvSpPr>
        <p:spPr>
          <a:xfrm>
            <a:off x="8778240" y="4551840"/>
            <a:ext cx="273960" cy="273960"/>
          </a:xfrm>
          <a:prstGeom prst="ellipse">
            <a:avLst/>
          </a:prstGeom>
          <a:solidFill>
            <a:srgbClr val="1f3a5f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VN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6" name="TextBox 58"/>
          <p:cNvSpPr/>
          <p:nvPr/>
        </p:nvSpPr>
        <p:spPr>
          <a:xfrm>
            <a:off x="6309360" y="5212080"/>
            <a:ext cx="521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Оранжевые рёбра добавлены в обход bottleneck; VN — virtual node (на схеме связи показаны частично).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35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2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530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ГЕТЕРОФИЛИЯ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1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Гомофилия: похожи ли соседи?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2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3" name="TextBox 7"/>
          <p:cNvSpPr/>
          <p:nvPr/>
        </p:nvSpPr>
        <p:spPr>
          <a:xfrm>
            <a:off x="640080" y="1481400"/>
            <a:ext cx="54860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Гомофилия — доля рёбер, соединяющих вершины одного класса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 Cora статьи цитируют свою область — соседи похожи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Бывает наоборот: соседи почти всегда из других классов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Усреднение по таким соседям тянет вершину не туда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4" name="TextBox 8"/>
          <p:cNvSpPr/>
          <p:nvPr/>
        </p:nvSpPr>
        <p:spPr>
          <a:xfrm>
            <a:off x="6492240" y="173736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гомофилия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35" name="Connector 9"/>
          <p:cNvCxnSpPr/>
          <p:nvPr/>
        </p:nvCxnSpPr>
        <p:spPr>
          <a:xfrm flipV="1">
            <a:off x="7589520" y="2386440"/>
            <a:ext cx="360" cy="6220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536" name="Connector 10"/>
          <p:cNvCxnSpPr/>
          <p:nvPr/>
        </p:nvCxnSpPr>
        <p:spPr>
          <a:xfrm flipV="1">
            <a:off x="7772040" y="2948760"/>
            <a:ext cx="591480" cy="1926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537" name="Connector 11"/>
          <p:cNvCxnSpPr/>
          <p:nvPr/>
        </p:nvCxnSpPr>
        <p:spPr>
          <a:xfrm>
            <a:off x="7702200" y="3355560"/>
            <a:ext cx="365760" cy="5032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538" name="Connector 12"/>
          <p:cNvCxnSpPr/>
          <p:nvPr/>
        </p:nvCxnSpPr>
        <p:spPr>
          <a:xfrm flipH="1">
            <a:off x="7111080" y="3355560"/>
            <a:ext cx="365760" cy="5032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539" name="Connector 13"/>
          <p:cNvCxnSpPr/>
          <p:nvPr/>
        </p:nvCxnSpPr>
        <p:spPr>
          <a:xfrm flipH="1" flipV="1">
            <a:off x="6815520" y="2948760"/>
            <a:ext cx="591480" cy="1926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540" name="Oval 14"/>
          <p:cNvSpPr/>
          <p:nvPr/>
        </p:nvSpPr>
        <p:spPr>
          <a:xfrm>
            <a:off x="7397640" y="3008520"/>
            <a:ext cx="383760" cy="38376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1" name="Oval 15"/>
          <p:cNvSpPr/>
          <p:nvPr/>
        </p:nvSpPr>
        <p:spPr>
          <a:xfrm>
            <a:off x="7397640" y="2002680"/>
            <a:ext cx="383760" cy="38376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2" name="Oval 16"/>
          <p:cNvSpPr/>
          <p:nvPr/>
        </p:nvSpPr>
        <p:spPr>
          <a:xfrm>
            <a:off x="8354160" y="2697480"/>
            <a:ext cx="383760" cy="38376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3" name="Oval 17"/>
          <p:cNvSpPr/>
          <p:nvPr/>
        </p:nvSpPr>
        <p:spPr>
          <a:xfrm>
            <a:off x="7988760" y="3822120"/>
            <a:ext cx="383760" cy="38376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4" name="Oval 18"/>
          <p:cNvSpPr/>
          <p:nvPr/>
        </p:nvSpPr>
        <p:spPr>
          <a:xfrm>
            <a:off x="6806160" y="3822120"/>
            <a:ext cx="383760" cy="38376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5" name="Oval 19"/>
          <p:cNvSpPr/>
          <p:nvPr/>
        </p:nvSpPr>
        <p:spPr>
          <a:xfrm>
            <a:off x="6440760" y="2697480"/>
            <a:ext cx="383760" cy="38376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6" name="TextBox 20"/>
          <p:cNvSpPr/>
          <p:nvPr/>
        </p:nvSpPr>
        <p:spPr>
          <a:xfrm>
            <a:off x="9144000" y="173736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гетерофилия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47" name="Connector 21"/>
          <p:cNvCxnSpPr/>
          <p:nvPr/>
        </p:nvCxnSpPr>
        <p:spPr>
          <a:xfrm flipV="1">
            <a:off x="10241280" y="2386440"/>
            <a:ext cx="360" cy="6220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548" name="Connector 22"/>
          <p:cNvCxnSpPr/>
          <p:nvPr/>
        </p:nvCxnSpPr>
        <p:spPr>
          <a:xfrm flipV="1">
            <a:off x="10423800" y="2948760"/>
            <a:ext cx="591480" cy="1926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549" name="Connector 23"/>
          <p:cNvCxnSpPr/>
          <p:nvPr/>
        </p:nvCxnSpPr>
        <p:spPr>
          <a:xfrm>
            <a:off x="10353960" y="3355560"/>
            <a:ext cx="365760" cy="5032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550" name="Connector 24"/>
          <p:cNvCxnSpPr/>
          <p:nvPr/>
        </p:nvCxnSpPr>
        <p:spPr>
          <a:xfrm flipH="1">
            <a:off x="9762840" y="3355560"/>
            <a:ext cx="365760" cy="5032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551" name="Connector 25"/>
          <p:cNvCxnSpPr/>
          <p:nvPr/>
        </p:nvCxnSpPr>
        <p:spPr>
          <a:xfrm flipH="1" flipV="1">
            <a:off x="9467280" y="2948760"/>
            <a:ext cx="591480" cy="1926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552" name="Oval 26"/>
          <p:cNvSpPr/>
          <p:nvPr/>
        </p:nvSpPr>
        <p:spPr>
          <a:xfrm>
            <a:off x="10049400" y="3008520"/>
            <a:ext cx="383760" cy="38376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3" name="Oval 27"/>
          <p:cNvSpPr/>
          <p:nvPr/>
        </p:nvSpPr>
        <p:spPr>
          <a:xfrm>
            <a:off x="10049400" y="2002680"/>
            <a:ext cx="383760" cy="38376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4" name="Oval 28"/>
          <p:cNvSpPr/>
          <p:nvPr/>
        </p:nvSpPr>
        <p:spPr>
          <a:xfrm>
            <a:off x="11005920" y="2697480"/>
            <a:ext cx="383760" cy="383760"/>
          </a:xfrm>
          <a:prstGeom prst="ellipse">
            <a:avLst/>
          </a:prstGeom>
          <a:solidFill>
            <a:srgbClr val="1f3a5f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5" name="Oval 29"/>
          <p:cNvSpPr/>
          <p:nvPr/>
        </p:nvSpPr>
        <p:spPr>
          <a:xfrm>
            <a:off x="10640520" y="3822120"/>
            <a:ext cx="383760" cy="38376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6" name="Oval 30"/>
          <p:cNvSpPr/>
          <p:nvPr/>
        </p:nvSpPr>
        <p:spPr>
          <a:xfrm>
            <a:off x="9457920" y="3822120"/>
            <a:ext cx="383760" cy="383760"/>
          </a:xfrm>
          <a:prstGeom prst="ellipse">
            <a:avLst/>
          </a:prstGeom>
          <a:solidFill>
            <a:srgbClr val="a6aab3"/>
          </a:solidFill>
          <a:ln w="15240">
            <a:solidFill>
              <a:srgbClr val="a6aab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7" name="Oval 31"/>
          <p:cNvSpPr/>
          <p:nvPr/>
        </p:nvSpPr>
        <p:spPr>
          <a:xfrm>
            <a:off x="9092520" y="2697480"/>
            <a:ext cx="383760" cy="383760"/>
          </a:xfrm>
          <a:prstGeom prst="ellipse">
            <a:avLst/>
          </a:prstGeom>
          <a:solidFill>
            <a:srgbClr val="1f3a5f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8" name="TextBox 32"/>
          <p:cNvSpPr/>
          <p:nvPr/>
        </p:nvSpPr>
        <p:spPr>
          <a:xfrm>
            <a:off x="6400800" y="457200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Цвет — класс вершины. Слева у v четыре соседа своего класса из пяти, справа — ни одного.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0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36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61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562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ГЕТЕРОФИЛИЯ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3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Гомофилия трёх графов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4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65" name="Picture 7" descr="l04_homophily.png"/>
          <p:cNvPicPr/>
          <p:nvPr/>
        </p:nvPicPr>
        <p:blipFill>
          <a:blip r:embed="rId1"/>
          <a:stretch/>
        </p:blipFill>
        <p:spPr>
          <a:xfrm>
            <a:off x="2895480" y="1481400"/>
            <a:ext cx="6400440" cy="255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6" name="TextBox 8"/>
          <p:cNvSpPr/>
          <p:nvPr/>
        </p:nvSpPr>
        <p:spPr>
          <a:xfrm>
            <a:off x="640080" y="427032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Roman-empire — 22662 слов статьи Википедии о Римской империи; рёбра соединяют соседние или синтаксически связанные слова, класс — синтаксическая роль (18 ролей). Соседние слова почти всегда играют разные роли: гомофилия 0.05.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37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6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570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СВОЙ ВЕКТОР ОТДЕЛЬНО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1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Почему GCN здесь проигрывает?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2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3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4" name="TextBox 8"/>
          <p:cNvSpPr/>
          <p:nvPr/>
        </p:nvSpPr>
        <p:spPr>
          <a:xfrm>
            <a:off x="640080" y="173736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GCN: свой вектор смешан с соседями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5" name="TextBox 9"/>
          <p:cNvSpPr/>
          <p:nvPr/>
        </p:nvSpPr>
        <p:spPr>
          <a:xfrm>
            <a:off x="731520" y="2377440"/>
            <a:ext cx="60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свой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6" name="Rectangle 10"/>
          <p:cNvSpPr/>
          <p:nvPr/>
        </p:nvSpPr>
        <p:spPr>
          <a:xfrm>
            <a:off x="1463040" y="2377440"/>
            <a:ext cx="383760" cy="347040"/>
          </a:xfrm>
          <a:prstGeom prst="rect">
            <a:avLst/>
          </a:prstGeom>
          <a:solidFill>
            <a:srgbClr val="8bc9c9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7" name="Rectangle 11"/>
          <p:cNvSpPr/>
          <p:nvPr/>
        </p:nvSpPr>
        <p:spPr>
          <a:xfrm>
            <a:off x="1847160" y="2377440"/>
            <a:ext cx="383760" cy="347040"/>
          </a:xfrm>
          <a:prstGeom prst="rect">
            <a:avLst/>
          </a:prstGeom>
          <a:solidFill>
            <a:srgbClr val="f1f8f8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8" name="Rectangle 12"/>
          <p:cNvSpPr/>
          <p:nvPr/>
        </p:nvSpPr>
        <p:spPr>
          <a:xfrm>
            <a:off x="2231280" y="2377440"/>
            <a:ext cx="383760" cy="347040"/>
          </a:xfrm>
          <a:prstGeom prst="rect">
            <a:avLst/>
          </a:prstGeom>
          <a:solidFill>
            <a:srgbClr val="b7dddd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9" name="TextBox 13"/>
          <p:cNvSpPr/>
          <p:nvPr/>
        </p:nvSpPr>
        <p:spPr>
          <a:xfrm>
            <a:off x="731520" y="2880360"/>
            <a:ext cx="60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сосед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0" name="Rectangle 14"/>
          <p:cNvSpPr/>
          <p:nvPr/>
        </p:nvSpPr>
        <p:spPr>
          <a:xfrm>
            <a:off x="1463040" y="2880360"/>
            <a:ext cx="383760" cy="292320"/>
          </a:xfrm>
          <a:prstGeom prst="rect">
            <a:avLst/>
          </a:prstGeom>
          <a:solidFill>
            <a:srgbClr val="f6d7c5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1" name="Rectangle 15"/>
          <p:cNvSpPr/>
          <p:nvPr/>
        </p:nvSpPr>
        <p:spPr>
          <a:xfrm>
            <a:off x="1847160" y="2880360"/>
            <a:ext cx="383760" cy="292320"/>
          </a:xfrm>
          <a:prstGeom prst="rect">
            <a:avLst/>
          </a:prstGeom>
          <a:solidFill>
            <a:srgbClr val="a8d7d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2" name="Rectangle 16"/>
          <p:cNvSpPr/>
          <p:nvPr/>
        </p:nvSpPr>
        <p:spPr>
          <a:xfrm>
            <a:off x="2231280" y="2880360"/>
            <a:ext cx="383760" cy="292320"/>
          </a:xfrm>
          <a:prstGeom prst="rect">
            <a:avLst/>
          </a:prstGeom>
          <a:solidFill>
            <a:srgbClr val="f8dfd1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3" name="TextBox 17"/>
          <p:cNvSpPr/>
          <p:nvPr/>
        </p:nvSpPr>
        <p:spPr>
          <a:xfrm>
            <a:off x="731520" y="3173040"/>
            <a:ext cx="60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сосед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4" name="Rectangle 18"/>
          <p:cNvSpPr/>
          <p:nvPr/>
        </p:nvSpPr>
        <p:spPr>
          <a:xfrm>
            <a:off x="1463040" y="3173040"/>
            <a:ext cx="383760" cy="292320"/>
          </a:xfrm>
          <a:prstGeom prst="rect">
            <a:avLst/>
          </a:prstGeom>
          <a:solidFill>
            <a:srgbClr val="f9e7d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5" name="Rectangle 19"/>
          <p:cNvSpPr/>
          <p:nvPr/>
        </p:nvSpPr>
        <p:spPr>
          <a:xfrm>
            <a:off x="1847160" y="3173040"/>
            <a:ext cx="383760" cy="292320"/>
          </a:xfrm>
          <a:prstGeom prst="rect">
            <a:avLst/>
          </a:prstGeom>
          <a:solidFill>
            <a:srgbClr val="9ad0d0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6" name="Rectangle 20"/>
          <p:cNvSpPr/>
          <p:nvPr/>
        </p:nvSpPr>
        <p:spPr>
          <a:xfrm>
            <a:off x="2231280" y="3173040"/>
            <a:ext cx="383760" cy="292320"/>
          </a:xfrm>
          <a:prstGeom prst="rect">
            <a:avLst/>
          </a:prstGeom>
          <a:solidFill>
            <a:srgbClr val="f4cfba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7" name="TextBox 21"/>
          <p:cNvSpPr/>
          <p:nvPr/>
        </p:nvSpPr>
        <p:spPr>
          <a:xfrm>
            <a:off x="731520" y="3465720"/>
            <a:ext cx="60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сосед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8" name="Rectangle 22"/>
          <p:cNvSpPr/>
          <p:nvPr/>
        </p:nvSpPr>
        <p:spPr>
          <a:xfrm>
            <a:off x="1463040" y="3465720"/>
            <a:ext cx="383760" cy="292320"/>
          </a:xfrm>
          <a:prstGeom prst="rect">
            <a:avLst/>
          </a:prstGeom>
          <a:solidFill>
            <a:srgbClr val="f4cfba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9" name="Rectangle 23"/>
          <p:cNvSpPr/>
          <p:nvPr/>
        </p:nvSpPr>
        <p:spPr>
          <a:xfrm>
            <a:off x="1847160" y="3465720"/>
            <a:ext cx="383760" cy="292320"/>
          </a:xfrm>
          <a:prstGeom prst="rect">
            <a:avLst/>
          </a:prstGeom>
          <a:solidFill>
            <a:srgbClr val="c5e4e4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0" name="Rectangle 24"/>
          <p:cNvSpPr/>
          <p:nvPr/>
        </p:nvSpPr>
        <p:spPr>
          <a:xfrm>
            <a:off x="2231280" y="3465720"/>
            <a:ext cx="383760" cy="292320"/>
          </a:xfrm>
          <a:prstGeom prst="rect">
            <a:avLst/>
          </a:prstGeom>
          <a:solidFill>
            <a:srgbClr val="fbefe8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591" name="Connector 25"/>
          <p:cNvCxnSpPr/>
          <p:nvPr/>
        </p:nvCxnSpPr>
        <p:spPr>
          <a:xfrm>
            <a:off x="2743200" y="3017520"/>
            <a:ext cx="549000" cy="360"/>
          </a:xfrm>
          <a:prstGeom prst="straightConnector1">
            <a:avLst/>
          </a:prstGeom>
          <a:ln w="22225">
            <a:solidFill>
              <a:srgbClr val="e07a3f"/>
            </a:solidFill>
            <a:round/>
          </a:ln>
        </p:spPr>
      </p:cxnSp>
      <p:sp>
        <p:nvSpPr>
          <p:cNvPr id="1592" name="Isosceles Triangle 26"/>
          <p:cNvSpPr/>
          <p:nvPr/>
        </p:nvSpPr>
        <p:spPr>
          <a:xfrm rot="5400000">
            <a:off x="3219120" y="294444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3" name="TextBox 27"/>
          <p:cNvSpPr/>
          <p:nvPr/>
        </p:nvSpPr>
        <p:spPr>
          <a:xfrm>
            <a:off x="3200400" y="260604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≈ среднее всех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4" name="Rectangle 28"/>
          <p:cNvSpPr/>
          <p:nvPr/>
        </p:nvSpPr>
        <p:spPr>
          <a:xfrm>
            <a:off x="3474720" y="2926080"/>
            <a:ext cx="383760" cy="347040"/>
          </a:xfrm>
          <a:prstGeom prst="rect">
            <a:avLst/>
          </a:prstGeom>
          <a:solidFill>
            <a:srgbClr val="fcf3ee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5" name="Rectangle 29"/>
          <p:cNvSpPr/>
          <p:nvPr/>
        </p:nvSpPr>
        <p:spPr>
          <a:xfrm>
            <a:off x="3858840" y="2926080"/>
            <a:ext cx="383760" cy="347040"/>
          </a:xfrm>
          <a:prstGeom prst="rect">
            <a:avLst/>
          </a:prstGeom>
          <a:solidFill>
            <a:srgbClr val="bee1e1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6" name="Rectangle 30"/>
          <p:cNvSpPr/>
          <p:nvPr/>
        </p:nvSpPr>
        <p:spPr>
          <a:xfrm>
            <a:off x="4242960" y="2926080"/>
            <a:ext cx="383760" cy="347040"/>
          </a:xfrm>
          <a:prstGeom prst="rect">
            <a:avLst/>
          </a:prstGeom>
          <a:solidFill>
            <a:srgbClr val="fcf1ea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7" name="TextBox 31"/>
          <p:cNvSpPr/>
          <p:nvPr/>
        </p:nvSpPr>
        <p:spPr>
          <a:xfrm>
            <a:off x="640080" y="4206240"/>
            <a:ext cx="512028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Сигнал вершины тонет среди чужих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Получается хуже, чем вообще без графа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8" name="TextBox 32"/>
          <p:cNvSpPr/>
          <p:nvPr/>
        </p:nvSpPr>
        <p:spPr>
          <a:xfrm>
            <a:off x="6400800" y="173736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GraphSAGE: свой вектор отдельно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9" name="TextBox 33"/>
          <p:cNvSpPr/>
          <p:nvPr/>
        </p:nvSpPr>
        <p:spPr>
          <a:xfrm>
            <a:off x="6492240" y="2377440"/>
            <a:ext cx="60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свой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0" name="Rectangle 34"/>
          <p:cNvSpPr/>
          <p:nvPr/>
        </p:nvSpPr>
        <p:spPr>
          <a:xfrm>
            <a:off x="7223760" y="2377440"/>
            <a:ext cx="383760" cy="347040"/>
          </a:xfrm>
          <a:prstGeom prst="rect">
            <a:avLst/>
          </a:prstGeom>
          <a:solidFill>
            <a:srgbClr val="8bc9c9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1" name="Rectangle 35"/>
          <p:cNvSpPr/>
          <p:nvPr/>
        </p:nvSpPr>
        <p:spPr>
          <a:xfrm>
            <a:off x="7607880" y="2377440"/>
            <a:ext cx="383760" cy="347040"/>
          </a:xfrm>
          <a:prstGeom prst="rect">
            <a:avLst/>
          </a:prstGeom>
          <a:solidFill>
            <a:srgbClr val="f1f8f8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2" name="Rectangle 36"/>
          <p:cNvSpPr/>
          <p:nvPr/>
        </p:nvSpPr>
        <p:spPr>
          <a:xfrm>
            <a:off x="7992000" y="2377440"/>
            <a:ext cx="383760" cy="347040"/>
          </a:xfrm>
          <a:prstGeom prst="rect">
            <a:avLst/>
          </a:prstGeom>
          <a:solidFill>
            <a:srgbClr val="b7dddd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3" name="TextBox 37"/>
          <p:cNvSpPr/>
          <p:nvPr/>
        </p:nvSpPr>
        <p:spPr>
          <a:xfrm>
            <a:off x="6400800" y="2880360"/>
            <a:ext cx="69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соседи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4" name="Rectangle 38"/>
          <p:cNvSpPr/>
          <p:nvPr/>
        </p:nvSpPr>
        <p:spPr>
          <a:xfrm>
            <a:off x="7223760" y="2880360"/>
            <a:ext cx="383760" cy="347040"/>
          </a:xfrm>
          <a:prstGeom prst="rect">
            <a:avLst/>
          </a:prstGeom>
          <a:solidFill>
            <a:srgbClr val="f6d9c9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5" name="Rectangle 39"/>
          <p:cNvSpPr/>
          <p:nvPr/>
        </p:nvSpPr>
        <p:spPr>
          <a:xfrm>
            <a:off x="7607880" y="2880360"/>
            <a:ext cx="383760" cy="347040"/>
          </a:xfrm>
          <a:prstGeom prst="rect">
            <a:avLst/>
          </a:prstGeom>
          <a:solidFill>
            <a:srgbClr val="add9d9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6" name="Rectangle 40"/>
          <p:cNvSpPr/>
          <p:nvPr/>
        </p:nvSpPr>
        <p:spPr>
          <a:xfrm>
            <a:off x="7992000" y="2880360"/>
            <a:ext cx="383760" cy="347040"/>
          </a:xfrm>
          <a:prstGeom prst="rect">
            <a:avLst/>
          </a:prstGeom>
          <a:solidFill>
            <a:srgbClr val="f8dfd1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607" name="Connector 41"/>
          <p:cNvCxnSpPr/>
          <p:nvPr/>
        </p:nvCxnSpPr>
        <p:spPr>
          <a:xfrm>
            <a:off x="8503920" y="2834640"/>
            <a:ext cx="457560" cy="360"/>
          </a:xfrm>
          <a:prstGeom prst="straightConnector1">
            <a:avLst/>
          </a:prstGeom>
          <a:ln w="22225">
            <a:solidFill>
              <a:srgbClr val="e07a3f"/>
            </a:solidFill>
            <a:round/>
          </a:ln>
        </p:spPr>
      </p:cxnSp>
      <p:sp>
        <p:nvSpPr>
          <p:cNvPr id="1608" name="Isosceles Triangle 42"/>
          <p:cNvSpPr/>
          <p:nvPr/>
        </p:nvSpPr>
        <p:spPr>
          <a:xfrm rot="5400000">
            <a:off x="8888400" y="276156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9" name="TextBox 43"/>
          <p:cNvSpPr/>
          <p:nvPr/>
        </p:nvSpPr>
        <p:spPr>
          <a:xfrm>
            <a:off x="9052560" y="237744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рядом, а не вперемешку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0" name="Rectangle 44"/>
          <p:cNvSpPr/>
          <p:nvPr/>
        </p:nvSpPr>
        <p:spPr>
          <a:xfrm>
            <a:off x="9098280" y="2697480"/>
            <a:ext cx="383760" cy="347040"/>
          </a:xfrm>
          <a:prstGeom prst="rect">
            <a:avLst/>
          </a:prstGeom>
          <a:solidFill>
            <a:srgbClr val="8bc9c9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1" name="Rectangle 45"/>
          <p:cNvSpPr/>
          <p:nvPr/>
        </p:nvSpPr>
        <p:spPr>
          <a:xfrm>
            <a:off x="9482400" y="2697480"/>
            <a:ext cx="383760" cy="347040"/>
          </a:xfrm>
          <a:prstGeom prst="rect">
            <a:avLst/>
          </a:prstGeom>
          <a:solidFill>
            <a:srgbClr val="f1f8f8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2" name="Rectangle 46"/>
          <p:cNvSpPr/>
          <p:nvPr/>
        </p:nvSpPr>
        <p:spPr>
          <a:xfrm>
            <a:off x="9866520" y="2697480"/>
            <a:ext cx="383760" cy="347040"/>
          </a:xfrm>
          <a:prstGeom prst="rect">
            <a:avLst/>
          </a:prstGeom>
          <a:solidFill>
            <a:srgbClr val="b7dddd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3" name="Rectangle 47"/>
          <p:cNvSpPr/>
          <p:nvPr/>
        </p:nvSpPr>
        <p:spPr>
          <a:xfrm>
            <a:off x="10250280" y="2697480"/>
            <a:ext cx="383760" cy="347040"/>
          </a:xfrm>
          <a:prstGeom prst="rect">
            <a:avLst/>
          </a:prstGeom>
          <a:solidFill>
            <a:srgbClr val="f6d9c9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4" name="Rectangle 48"/>
          <p:cNvSpPr/>
          <p:nvPr/>
        </p:nvSpPr>
        <p:spPr>
          <a:xfrm>
            <a:off x="10634400" y="2697480"/>
            <a:ext cx="383760" cy="347040"/>
          </a:xfrm>
          <a:prstGeom prst="rect">
            <a:avLst/>
          </a:prstGeom>
          <a:solidFill>
            <a:srgbClr val="add9d9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5" name="Rectangle 49"/>
          <p:cNvSpPr/>
          <p:nvPr/>
        </p:nvSpPr>
        <p:spPr>
          <a:xfrm>
            <a:off x="11018520" y="2697480"/>
            <a:ext cx="383760" cy="347040"/>
          </a:xfrm>
          <a:prstGeom prst="rect">
            <a:avLst/>
          </a:prstGeom>
          <a:solidFill>
            <a:srgbClr val="f8dfd1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6" name="TextBox 50"/>
          <p:cNvSpPr/>
          <p:nvPr/>
        </p:nvSpPr>
        <p:spPr>
          <a:xfrm>
            <a:off x="6400800" y="4206240"/>
            <a:ext cx="512028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Модель сама решает, кому верить: себе или соседям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Для себя и для соседей — разные матрицы весов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38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1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620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ОПЫТ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1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Опыт: Roman-empire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2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23" name="Picture 7" descr="l04_roman.png"/>
          <p:cNvPicPr/>
          <p:nvPr/>
        </p:nvPicPr>
        <p:blipFill>
          <a:blip r:embed="rId1"/>
          <a:stretch/>
        </p:blipFill>
        <p:spPr>
          <a:xfrm>
            <a:off x="2989440" y="1481400"/>
            <a:ext cx="6212160" cy="301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4" name="TextBox 8"/>
          <p:cNvSpPr/>
          <p:nvPr/>
        </p:nvSpPr>
        <p:spPr>
          <a:xfrm>
            <a:off x="640080" y="472752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GCN (0.469) хуже MLP, который граф не видит вовсе (0.656). GraphSAGE с отдельным собственным вектором — 0.783: граф помогает, если не смешивать вершину с чужими соседями.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6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39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27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628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ЧЕСТНАЯ ОЦЕНКА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9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Критика бенчмарков: Platonov et al., 2023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0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1" name="TextBox 7"/>
          <p:cNvSpPr/>
          <p:nvPr/>
        </p:nvSpPr>
        <p:spPr>
          <a:xfrm>
            <a:off x="640080" y="1481400"/>
            <a:ext cx="585180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Старые гетерофильные датасеты (chameleon, squirrel) содержали много дубликатов вершин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499"/>
              </a:spcAft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      –   копия одной вершины попадала в обучение, другая — в тест: утечка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На них «специальные» модели для гетерофилии выглядели сильными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На очищенных и новых датасетах — Roman-empire, Amazon-ratings и других — простые GNN, держащие свой вектор отдельно, оказались не хуже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Урок: прежде чем верить числам, проверьте данные и разбиение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32" name="Connector 8"/>
          <p:cNvCxnSpPr/>
          <p:nvPr/>
        </p:nvCxnSpPr>
        <p:spPr>
          <a:xfrm flipV="1">
            <a:off x="7692840" y="2148480"/>
            <a:ext cx="2518200" cy="2750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633" name="Isosceles Triangle 9"/>
          <p:cNvSpPr/>
          <p:nvPr/>
        </p:nvSpPr>
        <p:spPr>
          <a:xfrm rot="5026200">
            <a:off x="10137960" y="207540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b6c1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634" name="Connector 10"/>
          <p:cNvCxnSpPr/>
          <p:nvPr/>
        </p:nvCxnSpPr>
        <p:spPr>
          <a:xfrm>
            <a:off x="7688880" y="2504160"/>
            <a:ext cx="2526480" cy="5515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635" name="Isosceles Triangle 11"/>
          <p:cNvSpPr/>
          <p:nvPr/>
        </p:nvSpPr>
        <p:spPr>
          <a:xfrm rot="6138600">
            <a:off x="10142280" y="298224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b6c1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636" name="Connector 12"/>
          <p:cNvCxnSpPr/>
          <p:nvPr/>
        </p:nvCxnSpPr>
        <p:spPr>
          <a:xfrm>
            <a:off x="7663680" y="2570760"/>
            <a:ext cx="2576520" cy="14054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637" name="Isosceles Triangle 13"/>
          <p:cNvSpPr/>
          <p:nvPr/>
        </p:nvSpPr>
        <p:spPr>
          <a:xfrm rot="7116600">
            <a:off x="10167120" y="390312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b6c1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638" name="Connector 14"/>
          <p:cNvCxnSpPr/>
          <p:nvPr/>
        </p:nvCxnSpPr>
        <p:spPr>
          <a:xfrm flipV="1">
            <a:off x="7663680" y="2241720"/>
            <a:ext cx="2576520" cy="14054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639" name="Isosceles Triangle 15"/>
          <p:cNvSpPr/>
          <p:nvPr/>
        </p:nvSpPr>
        <p:spPr>
          <a:xfrm rot="3683400">
            <a:off x="10166760" y="216864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b6c1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640" name="Connector 16"/>
          <p:cNvCxnSpPr/>
          <p:nvPr/>
        </p:nvCxnSpPr>
        <p:spPr>
          <a:xfrm flipV="1">
            <a:off x="7688880" y="3162240"/>
            <a:ext cx="2526480" cy="5515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641" name="Isosceles Triangle 17"/>
          <p:cNvSpPr/>
          <p:nvPr/>
        </p:nvSpPr>
        <p:spPr>
          <a:xfrm rot="4661400">
            <a:off x="10141920" y="308916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b6c1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642" name="Connector 18"/>
          <p:cNvCxnSpPr/>
          <p:nvPr/>
        </p:nvCxnSpPr>
        <p:spPr>
          <a:xfrm>
            <a:off x="7692840" y="3794400"/>
            <a:ext cx="2518200" cy="2750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643" name="Isosceles Triangle 19"/>
          <p:cNvSpPr/>
          <p:nvPr/>
        </p:nvSpPr>
        <p:spPr>
          <a:xfrm rot="5773800">
            <a:off x="10137960" y="399564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b6c1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4" name="Oval 20"/>
          <p:cNvSpPr/>
          <p:nvPr/>
        </p:nvSpPr>
        <p:spPr>
          <a:xfrm>
            <a:off x="7191720" y="2199240"/>
            <a:ext cx="502560" cy="50256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5" name="Oval 21"/>
          <p:cNvSpPr/>
          <p:nvPr/>
        </p:nvSpPr>
        <p:spPr>
          <a:xfrm>
            <a:off x="7191720" y="3515760"/>
            <a:ext cx="502560" cy="50256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A′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6" name="Oval 22"/>
          <p:cNvSpPr/>
          <p:nvPr/>
        </p:nvSpPr>
        <p:spPr>
          <a:xfrm>
            <a:off x="10209240" y="1869840"/>
            <a:ext cx="502560" cy="5025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7" name="Oval 23"/>
          <p:cNvSpPr/>
          <p:nvPr/>
        </p:nvSpPr>
        <p:spPr>
          <a:xfrm>
            <a:off x="10209240" y="2857680"/>
            <a:ext cx="502560" cy="5025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8" name="Oval 24"/>
          <p:cNvSpPr/>
          <p:nvPr/>
        </p:nvSpPr>
        <p:spPr>
          <a:xfrm>
            <a:off x="10209240" y="3845160"/>
            <a:ext cx="502560" cy="5025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9" name="TextBox 25"/>
          <p:cNvSpPr/>
          <p:nvPr/>
        </p:nvSpPr>
        <p:spPr>
          <a:xfrm>
            <a:off x="6986160" y="272484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train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0" name="TextBox 26"/>
          <p:cNvSpPr/>
          <p:nvPr/>
        </p:nvSpPr>
        <p:spPr>
          <a:xfrm>
            <a:off x="6986160" y="404172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test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1" name="TextBox 27"/>
          <p:cNvSpPr/>
          <p:nvPr/>
        </p:nvSpPr>
        <p:spPr>
          <a:xfrm>
            <a:off x="6766560" y="4526280"/>
            <a:ext cx="4754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те же исходящие рёбра, признаки разные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2" name="TextBox 28"/>
          <p:cNvSpPr/>
          <p:nvPr/>
        </p:nvSpPr>
        <p:spPr>
          <a:xfrm>
            <a:off x="6766560" y="493776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Chameleon: копий 1394 из 2277 вершин. У 64% тестовых вершин копия есть в train, и её класс совпадает в 99% случаев: ответ виден ещё при обучении.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4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40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55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656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ПРОВЕРЬ СЕБЯ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7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Вопрос аудитории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8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9" name="TextBox 7"/>
          <p:cNvSpPr/>
          <p:nvPr/>
        </p:nvSpPr>
        <p:spPr>
          <a:xfrm>
            <a:off x="640080" y="1481400"/>
            <a:ext cx="1091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22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На графе с гомофилией 0.05 GCN проигрывает MLP. Что попробовать первым?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0" name="Rounded Rectangle 8"/>
          <p:cNvSpPr/>
          <p:nvPr/>
        </p:nvSpPr>
        <p:spPr>
          <a:xfrm>
            <a:off x="640080" y="289872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1" name="TextBox 9"/>
          <p:cNvSpPr/>
          <p:nvPr/>
        </p:nvSpPr>
        <p:spPr>
          <a:xfrm>
            <a:off x="914400" y="30448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A.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Добавить слоёв GCN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2" name="Rounded Rectangle 10"/>
          <p:cNvSpPr/>
          <p:nvPr/>
        </p:nvSpPr>
        <p:spPr>
          <a:xfrm>
            <a:off x="640080" y="358452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3" name="TextBox 11"/>
          <p:cNvSpPr/>
          <p:nvPr/>
        </p:nvSpPr>
        <p:spPr>
          <a:xfrm>
            <a:off x="914400" y="37306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B.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Слой, который держит свой вектор отдельно от соседей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4" name="Rounded Rectangle 12"/>
          <p:cNvSpPr/>
          <p:nvPr/>
        </p:nvSpPr>
        <p:spPr>
          <a:xfrm>
            <a:off x="640080" y="427032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5" name="TextBox 13"/>
          <p:cNvSpPr/>
          <p:nvPr/>
        </p:nvSpPr>
        <p:spPr>
          <a:xfrm>
            <a:off x="914400" y="44164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C.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Убрать признаки вершин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6" name="Rounded Rectangle 14"/>
          <p:cNvSpPr/>
          <p:nvPr/>
        </p:nvSpPr>
        <p:spPr>
          <a:xfrm>
            <a:off x="640080" y="495612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7" name="TextBox 15"/>
          <p:cNvSpPr/>
          <p:nvPr/>
        </p:nvSpPr>
        <p:spPr>
          <a:xfrm>
            <a:off x="914400" y="51022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D.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Убрать dropout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9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70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671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ОТВЕТ НА ВОПРОС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2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Разбор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3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4" name="TextBox 7"/>
          <p:cNvSpPr/>
          <p:nvPr/>
        </p:nvSpPr>
        <p:spPr>
          <a:xfrm>
            <a:off x="640080" y="1481400"/>
            <a:ext cx="1091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На графе с гомофилией 0.05 GCN проигрывает MLP. Что попробовать первым?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5" name="Rounded Rectangle 8"/>
          <p:cNvSpPr/>
          <p:nvPr/>
        </p:nvSpPr>
        <p:spPr>
          <a:xfrm>
            <a:off x="640080" y="206640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6" name="TextBox 9"/>
          <p:cNvSpPr/>
          <p:nvPr/>
        </p:nvSpPr>
        <p:spPr>
          <a:xfrm>
            <a:off x="914400" y="217620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A.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Добавить слоёв GCN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7" name="Rounded Rectangle 10"/>
          <p:cNvSpPr/>
          <p:nvPr/>
        </p:nvSpPr>
        <p:spPr>
          <a:xfrm>
            <a:off x="640080" y="263340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cf0e6"/>
          </a:solidFill>
          <a:ln w="2540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8" name="TextBox 11"/>
          <p:cNvSpPr/>
          <p:nvPr/>
        </p:nvSpPr>
        <p:spPr>
          <a:xfrm>
            <a:off x="914400" y="2743200"/>
            <a:ext cx="8259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B.  </a:t>
            </a:r>
            <a:r>
              <a:rPr b="1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Слой, который держит свой вектор отдельно от соседей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9" name="TextBox 12"/>
          <p:cNvSpPr/>
          <p:nvPr/>
        </p:nvSpPr>
        <p:spPr>
          <a:xfrm>
            <a:off x="9174240" y="276156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✓ правильный ответ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0" name="Rounded Rectangle 13"/>
          <p:cNvSpPr/>
          <p:nvPr/>
        </p:nvSpPr>
        <p:spPr>
          <a:xfrm>
            <a:off x="640080" y="320040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1" name="TextBox 14"/>
          <p:cNvSpPr/>
          <p:nvPr/>
        </p:nvSpPr>
        <p:spPr>
          <a:xfrm>
            <a:off x="914400" y="331020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C.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Убрать признаки вершин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2" name="Rounded Rectangle 15"/>
          <p:cNvSpPr/>
          <p:nvPr/>
        </p:nvSpPr>
        <p:spPr>
          <a:xfrm>
            <a:off x="640080" y="376740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3" name="TextBox 16"/>
          <p:cNvSpPr/>
          <p:nvPr/>
        </p:nvSpPr>
        <p:spPr>
          <a:xfrm>
            <a:off x="914400" y="387720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D.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Убрать dropout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4" name="Rounded Rectangle 17"/>
          <p:cNvSpPr/>
          <p:nvPr/>
        </p:nvSpPr>
        <p:spPr>
          <a:xfrm>
            <a:off x="640080" y="4471560"/>
            <a:ext cx="10911240" cy="1563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5" name="TextBox 18"/>
          <p:cNvSpPr/>
          <p:nvPr/>
        </p:nvSpPr>
        <p:spPr>
          <a:xfrm>
            <a:off x="960120" y="4681800"/>
            <a:ext cx="1027116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2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Почему: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При сильной гетерофилии усреднение смешивает вершину с чужими соседями. Слой с отдельным собственным вектором, как GraphSAGE, даёт модели выбор: на Roman-empire это 0.783 против 0.469 у GCN. Лишние слои GCN только сильнее смешают вершину с чужими соседями.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7" name="TextBox 2"/>
          <p:cNvSpPr/>
          <p:nvPr/>
        </p:nvSpPr>
        <p:spPr>
          <a:xfrm>
            <a:off x="1280160" y="2743200"/>
            <a:ext cx="9600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Блок 4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8" name="TextBox 3"/>
          <p:cNvSpPr/>
          <p:nvPr/>
        </p:nvSpPr>
        <p:spPr>
          <a:xfrm>
            <a:off x="1280160" y="384048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b9c6d8"/>
                </a:solidFill>
                <a:effectLst/>
                <a:uFillTx/>
                <a:latin typeface="Arial"/>
              </a:rPr>
              <a:t>Практика и итоги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0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91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692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4 · ПРАКТИКА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3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Практика 4: что сделаем?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4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5" name="Rounded Rectangle 7"/>
          <p:cNvSpPr/>
          <p:nvPr/>
        </p:nvSpPr>
        <p:spPr>
          <a:xfrm>
            <a:off x="640080" y="1481400"/>
            <a:ext cx="5226840" cy="46630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6" name="TextBox 8"/>
          <p:cNvSpPr/>
          <p:nvPr/>
        </p:nvSpPr>
        <p:spPr>
          <a:xfrm>
            <a:off x="914400" y="1737360"/>
            <a:ext cx="4678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Своими руками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7" name="TextBox 9"/>
          <p:cNvSpPr/>
          <p:nvPr/>
        </p:nvSpPr>
        <p:spPr>
          <a:xfrm>
            <a:off x="914400" y="2258640"/>
            <a:ext cx="46782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Знакомство с CSL и Roman-empire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WL на цикле, двух треугольниках и графах CSL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Классификатор графов на GINConv с пулингом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RWSE через AddRandomWalkPE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Гомофилия по рёбрам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8" name="Rounded Rectangle 10"/>
          <p:cNvSpPr/>
          <p:nvPr/>
        </p:nvSpPr>
        <p:spPr>
          <a:xfrm>
            <a:off x="6324480" y="1481400"/>
            <a:ext cx="5226840" cy="46630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9" name="TextBox 11"/>
          <p:cNvSpPr/>
          <p:nvPr/>
        </p:nvSpPr>
        <p:spPr>
          <a:xfrm>
            <a:off x="6598800" y="1737360"/>
            <a:ext cx="4678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Эксперименты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0" name="TextBox 12"/>
          <p:cNvSpPr/>
          <p:nvPr/>
        </p:nvSpPr>
        <p:spPr>
          <a:xfrm>
            <a:off x="6598800" y="2258640"/>
            <a:ext cx="46782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GCN и GIN на CSL: убедиться, что это угадывание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GIN + RWSE на CSL: насколько лучше?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MLP, GCN и GraphSAGE на Roman-empire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2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03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704" name="TextBox 4"/>
          <p:cNvSpPr/>
          <p:nvPr/>
        </p:nvSpPr>
        <p:spPr>
          <a:xfrm>
            <a:off x="640080" y="38412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Что забрать с собой?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5" name="Rectangle 5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6" name="Oval 6"/>
          <p:cNvSpPr/>
          <p:nvPr/>
        </p:nvSpPr>
        <p:spPr>
          <a:xfrm>
            <a:off x="640080" y="1664280"/>
            <a:ext cx="456840" cy="456840"/>
          </a:xfrm>
          <a:prstGeom prst="ellipse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7" name="TextBox 7"/>
          <p:cNvSpPr/>
          <p:nvPr/>
        </p:nvSpPr>
        <p:spPr>
          <a:xfrm>
            <a:off x="1417320" y="1682640"/>
            <a:ext cx="9996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Обычная GNN различает не больше графов, чем WL; GIN — ровно столько же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8" name="Oval 8"/>
          <p:cNvSpPr/>
          <p:nvPr/>
        </p:nvSpPr>
        <p:spPr>
          <a:xfrm>
            <a:off x="640080" y="2624400"/>
            <a:ext cx="456840" cy="456840"/>
          </a:xfrm>
          <a:prstGeom prst="ellipse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9" name="TextBox 9"/>
          <p:cNvSpPr/>
          <p:nvPr/>
        </p:nvSpPr>
        <p:spPr>
          <a:xfrm>
            <a:off x="1417320" y="2642760"/>
            <a:ext cx="9996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Среднее и максимум теряют информацию о соседях, сумма с MLP — нет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0" name="Oval 10"/>
          <p:cNvSpPr/>
          <p:nvPr/>
        </p:nvSpPr>
        <p:spPr>
          <a:xfrm>
            <a:off x="640080" y="3584520"/>
            <a:ext cx="456840" cy="456840"/>
          </a:xfrm>
          <a:prstGeom prst="ellipse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1" name="TextBox 11"/>
          <p:cNvSpPr/>
          <p:nvPr/>
        </p:nvSpPr>
        <p:spPr>
          <a:xfrm>
            <a:off x="1417320" y="3602880"/>
            <a:ext cx="9996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Структурные и позиционные кодировки на входе дают сети силу почти даром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2" name="Oval 12"/>
          <p:cNvSpPr/>
          <p:nvPr/>
        </p:nvSpPr>
        <p:spPr>
          <a:xfrm>
            <a:off x="640080" y="4544640"/>
            <a:ext cx="456840" cy="456840"/>
          </a:xfrm>
          <a:prstGeom prst="ellipse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3" name="TextBox 13"/>
          <p:cNvSpPr/>
          <p:nvPr/>
        </p:nvSpPr>
        <p:spPr>
          <a:xfrm>
            <a:off x="1417320" y="4563000"/>
            <a:ext cx="9996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Далёкая информация застревает в bottleneck графа: over-squashing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4" name="Oval 14"/>
          <p:cNvSpPr/>
          <p:nvPr/>
        </p:nvSpPr>
        <p:spPr>
          <a:xfrm>
            <a:off x="640080" y="5504760"/>
            <a:ext cx="456840" cy="456840"/>
          </a:xfrm>
          <a:prstGeom prst="ellipse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5" name="TextBox 15"/>
          <p:cNvSpPr/>
          <p:nvPr/>
        </p:nvSpPr>
        <p:spPr>
          <a:xfrm>
            <a:off x="1417320" y="5523120"/>
            <a:ext cx="9996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При гетерофилии свой вектор вершины держим отдельно от соседей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7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45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18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719" name="TextBox 4"/>
          <p:cNvSpPr/>
          <p:nvPr/>
        </p:nvSpPr>
        <p:spPr>
          <a:xfrm>
            <a:off x="640080" y="38412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Литература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0" name="Rectangle 5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1" name="TextBox 6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1100"/>
              </a:spcAft>
            </a:pPr>
            <a:r>
              <a:rPr b="1" lang="en-US" sz="13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1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Xu et al., 2019</a:t>
            </a: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— How Powerful are Graph Neural Networks? (GIN)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100"/>
              </a:spcAft>
            </a:pPr>
            <a:r>
              <a:rPr b="1" lang="en-US" sz="13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1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Morris et al., 2019</a:t>
            </a: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— Weisfeiler and Leman Go Neural: Higher-order Graph Neural Networks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100"/>
              </a:spcAft>
            </a:pPr>
            <a:r>
              <a:rPr b="1" lang="en-US" sz="13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1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Dwivedi et al., 2022</a:t>
            </a: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— Graph Neural Networks with Learnable Structural and Positional Representations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100"/>
              </a:spcAft>
            </a:pPr>
            <a:r>
              <a:rPr b="1" lang="en-US" sz="13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1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Bevilacqua et al., 2022</a:t>
            </a: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— Equivariant Subgraph Aggregation Networks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100"/>
              </a:spcAft>
            </a:pPr>
            <a:r>
              <a:rPr b="1" lang="en-US" sz="13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1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Alon &amp; Yahav, 2021</a:t>
            </a: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— On the Bottleneck of Graph Neural Networks and its Practical Implications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100"/>
              </a:spcAft>
            </a:pPr>
            <a:r>
              <a:rPr b="1" lang="en-US" sz="13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1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Topping et al., 2022</a:t>
            </a: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— Understanding Over-squashing and Bottlenecks on Graphs via Curvature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100"/>
              </a:spcAft>
            </a:pPr>
            <a:r>
              <a:rPr b="1" lang="en-US" sz="13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1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Platonov et al., 2023</a:t>
            </a: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— A Critical Look at the Evaluation of GNNs under Heterophily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LibreOffice/25.8.3.2$MacOSX_AARCH64 LibreOffice_project/8ca8d55c161d602844f5428fa4b58097424e324e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