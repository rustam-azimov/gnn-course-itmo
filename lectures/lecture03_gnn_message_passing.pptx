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22.xml" ContentType="application/vnd.openxmlformats-officedocument.presentationml.slide+xml"/>
  <Override PartName="/ppt/slides/slide40.xml" ContentType="application/vnd.openxmlformats-officedocument.presentationml.slide+xml"/>
  <Override PartName="/ppt/slides/slide47.xml" ContentType="application/vnd.openxmlformats-officedocument.presentationml.slide+xml"/>
  <Override PartName="/ppt/slides/_rels/slide56.xml.rels" ContentType="application/vnd.openxmlformats-package.relationships+xml"/>
  <Override PartName="/ppt/slides/_rels/slide54.xml.rels" ContentType="application/vnd.openxmlformats-package.relationships+xml"/>
  <Override PartName="/ppt/slides/_rels/slide53.xml.rels" ContentType="application/vnd.openxmlformats-package.relationships+xml"/>
  <Override PartName="/ppt/slides/_rels/slide38.xml.rels" ContentType="application/vnd.openxmlformats-package.relationships+xml"/>
  <Override PartName="/ppt/slides/_rels/slide52.xml.rels" ContentType="application/vnd.openxmlformats-package.relationships+xml"/>
  <Override PartName="/ppt/slides/_rels/slide37.xml.rels" ContentType="application/vnd.openxmlformats-package.relationships+xml"/>
  <Override PartName="/ppt/slides/_rels/slide51.xml.rels" ContentType="application/vnd.openxmlformats-package.relationships+xml"/>
  <Override PartName="/ppt/slides/_rels/slide50.xml.rels" ContentType="application/vnd.openxmlformats-package.relationships+xml"/>
  <Override PartName="/ppt/slides/_rels/slide3.xml.rels" ContentType="application/vnd.openxmlformats-package.relationships+xml"/>
  <Override PartName="/ppt/slides/_rels/slide44.xml.rels" ContentType="application/vnd.openxmlformats-package.relationships+xml"/>
  <Override PartName="/ppt/slides/_rels/slide41.xml.rels" ContentType="application/vnd.openxmlformats-package.relationships+xml"/>
  <Override PartName="/ppt/slides/_rels/slide43.xml.rels" ContentType="application/vnd.openxmlformats-package.relationships+xml"/>
  <Override PartName="/ppt/slides/_rels/slide39.xml.rels" ContentType="application/vnd.openxmlformats-package.relationships+xml"/>
  <Override PartName="/ppt/slides/_rels/slide6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slides/_rels/slide8.xml.rels" ContentType="application/vnd.openxmlformats-package.relationships+xml"/>
  <Override PartName="/ppt/slides/_rels/slide48.xml.rels" ContentType="application/vnd.openxmlformats-package.relationships+xml"/>
  <Override PartName="/ppt/slides/_rels/slide35.xml.rels" ContentType="application/vnd.openxmlformats-package.relationships+xml"/>
  <Override PartName="/ppt/slides/_rels/slide32.xml.rels" ContentType="application/vnd.openxmlformats-package.relationships+xml"/>
  <Override PartName="/ppt/slides/_rels/slide7.xml.rels" ContentType="application/vnd.openxmlformats-package.relationships+xml"/>
  <Override PartName="/ppt/slides/_rels/slide4.xml.rels" ContentType="application/vnd.openxmlformats-package.relationships+xml"/>
  <Override PartName="/ppt/slides/_rels/slide46.xml.rels" ContentType="application/vnd.openxmlformats-package.relationships+xml"/>
  <Override PartName="/ppt/slides/_rels/slide29.xml.rels" ContentType="application/vnd.openxmlformats-package.relationships+xml"/>
  <Override PartName="/ppt/slides/_rels/slide36.xml.rels" ContentType="application/vnd.openxmlformats-package.relationships+xml"/>
  <Override PartName="/ppt/slides/_rels/slide49.xml.rels" ContentType="application/vnd.openxmlformats-package.relationships+xml"/>
  <Override PartName="/ppt/slides/_rels/slide47.xml.rels" ContentType="application/vnd.openxmlformats-package.relationships+xml"/>
  <Override PartName="/ppt/slides/_rels/slide30.xml.rels" ContentType="application/vnd.openxmlformats-package.relationships+xml"/>
  <Override PartName="/ppt/slides/_rels/slide45.xml.rels" ContentType="application/vnd.openxmlformats-package.relationships+xml"/>
  <Override PartName="/ppt/slides/_rels/slide26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24.xml.rels" ContentType="application/vnd.openxmlformats-package.relationships+xml"/>
  <Override PartName="/ppt/slides/_rels/slide28.xml.rels" ContentType="application/vnd.openxmlformats-package.relationships+xml"/>
  <Override PartName="/ppt/slides/_rels/slide42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23.xml.rels" ContentType="application/vnd.openxmlformats-package.relationships+xml"/>
  <Override PartName="/ppt/slides/_rels/slide55.xml.rels" ContentType="application/vnd.openxmlformats-package.relationships+xml"/>
  <Override PartName="/ppt/slides/_rels/slide22.xml.rels" ContentType="application/vnd.openxmlformats-package.relationships+xml"/>
  <Override PartName="/ppt/slides/_rels/slide31.xml.rels" ContentType="application/vnd.openxmlformats-package.relationships+xml"/>
  <Override PartName="/ppt/slides/_rels/slide12.xml.rels" ContentType="application/vnd.openxmlformats-package.relationships+xml"/>
  <Override PartName="/ppt/slides/_rels/slide17.xml.rels" ContentType="application/vnd.openxmlformats-package.relationships+xml"/>
  <Override PartName="/ppt/slides/_rels/slide21.xml.rels" ContentType="application/vnd.openxmlformats-package.relationships+xml"/>
  <Override PartName="/ppt/slides/_rels/slide20.xml.rels" ContentType="application/vnd.openxmlformats-package.relationships+xml"/>
  <Override PartName="/ppt/slides/_rels/slide11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slide42.xml" ContentType="application/vnd.openxmlformats-officedocument.presentationml.slide+xml"/>
  <Override PartName="/ppt/slides/slide8.xml" ContentType="application/vnd.openxmlformats-officedocument.presentationml.slide+xml"/>
  <Override PartName="/ppt/slides/slide43.xml" ContentType="application/vnd.openxmlformats-officedocument.presentationml.slide+xml"/>
  <Override PartName="/ppt/slides/slide41.xml" ContentType="application/vnd.openxmlformats-officedocument.presentationml.slide+xml"/>
  <Override PartName="/ppt/slides/slide34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56.xml" ContentType="application/vnd.openxmlformats-officedocument.presentationml.slide+xml"/>
  <Override PartName="/ppt/slides/slide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35.xml" ContentType="application/vnd.openxmlformats-officedocument.presentationml.slide+xml"/>
  <Override PartName="/ppt/slides/slide29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2.xml" ContentType="application/vnd.openxmlformats-officedocument.presentationml.slide+xml"/>
  <Override PartName="/ppt/slides/slide50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.xml.rels" ContentType="application/vnd.openxmlformats-package.relationships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.png" ContentType="image/png"/>
  <Override PartName="/ppt/media/image3.png" ContentType="image/png"/>
  <Override PartName="/ppt/media/image4.png" ContentType="image/png"/>
  <Override PartName="/ppt/media/image8.png" ContentType="image/png"/>
  <Override PartName="/ppt/media/image5.png" ContentType="image/png"/>
  <Override PartName="/ppt/media/image6.png" ContentType="image/png"/>
  <Override PartName="/ppt/media/image2.png" ContentType="image/png"/>
  <Override PartName="/ppt/media/image7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73475C-85A8-4757-8A46-70A41CCAD1D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A2BC775-F744-4FA6-97C8-B349FE6A17D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18E6F9-2DAC-486E-BF34-2086DF3F548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1AC0C5D-5AD9-49A2-880C-CFE05CC4E70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3F75B5-4435-4621-9B71-0EFB4D02F0F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93A170-16DF-46A0-B39B-AF1FB636B65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660D49-1E01-4C50-A1FC-3C128437989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BDDB62-C705-4A9D-A79B-08DDD4952B0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9913F18-F0DD-45EB-ABDF-442C8BA4502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566C0C-E062-4C78-991E-462767B8502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FA198E-DC7C-4FE7-8091-594B85EEB1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ru-RU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34704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1005840" y="205740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ЛЕКЦИЯ 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1005840" y="2606040"/>
            <a:ext cx="100580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Graph Neural Networks: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message passing</a:t>
            </a:r>
            <a:endParaRPr b="0" lang="ru-RU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005840" y="411480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GCN, GraphSAGE, GAT и как их правильно обучать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Connector 5"/>
          <p:cNvCxnSpPr/>
          <p:nvPr/>
        </p:nvCxnSpPr>
        <p:spPr>
          <a:xfrm>
            <a:off x="1005840" y="4892040"/>
            <a:ext cx="2743200" cy="360"/>
          </a:xfrm>
          <a:prstGeom prst="straightConnector1">
            <a:avLst/>
          </a:prstGeom>
          <a:ln w="12700">
            <a:solidFill>
              <a:srgbClr val="d8dee7"/>
            </a:solidFill>
            <a:round/>
          </a:ln>
        </p:spPr>
      </p:cxnSp>
      <p:sp>
        <p:nvSpPr>
          <p:cNvPr id="66" name="TextBox 6"/>
          <p:cNvSpPr/>
          <p:nvPr/>
        </p:nvSpPr>
        <p:spPr>
          <a:xfrm>
            <a:off x="1005840" y="507492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НАПОМИНАНИЕ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было в прошлый раз?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Научились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Обучать эмбеддинги вершин случайными блужданиями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Делать честный сплит рёбер для link prediction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Сравнивать вершины скалярным произведением и сверяться с Adamic–Adar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Упёрлись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Новая вершина — переобучать всё заново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Таблица параметров растёт вместе с графом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вершин не используются вообще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ПЛАН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План лекции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 превратить энкодер из таблицы в функцию?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Message passing: три шага, из которых состоит любая графовая сеть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GCN, GraphSAGE, GAT — чем отличаются и что выбирать?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 это обучать? Сплиты, лоссы, глубина, over-smoothing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9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Какой baseline обязателен, прежде чем радоваться результату?</a:t>
            </a:r>
            <a:endParaRPr b="0" lang="ru-RU" sz="1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1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От таблицы эмбеддингов к функции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ИДЕЯ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Главная идея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640080" y="1481400"/>
            <a:ext cx="56689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вершины считаем из её признаков и признаков соседей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Веса общие для всех вершин: их число не зависит от размера графа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Новая вершина? Просто примените ту же функцию к её окрестности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вершин используются по построению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Осталось решить, как именно смешивать признаки соседей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" name="Connector 8"/>
          <p:cNvCxnSpPr/>
          <p:nvPr/>
        </p:nvCxnSpPr>
        <p:spPr>
          <a:xfrm flipH="1" flipV="1">
            <a:off x="8071560" y="2159640"/>
            <a:ext cx="849960" cy="6253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7" name="Connector 9"/>
          <p:cNvCxnSpPr/>
          <p:nvPr/>
        </p:nvCxnSpPr>
        <p:spPr>
          <a:xfrm flipH="1">
            <a:off x="7791840" y="3009240"/>
            <a:ext cx="1108800" cy="5310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8" name="Connector 10"/>
          <p:cNvCxnSpPr/>
          <p:nvPr/>
        </p:nvCxnSpPr>
        <p:spPr>
          <a:xfrm flipV="1">
            <a:off x="9303480" y="2477160"/>
            <a:ext cx="964800" cy="3607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99" name="Connector 11"/>
          <p:cNvCxnSpPr/>
          <p:nvPr/>
        </p:nvCxnSpPr>
        <p:spPr>
          <a:xfrm flipH="1">
            <a:off x="7133040" y="2149920"/>
            <a:ext cx="578160" cy="377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0" name="Connector 12"/>
          <p:cNvCxnSpPr/>
          <p:nvPr/>
        </p:nvCxnSpPr>
        <p:spPr>
          <a:xfrm flipH="1" flipV="1">
            <a:off x="7069320" y="2830680"/>
            <a:ext cx="405000" cy="620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" name="Connector 13"/>
          <p:cNvCxnSpPr/>
          <p:nvPr/>
        </p:nvCxnSpPr>
        <p:spPr>
          <a:xfrm>
            <a:off x="10597320" y="2581200"/>
            <a:ext cx="525960" cy="769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2" name="Connector 14"/>
          <p:cNvCxnSpPr/>
          <p:nvPr/>
        </p:nvCxnSpPr>
        <p:spPr>
          <a:xfrm>
            <a:off x="7811640" y="3660480"/>
            <a:ext cx="1283760" cy="154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3" name="Oval 15"/>
          <p:cNvSpPr/>
          <p:nvPr/>
        </p:nvSpPr>
        <p:spPr>
          <a:xfrm>
            <a:off x="8878680" y="2695320"/>
            <a:ext cx="438480" cy="4384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Oval 16"/>
          <p:cNvSpPr/>
          <p:nvPr/>
        </p:nvSpPr>
        <p:spPr>
          <a:xfrm>
            <a:off x="7675560" y="181044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Oval 17"/>
          <p:cNvSpPr/>
          <p:nvPr/>
        </p:nvSpPr>
        <p:spPr>
          <a:xfrm>
            <a:off x="7374600" y="341532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Oval 18"/>
          <p:cNvSpPr/>
          <p:nvPr/>
        </p:nvSpPr>
        <p:spPr>
          <a:xfrm>
            <a:off x="10254240" y="218088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Oval 19"/>
          <p:cNvSpPr/>
          <p:nvPr/>
        </p:nvSpPr>
        <p:spPr>
          <a:xfrm>
            <a:off x="6729840" y="242784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Oval 20"/>
          <p:cNvSpPr/>
          <p:nvPr/>
        </p:nvSpPr>
        <p:spPr>
          <a:xfrm>
            <a:off x="11027520" y="331236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Oval 21"/>
          <p:cNvSpPr/>
          <p:nvPr/>
        </p:nvSpPr>
        <p:spPr>
          <a:xfrm>
            <a:off x="9093600" y="3620880"/>
            <a:ext cx="438480" cy="4384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2"/>
          <p:cNvSpPr/>
          <p:nvPr/>
        </p:nvSpPr>
        <p:spPr>
          <a:xfrm>
            <a:off x="6583680" y="41605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свои признаки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23"/>
          <p:cNvSpPr/>
          <p:nvPr/>
        </p:nvSpPr>
        <p:spPr>
          <a:xfrm>
            <a:off x="6428160" y="4526280"/>
            <a:ext cx="25560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24"/>
          <p:cNvSpPr/>
          <p:nvPr/>
        </p:nvSpPr>
        <p:spPr>
          <a:xfrm>
            <a:off x="6812280" y="4526280"/>
            <a:ext cx="328680" cy="32868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25"/>
          <p:cNvSpPr/>
          <p:nvPr/>
        </p:nvSpPr>
        <p:spPr>
          <a:xfrm>
            <a:off x="7141320" y="4526280"/>
            <a:ext cx="328680" cy="32868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Rectangle 26"/>
          <p:cNvSpPr/>
          <p:nvPr/>
        </p:nvSpPr>
        <p:spPr>
          <a:xfrm>
            <a:off x="7470720" y="4526280"/>
            <a:ext cx="328680" cy="32868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27"/>
          <p:cNvSpPr/>
          <p:nvPr/>
        </p:nvSpPr>
        <p:spPr>
          <a:xfrm>
            <a:off x="8229600" y="41605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признаки соседей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8"/>
          <p:cNvSpPr/>
          <p:nvPr/>
        </p:nvSpPr>
        <p:spPr>
          <a:xfrm>
            <a:off x="8211240" y="452628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29"/>
          <p:cNvSpPr/>
          <p:nvPr/>
        </p:nvSpPr>
        <p:spPr>
          <a:xfrm>
            <a:off x="8595360" y="4526280"/>
            <a:ext cx="328680" cy="27396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30"/>
          <p:cNvSpPr/>
          <p:nvPr/>
        </p:nvSpPr>
        <p:spPr>
          <a:xfrm>
            <a:off x="8924400" y="4526280"/>
            <a:ext cx="328680" cy="27396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ectangle 31"/>
          <p:cNvSpPr/>
          <p:nvPr/>
        </p:nvSpPr>
        <p:spPr>
          <a:xfrm>
            <a:off x="9253800" y="4526280"/>
            <a:ext cx="328680" cy="27396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32"/>
          <p:cNvSpPr/>
          <p:nvPr/>
        </p:nvSpPr>
        <p:spPr>
          <a:xfrm>
            <a:off x="8211240" y="480060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33"/>
          <p:cNvSpPr/>
          <p:nvPr/>
        </p:nvSpPr>
        <p:spPr>
          <a:xfrm>
            <a:off x="8595360" y="4800600"/>
            <a:ext cx="328680" cy="27396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Rectangle 34"/>
          <p:cNvSpPr/>
          <p:nvPr/>
        </p:nvSpPr>
        <p:spPr>
          <a:xfrm>
            <a:off x="8924400" y="4800600"/>
            <a:ext cx="328680" cy="27396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Rectangle 35"/>
          <p:cNvSpPr/>
          <p:nvPr/>
        </p:nvSpPr>
        <p:spPr>
          <a:xfrm>
            <a:off x="9253800" y="4800600"/>
            <a:ext cx="328680" cy="27396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4" name="TextBox 36"/>
          <p:cNvSpPr/>
          <p:nvPr/>
        </p:nvSpPr>
        <p:spPr>
          <a:xfrm>
            <a:off x="8211240" y="5074920"/>
            <a:ext cx="255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37"/>
          <p:cNvSpPr/>
          <p:nvPr/>
        </p:nvSpPr>
        <p:spPr>
          <a:xfrm>
            <a:off x="8595360" y="5074920"/>
            <a:ext cx="328680" cy="27396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38"/>
          <p:cNvSpPr/>
          <p:nvPr/>
        </p:nvSpPr>
        <p:spPr>
          <a:xfrm>
            <a:off x="8924400" y="5074920"/>
            <a:ext cx="328680" cy="27396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Rectangle 39"/>
          <p:cNvSpPr/>
          <p:nvPr/>
        </p:nvSpPr>
        <p:spPr>
          <a:xfrm>
            <a:off x="9253800" y="5074920"/>
            <a:ext cx="328680" cy="27396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28" name="Connector 40"/>
          <p:cNvCxnSpPr/>
          <p:nvPr/>
        </p:nvCxnSpPr>
        <p:spPr>
          <a:xfrm>
            <a:off x="9692640" y="4937760"/>
            <a:ext cx="50328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129" name="Isosceles Triangle 41"/>
          <p:cNvSpPr/>
          <p:nvPr/>
        </p:nvSpPr>
        <p:spPr>
          <a:xfrm rot="5400000">
            <a:off x="10122840" y="486468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42"/>
          <p:cNvSpPr/>
          <p:nvPr/>
        </p:nvSpPr>
        <p:spPr>
          <a:xfrm>
            <a:off x="10012680" y="4160520"/>
            <a:ext cx="15541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новый вектор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43"/>
          <p:cNvSpPr/>
          <p:nvPr/>
        </p:nvSpPr>
        <p:spPr>
          <a:xfrm>
            <a:off x="10332720" y="4773240"/>
            <a:ext cx="328680" cy="328680"/>
          </a:xfrm>
          <a:prstGeom prst="rect">
            <a:avLst/>
          </a:prstGeom>
          <a:solidFill>
            <a:srgbClr val="c2e3e3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Rectangle 44"/>
          <p:cNvSpPr/>
          <p:nvPr/>
        </p:nvSpPr>
        <p:spPr>
          <a:xfrm>
            <a:off x="10661760" y="4773240"/>
            <a:ext cx="328680" cy="328680"/>
          </a:xfrm>
          <a:prstGeom prst="rect">
            <a:avLst/>
          </a:prstGeom>
          <a:solidFill>
            <a:srgbClr val="eef7f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Rectangle 45"/>
          <p:cNvSpPr/>
          <p:nvPr/>
        </p:nvSpPr>
        <p:spPr>
          <a:xfrm>
            <a:off x="10991160" y="4773240"/>
            <a:ext cx="328680" cy="32868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" name="TextBox 46"/>
          <p:cNvSpPr/>
          <p:nvPr/>
        </p:nvSpPr>
        <p:spPr>
          <a:xfrm>
            <a:off x="640080" y="56692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Оранжевая вершина собирает сообщения от бирюзовых соседей и получает новый вектор.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МОТИВАЦИЯ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свёртка с картинки не переносится?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8"/>
          <p:cNvSpPr/>
          <p:nvPr/>
        </p:nvSpPr>
        <p:spPr>
          <a:xfrm>
            <a:off x="640080" y="16459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Изображение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9"/>
          <p:cNvSpPr/>
          <p:nvPr/>
        </p:nvSpPr>
        <p:spPr>
          <a:xfrm>
            <a:off x="2240280" y="2103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10"/>
          <p:cNvSpPr/>
          <p:nvPr/>
        </p:nvSpPr>
        <p:spPr>
          <a:xfrm>
            <a:off x="2624400" y="2103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11"/>
          <p:cNvSpPr/>
          <p:nvPr/>
        </p:nvSpPr>
        <p:spPr>
          <a:xfrm>
            <a:off x="3008520" y="2103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ounded Rectangle 12"/>
          <p:cNvSpPr/>
          <p:nvPr/>
        </p:nvSpPr>
        <p:spPr>
          <a:xfrm>
            <a:off x="3392280" y="2103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Rounded Rectangle 13"/>
          <p:cNvSpPr/>
          <p:nvPr/>
        </p:nvSpPr>
        <p:spPr>
          <a:xfrm>
            <a:off x="3776400" y="2103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4"/>
          <p:cNvSpPr/>
          <p:nvPr/>
        </p:nvSpPr>
        <p:spPr>
          <a:xfrm>
            <a:off x="2240280" y="2487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ounded Rectangle 15"/>
          <p:cNvSpPr/>
          <p:nvPr/>
        </p:nvSpPr>
        <p:spPr>
          <a:xfrm>
            <a:off x="2624400" y="2487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Rounded Rectangle 16"/>
          <p:cNvSpPr/>
          <p:nvPr/>
        </p:nvSpPr>
        <p:spPr>
          <a:xfrm>
            <a:off x="3008520" y="2487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Rounded Rectangle 17"/>
          <p:cNvSpPr/>
          <p:nvPr/>
        </p:nvSpPr>
        <p:spPr>
          <a:xfrm>
            <a:off x="3392280" y="2487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ounded Rectangle 18"/>
          <p:cNvSpPr/>
          <p:nvPr/>
        </p:nvSpPr>
        <p:spPr>
          <a:xfrm>
            <a:off x="3776400" y="2487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19"/>
          <p:cNvSpPr/>
          <p:nvPr/>
        </p:nvSpPr>
        <p:spPr>
          <a:xfrm>
            <a:off x="2240280" y="287136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Rounded Rectangle 20"/>
          <p:cNvSpPr/>
          <p:nvPr/>
        </p:nvSpPr>
        <p:spPr>
          <a:xfrm>
            <a:off x="2624400" y="287136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ounded Rectangle 21"/>
          <p:cNvSpPr/>
          <p:nvPr/>
        </p:nvSpPr>
        <p:spPr>
          <a:xfrm>
            <a:off x="3008520" y="287136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e07a3f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Rounded Rectangle 22"/>
          <p:cNvSpPr/>
          <p:nvPr/>
        </p:nvSpPr>
        <p:spPr>
          <a:xfrm>
            <a:off x="3392280" y="287136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5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23"/>
          <p:cNvSpPr/>
          <p:nvPr/>
        </p:nvSpPr>
        <p:spPr>
          <a:xfrm>
            <a:off x="3776400" y="287136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24"/>
          <p:cNvSpPr/>
          <p:nvPr/>
        </p:nvSpPr>
        <p:spPr>
          <a:xfrm>
            <a:off x="2240280" y="3255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Rounded Rectangle 25"/>
          <p:cNvSpPr/>
          <p:nvPr/>
        </p:nvSpPr>
        <p:spPr>
          <a:xfrm>
            <a:off x="2624400" y="3255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Rounded Rectangle 26"/>
          <p:cNvSpPr/>
          <p:nvPr/>
        </p:nvSpPr>
        <p:spPr>
          <a:xfrm>
            <a:off x="3008520" y="3255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7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Rounded Rectangle 27"/>
          <p:cNvSpPr/>
          <p:nvPr/>
        </p:nvSpPr>
        <p:spPr>
          <a:xfrm>
            <a:off x="3392280" y="3255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b7dddd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8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28"/>
          <p:cNvSpPr/>
          <p:nvPr/>
        </p:nvSpPr>
        <p:spPr>
          <a:xfrm>
            <a:off x="3776400" y="325512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Rounded Rectangle 29"/>
          <p:cNvSpPr/>
          <p:nvPr/>
        </p:nvSpPr>
        <p:spPr>
          <a:xfrm>
            <a:off x="2240280" y="3639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30"/>
          <p:cNvSpPr/>
          <p:nvPr/>
        </p:nvSpPr>
        <p:spPr>
          <a:xfrm>
            <a:off x="2624400" y="3639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Rounded Rectangle 31"/>
          <p:cNvSpPr/>
          <p:nvPr/>
        </p:nvSpPr>
        <p:spPr>
          <a:xfrm>
            <a:off x="3008520" y="3639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Rounded Rectangle 32"/>
          <p:cNvSpPr/>
          <p:nvPr/>
        </p:nvSpPr>
        <p:spPr>
          <a:xfrm>
            <a:off x="3392280" y="3639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Rounded Rectangle 33"/>
          <p:cNvSpPr/>
          <p:nvPr/>
        </p:nvSpPr>
        <p:spPr>
          <a:xfrm>
            <a:off x="3776400" y="3639240"/>
            <a:ext cx="356400" cy="3564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34"/>
          <p:cNvSpPr/>
          <p:nvPr/>
        </p:nvSpPr>
        <p:spPr>
          <a:xfrm>
            <a:off x="2578680" y="2441520"/>
            <a:ext cx="1215720" cy="1215720"/>
          </a:xfrm>
          <a:prstGeom prst="rect">
            <a:avLst/>
          </a:prstGeom>
          <a:noFill/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35"/>
          <p:cNvSpPr/>
          <p:nvPr/>
        </p:nvSpPr>
        <p:spPr>
          <a:xfrm>
            <a:off x="640080" y="4114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 соседей, у каждого свой номер и свой вес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Box 36"/>
          <p:cNvSpPr/>
          <p:nvPr/>
        </p:nvSpPr>
        <p:spPr>
          <a:xfrm>
            <a:off x="6400800" y="16459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Граф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1" name="Connector 37"/>
          <p:cNvCxnSpPr/>
          <p:nvPr/>
        </p:nvCxnSpPr>
        <p:spPr>
          <a:xfrm flipH="1" flipV="1">
            <a:off x="6983640" y="2540520"/>
            <a:ext cx="370440" cy="3596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2" name="Connector 38"/>
          <p:cNvCxnSpPr/>
          <p:nvPr/>
        </p:nvCxnSpPr>
        <p:spPr>
          <a:xfrm>
            <a:off x="7651080" y="3170520"/>
            <a:ext cx="352440" cy="29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73" name="Oval 39"/>
          <p:cNvSpPr/>
          <p:nvPr/>
        </p:nvSpPr>
        <p:spPr>
          <a:xfrm>
            <a:off x="7296840" y="283932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Oval 40"/>
          <p:cNvSpPr/>
          <p:nvPr/>
        </p:nvSpPr>
        <p:spPr>
          <a:xfrm>
            <a:off x="6638400" y="219924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Oval 41"/>
          <p:cNvSpPr/>
          <p:nvPr/>
        </p:nvSpPr>
        <p:spPr>
          <a:xfrm>
            <a:off x="7955280" y="33991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76" name="Connector 42"/>
          <p:cNvCxnSpPr/>
          <p:nvPr/>
        </p:nvCxnSpPr>
        <p:spPr>
          <a:xfrm>
            <a:off x="10290960" y="3114000"/>
            <a:ext cx="536760" cy="212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7" name="Connector 43"/>
          <p:cNvCxnSpPr/>
          <p:nvPr/>
        </p:nvCxnSpPr>
        <p:spPr>
          <a:xfrm>
            <a:off x="10161720" y="3232800"/>
            <a:ext cx="151560" cy="504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8" name="Connector 44"/>
          <p:cNvCxnSpPr/>
          <p:nvPr/>
        </p:nvCxnSpPr>
        <p:spPr>
          <a:xfrm flipH="1">
            <a:off x="9648720" y="3199680"/>
            <a:ext cx="332640" cy="431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79" name="Connector 45"/>
          <p:cNvCxnSpPr/>
          <p:nvPr/>
        </p:nvCxnSpPr>
        <p:spPr>
          <a:xfrm flipH="1">
            <a:off x="9317520" y="3049200"/>
            <a:ext cx="585720" cy="27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80" name="Connector 46"/>
          <p:cNvCxnSpPr/>
          <p:nvPr/>
        </p:nvCxnSpPr>
        <p:spPr>
          <a:xfrm flipH="1" flipV="1">
            <a:off x="9588600" y="2493000"/>
            <a:ext cx="377640" cy="401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81" name="Connector 47"/>
          <p:cNvCxnSpPr/>
          <p:nvPr/>
        </p:nvCxnSpPr>
        <p:spPr>
          <a:xfrm flipV="1">
            <a:off x="10141560" y="2328120"/>
            <a:ext cx="97920" cy="514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82" name="Connector 48"/>
          <p:cNvCxnSpPr/>
          <p:nvPr/>
        </p:nvCxnSpPr>
        <p:spPr>
          <a:xfrm flipV="1">
            <a:off x="10283400" y="2690280"/>
            <a:ext cx="510120" cy="259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83" name="Oval 49"/>
          <p:cNvSpPr/>
          <p:nvPr/>
        </p:nvSpPr>
        <p:spPr>
          <a:xfrm>
            <a:off x="9902880" y="283932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Oval 50"/>
          <p:cNvSpPr/>
          <p:nvPr/>
        </p:nvSpPr>
        <p:spPr>
          <a:xfrm>
            <a:off x="10813320" y="31989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5" name="Oval 51"/>
          <p:cNvSpPr/>
          <p:nvPr/>
        </p:nvSpPr>
        <p:spPr>
          <a:xfrm>
            <a:off x="10169640" y="3728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Oval 52"/>
          <p:cNvSpPr/>
          <p:nvPr/>
        </p:nvSpPr>
        <p:spPr>
          <a:xfrm>
            <a:off x="9325080" y="358884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Oval 53"/>
          <p:cNvSpPr/>
          <p:nvPr/>
        </p:nvSpPr>
        <p:spPr>
          <a:xfrm>
            <a:off x="8915760" y="28843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Oval 54"/>
          <p:cNvSpPr/>
          <p:nvPr/>
        </p:nvSpPr>
        <p:spPr>
          <a:xfrm>
            <a:off x="9249840" y="21456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Oval 55"/>
          <p:cNvSpPr/>
          <p:nvPr/>
        </p:nvSpPr>
        <p:spPr>
          <a:xfrm>
            <a:off x="10075680" y="19296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Oval 56"/>
          <p:cNvSpPr/>
          <p:nvPr/>
        </p:nvSpPr>
        <p:spPr>
          <a:xfrm>
            <a:off x="10771560" y="23983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57"/>
          <p:cNvSpPr/>
          <p:nvPr/>
        </p:nvSpPr>
        <p:spPr>
          <a:xfrm>
            <a:off x="6400800" y="411480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 соседа или 7 — и никакого порядка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58"/>
          <p:cNvSpPr/>
          <p:nvPr/>
        </p:nvSpPr>
        <p:spPr>
          <a:xfrm>
            <a:off x="640080" y="4617720"/>
            <a:ext cx="530316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Фиксированная решётка: всегда 8 соседей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Есть порядок: у каждой позиции свой вес ядра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Трансляционная инвариантность бесплатно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59"/>
          <p:cNvSpPr/>
          <p:nvPr/>
        </p:nvSpPr>
        <p:spPr>
          <a:xfrm>
            <a:off x="6400800" y="4617720"/>
            <a:ext cx="51202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Степень вершины — от 1 до миллионов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Порядка нет: веса нельзя привязать к позиции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Нужна функция, инвариантная к перестановкам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9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9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ТРЕБОВАНИЕ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такое инвариантность к перестановкам?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7"/>
          <p:cNvSpPr/>
          <p:nvPr/>
        </p:nvSpPr>
        <p:spPr>
          <a:xfrm>
            <a:off x="640080" y="1481400"/>
            <a:ext cx="51202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Перенумеруйте вершины — результат модели не должен измениться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Конкатенация соседей это свойство ломает: порядок случайный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Сумма, среднее, максимум — не ломают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Поэтому агрегация соседей всегда одна из них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Иначе одна и та же молекула получит два разных ответа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01" name="Connector 8"/>
          <p:cNvCxnSpPr/>
          <p:nvPr/>
        </p:nvCxnSpPr>
        <p:spPr>
          <a:xfrm flipH="1" flipV="1">
            <a:off x="7894800" y="2063160"/>
            <a:ext cx="797760" cy="4273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02" name="Connector 9"/>
          <p:cNvCxnSpPr/>
          <p:nvPr/>
        </p:nvCxnSpPr>
        <p:spPr>
          <a:xfrm flipV="1">
            <a:off x="8869320" y="1983960"/>
            <a:ext cx="360" cy="400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03" name="Connector 10"/>
          <p:cNvCxnSpPr/>
          <p:nvPr/>
        </p:nvCxnSpPr>
        <p:spPr>
          <a:xfrm flipV="1">
            <a:off x="9046800" y="2063160"/>
            <a:ext cx="797760" cy="4273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04" name="Oval 11"/>
          <p:cNvSpPr/>
          <p:nvPr/>
        </p:nvSpPr>
        <p:spPr>
          <a:xfrm>
            <a:off x="8668440" y="238428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Oval 12"/>
          <p:cNvSpPr/>
          <p:nvPr/>
        </p:nvSpPr>
        <p:spPr>
          <a:xfrm>
            <a:off x="7516440" y="176724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Oval 13"/>
          <p:cNvSpPr/>
          <p:nvPr/>
        </p:nvSpPr>
        <p:spPr>
          <a:xfrm>
            <a:off x="8668440" y="158184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Oval 14"/>
          <p:cNvSpPr/>
          <p:nvPr/>
        </p:nvSpPr>
        <p:spPr>
          <a:xfrm>
            <a:off x="9820800" y="176724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6620400" y="18309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[1, 0]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9144000" y="164592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[0, 2]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10296000" y="183096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[3, 1]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Box 18"/>
          <p:cNvSpPr/>
          <p:nvPr/>
        </p:nvSpPr>
        <p:spPr>
          <a:xfrm>
            <a:off x="6035040" y="333756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Конкатенация: зависит от порядка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6035040" y="373068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a, b, 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0"/>
          <p:cNvSpPr/>
          <p:nvPr/>
        </p:nvSpPr>
        <p:spPr>
          <a:xfrm>
            <a:off x="6995160" y="3703320"/>
            <a:ext cx="438480" cy="328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Rectangle 21"/>
          <p:cNvSpPr/>
          <p:nvPr/>
        </p:nvSpPr>
        <p:spPr>
          <a:xfrm>
            <a:off x="7434000" y="3703320"/>
            <a:ext cx="438480" cy="32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22"/>
          <p:cNvSpPr/>
          <p:nvPr/>
        </p:nvSpPr>
        <p:spPr>
          <a:xfrm>
            <a:off x="7872840" y="3703320"/>
            <a:ext cx="438480" cy="32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Rectangle 23"/>
          <p:cNvSpPr/>
          <p:nvPr/>
        </p:nvSpPr>
        <p:spPr>
          <a:xfrm>
            <a:off x="8312040" y="3703320"/>
            <a:ext cx="438480" cy="328680"/>
          </a:xfrm>
          <a:prstGeom prst="rect">
            <a:avLst/>
          </a:prstGeom>
          <a:solidFill>
            <a:srgbClr val="9fd2d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24"/>
          <p:cNvSpPr/>
          <p:nvPr/>
        </p:nvSpPr>
        <p:spPr>
          <a:xfrm>
            <a:off x="8750880" y="3703320"/>
            <a:ext cx="438480" cy="3286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Rectangle 25"/>
          <p:cNvSpPr/>
          <p:nvPr/>
        </p:nvSpPr>
        <p:spPr>
          <a:xfrm>
            <a:off x="9189720" y="3703320"/>
            <a:ext cx="438480" cy="328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26"/>
          <p:cNvSpPr/>
          <p:nvPr/>
        </p:nvSpPr>
        <p:spPr>
          <a:xfrm>
            <a:off x="6035040" y="41421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c, a, 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Rectangle 27"/>
          <p:cNvSpPr/>
          <p:nvPr/>
        </p:nvSpPr>
        <p:spPr>
          <a:xfrm>
            <a:off x="6995160" y="4114800"/>
            <a:ext cx="438480" cy="3286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28"/>
          <p:cNvSpPr/>
          <p:nvPr/>
        </p:nvSpPr>
        <p:spPr>
          <a:xfrm>
            <a:off x="7434000" y="4114800"/>
            <a:ext cx="438480" cy="328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Rectangle 29"/>
          <p:cNvSpPr/>
          <p:nvPr/>
        </p:nvSpPr>
        <p:spPr>
          <a:xfrm>
            <a:off x="7872840" y="4114800"/>
            <a:ext cx="438480" cy="328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30"/>
          <p:cNvSpPr/>
          <p:nvPr/>
        </p:nvSpPr>
        <p:spPr>
          <a:xfrm>
            <a:off x="8312040" y="4114800"/>
            <a:ext cx="438480" cy="32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Rectangle 31"/>
          <p:cNvSpPr/>
          <p:nvPr/>
        </p:nvSpPr>
        <p:spPr>
          <a:xfrm>
            <a:off x="8750880" y="4114800"/>
            <a:ext cx="438480" cy="32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32"/>
          <p:cNvSpPr/>
          <p:nvPr/>
        </p:nvSpPr>
        <p:spPr>
          <a:xfrm>
            <a:off x="9189720" y="4114800"/>
            <a:ext cx="438480" cy="328680"/>
          </a:xfrm>
          <a:prstGeom prst="rect">
            <a:avLst/>
          </a:prstGeom>
          <a:solidFill>
            <a:srgbClr val="9fd2d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33"/>
          <p:cNvSpPr/>
          <p:nvPr/>
        </p:nvSpPr>
        <p:spPr>
          <a:xfrm>
            <a:off x="9784080" y="393192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разные ✗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34"/>
          <p:cNvSpPr/>
          <p:nvPr/>
        </p:nvSpPr>
        <p:spPr>
          <a:xfrm>
            <a:off x="6035040" y="466344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Сумма: от порядка не зависит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5"/>
          <p:cNvSpPr/>
          <p:nvPr/>
        </p:nvSpPr>
        <p:spPr>
          <a:xfrm>
            <a:off x="6035040" y="505656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a, b, 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Rectangle 36"/>
          <p:cNvSpPr/>
          <p:nvPr/>
        </p:nvSpPr>
        <p:spPr>
          <a:xfrm>
            <a:off x="6995160" y="5029200"/>
            <a:ext cx="438480" cy="3286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Rectangle 37"/>
          <p:cNvSpPr/>
          <p:nvPr/>
        </p:nvSpPr>
        <p:spPr>
          <a:xfrm>
            <a:off x="7434000" y="5029200"/>
            <a:ext cx="438480" cy="328680"/>
          </a:xfrm>
          <a:prstGeom prst="rect">
            <a:avLst/>
          </a:prstGeom>
          <a:solidFill>
            <a:srgbClr val="93cdc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38"/>
          <p:cNvSpPr/>
          <p:nvPr/>
        </p:nvSpPr>
        <p:spPr>
          <a:xfrm>
            <a:off x="6035040" y="5468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c, a, 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Rectangle 39"/>
          <p:cNvSpPr/>
          <p:nvPr/>
        </p:nvSpPr>
        <p:spPr>
          <a:xfrm>
            <a:off x="6995160" y="5440680"/>
            <a:ext cx="438480" cy="3286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4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40"/>
          <p:cNvSpPr/>
          <p:nvPr/>
        </p:nvSpPr>
        <p:spPr>
          <a:xfrm>
            <a:off x="7434000" y="5440680"/>
            <a:ext cx="438480" cy="328680"/>
          </a:xfrm>
          <a:prstGeom prst="rect">
            <a:avLst/>
          </a:prstGeom>
          <a:solidFill>
            <a:srgbClr val="93cdc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41"/>
          <p:cNvSpPr/>
          <p:nvPr/>
        </p:nvSpPr>
        <p:spPr>
          <a:xfrm>
            <a:off x="8092440" y="525780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одинаковые ✓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3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ПЕРВЫЙ СЛОЙ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Самый простой графовый слой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1" name="Rounded Rectangle 7"/>
          <p:cNvSpPr/>
          <p:nvPr/>
        </p:nvSpPr>
        <p:spPr>
          <a:xfrm>
            <a:off x="640080" y="1801440"/>
            <a:ext cx="10911240" cy="1828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2" name="Picture 8" descr="f_mean.png"/>
          <p:cNvPicPr/>
          <p:nvPr/>
        </p:nvPicPr>
        <p:blipFill>
          <a:blip r:embed="rId1"/>
          <a:stretch/>
        </p:blipFill>
        <p:spPr>
          <a:xfrm>
            <a:off x="2352600" y="2258640"/>
            <a:ext cx="748584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Box 9"/>
          <p:cNvSpPr/>
          <p:nvPr/>
        </p:nvSpPr>
        <p:spPr>
          <a:xfrm>
            <a:off x="640080" y="385884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Усредняем признаки соседей, умножаем на обучаемую матрицу, добавляем собственный вектор вершины и прогоняем через нелинейность. Всё. Это уже работающая графовая сеть.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4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ПРИМЕР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Тот же слой на пальцах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51" name="Connector 8"/>
          <p:cNvCxnSpPr/>
          <p:nvPr/>
        </p:nvCxnSpPr>
        <p:spPr>
          <a:xfrm flipH="1" flipV="1">
            <a:off x="1297440" y="2495520"/>
            <a:ext cx="930960" cy="1080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52" name="Connector 9"/>
          <p:cNvCxnSpPr/>
          <p:nvPr/>
        </p:nvCxnSpPr>
        <p:spPr>
          <a:xfrm flipV="1">
            <a:off x="2377440" y="2331720"/>
            <a:ext cx="360" cy="11890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253" name="Connector 10"/>
          <p:cNvCxnSpPr/>
          <p:nvPr/>
        </p:nvCxnSpPr>
        <p:spPr>
          <a:xfrm flipV="1">
            <a:off x="2526480" y="2495520"/>
            <a:ext cx="930960" cy="1080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254" name="Oval 11"/>
          <p:cNvSpPr/>
          <p:nvPr/>
        </p:nvSpPr>
        <p:spPr>
          <a:xfrm>
            <a:off x="2148840" y="3520440"/>
            <a:ext cx="456840" cy="4568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Oval 12"/>
          <p:cNvSpPr/>
          <p:nvPr/>
        </p:nvSpPr>
        <p:spPr>
          <a:xfrm>
            <a:off x="919800" y="2094120"/>
            <a:ext cx="456840" cy="4568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Oval 13"/>
          <p:cNvSpPr/>
          <p:nvPr/>
        </p:nvSpPr>
        <p:spPr>
          <a:xfrm>
            <a:off x="2148840" y="1874520"/>
            <a:ext cx="456840" cy="4568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Oval 14"/>
          <p:cNvSpPr/>
          <p:nvPr/>
        </p:nvSpPr>
        <p:spPr>
          <a:xfrm>
            <a:off x="3377880" y="2094120"/>
            <a:ext cx="456840" cy="45684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15"/>
          <p:cNvSpPr/>
          <p:nvPr/>
        </p:nvSpPr>
        <p:spPr>
          <a:xfrm>
            <a:off x="4754880" y="18198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признаки соседей a, b, c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16"/>
          <p:cNvSpPr/>
          <p:nvPr/>
        </p:nvSpPr>
        <p:spPr>
          <a:xfrm>
            <a:off x="7936920" y="1783080"/>
            <a:ext cx="25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Rectangle 17"/>
          <p:cNvSpPr/>
          <p:nvPr/>
        </p:nvSpPr>
        <p:spPr>
          <a:xfrm>
            <a:off x="8321040" y="1783080"/>
            <a:ext cx="7311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18"/>
          <p:cNvSpPr/>
          <p:nvPr/>
        </p:nvSpPr>
        <p:spPr>
          <a:xfrm>
            <a:off x="9052560" y="1783080"/>
            <a:ext cx="731160" cy="347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19"/>
          <p:cNvSpPr/>
          <p:nvPr/>
        </p:nvSpPr>
        <p:spPr>
          <a:xfrm>
            <a:off x="9784080" y="178308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0"/>
          <p:cNvSpPr/>
          <p:nvPr/>
        </p:nvSpPr>
        <p:spPr>
          <a:xfrm>
            <a:off x="7936920" y="2130480"/>
            <a:ext cx="25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21"/>
          <p:cNvSpPr/>
          <p:nvPr/>
        </p:nvSpPr>
        <p:spPr>
          <a:xfrm>
            <a:off x="8321040" y="2130480"/>
            <a:ext cx="731160" cy="347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ectangle 22"/>
          <p:cNvSpPr/>
          <p:nvPr/>
        </p:nvSpPr>
        <p:spPr>
          <a:xfrm>
            <a:off x="9052560" y="2130480"/>
            <a:ext cx="7311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Rectangle 23"/>
          <p:cNvSpPr/>
          <p:nvPr/>
        </p:nvSpPr>
        <p:spPr>
          <a:xfrm>
            <a:off x="9784080" y="2130480"/>
            <a:ext cx="731160" cy="34704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−1.00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24"/>
          <p:cNvSpPr/>
          <p:nvPr/>
        </p:nvSpPr>
        <p:spPr>
          <a:xfrm>
            <a:off x="7936920" y="2477880"/>
            <a:ext cx="2556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25"/>
          <p:cNvSpPr/>
          <p:nvPr/>
        </p:nvSpPr>
        <p:spPr>
          <a:xfrm>
            <a:off x="8321040" y="2477880"/>
            <a:ext cx="731160" cy="34704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Rectangle 26"/>
          <p:cNvSpPr/>
          <p:nvPr/>
        </p:nvSpPr>
        <p:spPr>
          <a:xfrm>
            <a:off x="9052560" y="2477880"/>
            <a:ext cx="731160" cy="34704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−1.00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27"/>
          <p:cNvSpPr/>
          <p:nvPr/>
        </p:nvSpPr>
        <p:spPr>
          <a:xfrm>
            <a:off x="9784080" y="2477880"/>
            <a:ext cx="731160" cy="347040"/>
          </a:xfrm>
          <a:prstGeom prst="rect">
            <a:avLst/>
          </a:prstGeom>
          <a:solidFill>
            <a:srgbClr val="faebe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28"/>
          <p:cNvSpPr/>
          <p:nvPr/>
        </p:nvSpPr>
        <p:spPr>
          <a:xfrm>
            <a:off x="4754880" y="30448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среднее соседей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Rectangle 29"/>
          <p:cNvSpPr/>
          <p:nvPr/>
        </p:nvSpPr>
        <p:spPr>
          <a:xfrm>
            <a:off x="8321040" y="3008520"/>
            <a:ext cx="731160" cy="34704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30"/>
          <p:cNvSpPr/>
          <p:nvPr/>
        </p:nvSpPr>
        <p:spPr>
          <a:xfrm>
            <a:off x="9052560" y="3008520"/>
            <a:ext cx="731160" cy="347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Rectangle 31"/>
          <p:cNvSpPr/>
          <p:nvPr/>
        </p:nvSpPr>
        <p:spPr>
          <a:xfrm>
            <a:off x="9784080" y="3008520"/>
            <a:ext cx="731160" cy="347040"/>
          </a:xfrm>
          <a:prstGeom prst="rect">
            <a:avLst/>
          </a:prstGeom>
          <a:solidFill>
            <a:srgbClr val="fcf2e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32"/>
          <p:cNvSpPr/>
          <p:nvPr/>
        </p:nvSpPr>
        <p:spPr>
          <a:xfrm>
            <a:off x="4754880" y="357516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+ свой вектор v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33"/>
          <p:cNvSpPr/>
          <p:nvPr/>
        </p:nvSpPr>
        <p:spPr>
          <a:xfrm>
            <a:off x="8321040" y="3538800"/>
            <a:ext cx="731160" cy="347040"/>
          </a:xfrm>
          <a:prstGeom prst="rect">
            <a:avLst/>
          </a:prstGeom>
          <a:solidFill>
            <a:srgbClr val="faebe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Rectangle 34"/>
          <p:cNvSpPr/>
          <p:nvPr/>
        </p:nvSpPr>
        <p:spPr>
          <a:xfrm>
            <a:off x="9052560" y="353880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35"/>
          <p:cNvSpPr/>
          <p:nvPr/>
        </p:nvSpPr>
        <p:spPr>
          <a:xfrm>
            <a:off x="9784080" y="3538800"/>
            <a:ext cx="731160" cy="347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36"/>
          <p:cNvSpPr/>
          <p:nvPr/>
        </p:nvSpPr>
        <p:spPr>
          <a:xfrm>
            <a:off x="4754880" y="410580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сумма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ectangle 37"/>
          <p:cNvSpPr/>
          <p:nvPr/>
        </p:nvSpPr>
        <p:spPr>
          <a:xfrm>
            <a:off x="8321040" y="406908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38"/>
          <p:cNvSpPr/>
          <p:nvPr/>
        </p:nvSpPr>
        <p:spPr>
          <a:xfrm>
            <a:off x="9052560" y="406908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Rectangle 39"/>
          <p:cNvSpPr/>
          <p:nvPr/>
        </p:nvSpPr>
        <p:spPr>
          <a:xfrm>
            <a:off x="9784080" y="4069080"/>
            <a:ext cx="731160" cy="347040"/>
          </a:xfrm>
          <a:prstGeom prst="rect">
            <a:avLst/>
          </a:prstGeom>
          <a:solidFill>
            <a:srgbClr val="fcf2e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−0.33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40"/>
          <p:cNvSpPr/>
          <p:nvPr/>
        </p:nvSpPr>
        <p:spPr>
          <a:xfrm>
            <a:off x="4754880" y="46360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после ReLU — новый вектор v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41"/>
          <p:cNvSpPr/>
          <p:nvPr/>
        </p:nvSpPr>
        <p:spPr>
          <a:xfrm>
            <a:off x="8321040" y="459936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ectangle 42"/>
          <p:cNvSpPr/>
          <p:nvPr/>
        </p:nvSpPr>
        <p:spPr>
          <a:xfrm>
            <a:off x="9052560" y="4599360"/>
            <a:ext cx="731160" cy="34704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Rectangle 43"/>
          <p:cNvSpPr/>
          <p:nvPr/>
        </p:nvSpPr>
        <p:spPr>
          <a:xfrm>
            <a:off x="9784080" y="4599360"/>
            <a:ext cx="731160" cy="34704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0.00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44"/>
          <p:cNvSpPr/>
          <p:nvPr/>
        </p:nvSpPr>
        <p:spPr>
          <a:xfrm>
            <a:off x="640080" y="534924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W и B здесь единичные, чтобы было видно саму агрегацию. В настоящей сети это обучаемые матрицы: они поворачивают и масштабируют векторы перед сложением.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29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НОРМАЛИЗАЦИЯ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простое среднее — плохая идея?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4" name="TextBox 7"/>
          <p:cNvSpPr/>
          <p:nvPr/>
        </p:nvSpPr>
        <p:spPr>
          <a:xfrm>
            <a:off x="640080" y="1481400"/>
            <a:ext cx="52117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вершины A два соседа, у B — двенадцать, у настоящего хаба — тысячи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Сумма: сигнал B в шесть раз громче — взрывается на хабах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Среднее: каждый сосед B в шесть раз тише — тонет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 — компромисс: делим на корень из произведения степеней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вклад соседа тем меньше, чем он популярнее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Та же идея, что в Adamic–Adar из лекции 1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Connector 8"/>
          <p:cNvCxnSpPr/>
          <p:nvPr/>
        </p:nvCxnSpPr>
        <p:spPr>
          <a:xfrm flipH="1" flipV="1">
            <a:off x="6632640" y="2262960"/>
            <a:ext cx="340920" cy="2653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296" name="Connector 9"/>
          <p:cNvCxnSpPr/>
          <p:nvPr/>
        </p:nvCxnSpPr>
        <p:spPr>
          <a:xfrm>
            <a:off x="7291080" y="2775240"/>
            <a:ext cx="340920" cy="2653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297" name="Oval 10"/>
          <p:cNvSpPr/>
          <p:nvPr/>
        </p:nvSpPr>
        <p:spPr>
          <a:xfrm>
            <a:off x="6931080" y="245052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Oval 11"/>
          <p:cNvSpPr/>
          <p:nvPr/>
        </p:nvSpPr>
        <p:spPr>
          <a:xfrm>
            <a:off x="6272640" y="19386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Oval 12"/>
          <p:cNvSpPr/>
          <p:nvPr/>
        </p:nvSpPr>
        <p:spPr>
          <a:xfrm>
            <a:off x="7589520" y="29628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00" name="Connector 13"/>
          <p:cNvCxnSpPr/>
          <p:nvPr/>
        </p:nvCxnSpPr>
        <p:spPr>
          <a:xfrm>
            <a:off x="10030680" y="2651760"/>
            <a:ext cx="72108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1" name="Connector 14"/>
          <p:cNvCxnSpPr/>
          <p:nvPr/>
        </p:nvCxnSpPr>
        <p:spPr>
          <a:xfrm>
            <a:off x="10015560" y="2719080"/>
            <a:ext cx="613440" cy="295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2" name="Connector 15"/>
          <p:cNvCxnSpPr/>
          <p:nvPr/>
        </p:nvCxnSpPr>
        <p:spPr>
          <a:xfrm>
            <a:off x="9963720" y="2779200"/>
            <a:ext cx="339120" cy="489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3" name="Connector 16"/>
          <p:cNvCxnSpPr/>
          <p:nvPr/>
        </p:nvCxnSpPr>
        <p:spPr>
          <a:xfrm>
            <a:off x="9875520" y="2806920"/>
            <a:ext cx="360" cy="549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4" name="Connector 17"/>
          <p:cNvCxnSpPr/>
          <p:nvPr/>
        </p:nvCxnSpPr>
        <p:spPr>
          <a:xfrm flipH="1">
            <a:off x="9448200" y="2779200"/>
            <a:ext cx="339120" cy="489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5" name="Connector 18"/>
          <p:cNvCxnSpPr/>
          <p:nvPr/>
        </p:nvCxnSpPr>
        <p:spPr>
          <a:xfrm flipH="1">
            <a:off x="9122040" y="2719080"/>
            <a:ext cx="613440" cy="295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6" name="Connector 19"/>
          <p:cNvCxnSpPr/>
          <p:nvPr/>
        </p:nvCxnSpPr>
        <p:spPr>
          <a:xfrm flipH="1">
            <a:off x="8999280" y="2651760"/>
            <a:ext cx="72108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7" name="Connector 20"/>
          <p:cNvCxnSpPr/>
          <p:nvPr/>
        </p:nvCxnSpPr>
        <p:spPr>
          <a:xfrm flipH="1" flipV="1">
            <a:off x="9122040" y="2289240"/>
            <a:ext cx="613440" cy="295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8" name="Connector 21"/>
          <p:cNvCxnSpPr/>
          <p:nvPr/>
        </p:nvCxnSpPr>
        <p:spPr>
          <a:xfrm flipH="1" flipV="1">
            <a:off x="9448200" y="2035080"/>
            <a:ext cx="339120" cy="489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09" name="Connector 22"/>
          <p:cNvCxnSpPr/>
          <p:nvPr/>
        </p:nvCxnSpPr>
        <p:spPr>
          <a:xfrm flipV="1">
            <a:off x="9875520" y="1947600"/>
            <a:ext cx="360" cy="549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10" name="Connector 23"/>
          <p:cNvCxnSpPr/>
          <p:nvPr/>
        </p:nvCxnSpPr>
        <p:spPr>
          <a:xfrm flipV="1">
            <a:off x="9963720" y="2035080"/>
            <a:ext cx="339120" cy="489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311" name="Connector 24"/>
          <p:cNvCxnSpPr/>
          <p:nvPr/>
        </p:nvCxnSpPr>
        <p:spPr>
          <a:xfrm flipV="1">
            <a:off x="10015560" y="2289240"/>
            <a:ext cx="613440" cy="2952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312" name="Oval 25"/>
          <p:cNvSpPr/>
          <p:nvPr/>
        </p:nvSpPr>
        <p:spPr>
          <a:xfrm>
            <a:off x="9720000" y="2496240"/>
            <a:ext cx="310680" cy="310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Oval 26"/>
          <p:cNvSpPr/>
          <p:nvPr/>
        </p:nvSpPr>
        <p:spPr>
          <a:xfrm>
            <a:off x="10751400" y="249624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Oval 27"/>
          <p:cNvSpPr/>
          <p:nvPr/>
        </p:nvSpPr>
        <p:spPr>
          <a:xfrm>
            <a:off x="10613160" y="292608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5" name="Oval 28"/>
          <p:cNvSpPr/>
          <p:nvPr/>
        </p:nvSpPr>
        <p:spPr>
          <a:xfrm>
            <a:off x="10235880" y="324072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6" name="Oval 29"/>
          <p:cNvSpPr/>
          <p:nvPr/>
        </p:nvSpPr>
        <p:spPr>
          <a:xfrm>
            <a:off x="9720000" y="335592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7" name="Oval 30"/>
          <p:cNvSpPr/>
          <p:nvPr/>
        </p:nvSpPr>
        <p:spPr>
          <a:xfrm>
            <a:off x="9204480" y="324072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8" name="Oval 31"/>
          <p:cNvSpPr/>
          <p:nvPr/>
        </p:nvSpPr>
        <p:spPr>
          <a:xfrm>
            <a:off x="8826840" y="292608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9" name="Oval 32"/>
          <p:cNvSpPr/>
          <p:nvPr/>
        </p:nvSpPr>
        <p:spPr>
          <a:xfrm>
            <a:off x="8688600" y="249624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0" name="Oval 33"/>
          <p:cNvSpPr/>
          <p:nvPr/>
        </p:nvSpPr>
        <p:spPr>
          <a:xfrm>
            <a:off x="8826840" y="20664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1" name="Oval 34"/>
          <p:cNvSpPr/>
          <p:nvPr/>
        </p:nvSpPr>
        <p:spPr>
          <a:xfrm>
            <a:off x="9204480" y="17517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Oval 35"/>
          <p:cNvSpPr/>
          <p:nvPr/>
        </p:nvSpPr>
        <p:spPr>
          <a:xfrm>
            <a:off x="9720000" y="163692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3" name="Oval 36"/>
          <p:cNvSpPr/>
          <p:nvPr/>
        </p:nvSpPr>
        <p:spPr>
          <a:xfrm>
            <a:off x="10235880" y="175176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Oval 37"/>
          <p:cNvSpPr/>
          <p:nvPr/>
        </p:nvSpPr>
        <p:spPr>
          <a:xfrm>
            <a:off x="10613160" y="2066400"/>
            <a:ext cx="310680" cy="310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325" name="Table 38"/>
          <p:cNvGraphicFramePr/>
          <p:nvPr/>
        </p:nvGraphicFramePr>
        <p:xfrm>
          <a:off x="6126480" y="3703320"/>
          <a:ext cx="5394600" cy="1682280"/>
        </p:xfrm>
        <a:graphic>
          <a:graphicData uri="http://schemas.openxmlformats.org/drawingml/2006/table">
            <a:tbl>
              <a:tblPr/>
              <a:tblGrid>
                <a:gridCol w="1279800"/>
                <a:gridCol w="2011680"/>
                <a:gridCol w="21027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A: 2 соседа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B: 12 соседей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сумма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× 2 = 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 × 12 = 12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среднее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0.50 × 2 = 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0.08 × 12 = 1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0.33 × 2 = 0.67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0.16 × 12 = 1.92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6" name="TextBox 39"/>
          <p:cNvSpPr/>
          <p:nvPr/>
        </p:nvSpPr>
        <p:spPr>
          <a:xfrm>
            <a:off x="6126480" y="557784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Вес одного соседа × число соседей = весь сигнал. У каждого соседа две связи, петли не считаем.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KIPF &amp; WELLING, 2017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Слой GCN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ounded Rectangle 7"/>
          <p:cNvSpPr/>
          <p:nvPr/>
        </p:nvSpPr>
        <p:spPr>
          <a:xfrm>
            <a:off x="640080" y="1801440"/>
            <a:ext cx="10911240" cy="187416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4" name="Picture 8" descr="f_gcn.png"/>
          <p:cNvPicPr/>
          <p:nvPr/>
        </p:nvPicPr>
        <p:blipFill>
          <a:blip r:embed="rId1"/>
          <a:stretch/>
        </p:blipFill>
        <p:spPr>
          <a:xfrm>
            <a:off x="3861360" y="2258640"/>
            <a:ext cx="4468320" cy="95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TextBox 9"/>
          <p:cNvSpPr/>
          <p:nvPr/>
        </p:nvSpPr>
        <p:spPr>
          <a:xfrm>
            <a:off x="640080" y="390456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Симметричная нормализация по степеням, причём степени считаются с петлёй: у вершины с двумя соседями d = 3. В матричной форме это одна строчка: H' = σ(D^(-1/2) Ã D^(-1/2) H W), где Ã — матрица смежности с петлями, а D — её степени.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33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GILMER ET AL., 2017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Message passing: три шага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3" name="TextBox 8"/>
          <p:cNvSpPr/>
          <p:nvPr/>
        </p:nvSpPr>
        <p:spPr>
          <a:xfrm>
            <a:off x="64008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1. MESSAGE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Box 9"/>
          <p:cNvSpPr/>
          <p:nvPr/>
        </p:nvSpPr>
        <p:spPr>
          <a:xfrm>
            <a:off x="452628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2. AGGREGATE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Box 10"/>
          <p:cNvSpPr/>
          <p:nvPr/>
        </p:nvSpPr>
        <p:spPr>
          <a:xfrm>
            <a:off x="8412480" y="16459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3. UPDATE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6" name="Connector 11"/>
          <p:cNvCxnSpPr/>
          <p:nvPr/>
        </p:nvCxnSpPr>
        <p:spPr>
          <a:xfrm>
            <a:off x="1416960" y="2358000"/>
            <a:ext cx="768960" cy="8618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347" name="Isosceles Triangle 12"/>
          <p:cNvSpPr/>
          <p:nvPr/>
        </p:nvSpPr>
        <p:spPr>
          <a:xfrm rot="8295600">
            <a:off x="2112840" y="31464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48" name="Connector 13"/>
          <p:cNvCxnSpPr/>
          <p:nvPr/>
        </p:nvCxnSpPr>
        <p:spPr>
          <a:xfrm>
            <a:off x="2331720" y="2413800"/>
            <a:ext cx="360" cy="7502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349" name="Isosceles Triangle 14"/>
          <p:cNvSpPr/>
          <p:nvPr/>
        </p:nvSpPr>
        <p:spPr>
          <a:xfrm rot="10800000">
            <a:off x="2259000" y="30913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50" name="Connector 15"/>
          <p:cNvCxnSpPr/>
          <p:nvPr/>
        </p:nvCxnSpPr>
        <p:spPr>
          <a:xfrm flipH="1">
            <a:off x="2477520" y="2358000"/>
            <a:ext cx="768960" cy="8618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351" name="Isosceles Triangle 16"/>
          <p:cNvSpPr/>
          <p:nvPr/>
        </p:nvSpPr>
        <p:spPr>
          <a:xfrm rot="13304400">
            <a:off x="2404800" y="3146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2" name="Oval 17"/>
          <p:cNvSpPr/>
          <p:nvPr/>
        </p:nvSpPr>
        <p:spPr>
          <a:xfrm>
            <a:off x="1051560" y="197496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u1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Oval 18"/>
          <p:cNvSpPr/>
          <p:nvPr/>
        </p:nvSpPr>
        <p:spPr>
          <a:xfrm>
            <a:off x="2112120" y="197496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u2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Oval 19"/>
          <p:cNvSpPr/>
          <p:nvPr/>
        </p:nvSpPr>
        <p:spPr>
          <a:xfrm>
            <a:off x="3173040" y="1974960"/>
            <a:ext cx="438480" cy="4384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u3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Oval 20"/>
          <p:cNvSpPr/>
          <p:nvPr/>
        </p:nvSpPr>
        <p:spPr>
          <a:xfrm>
            <a:off x="2112120" y="3163680"/>
            <a:ext cx="438480" cy="4384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Box 21"/>
          <p:cNvSpPr/>
          <p:nvPr/>
        </p:nvSpPr>
        <p:spPr>
          <a:xfrm>
            <a:off x="1325880" y="384048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Rectangle 22"/>
          <p:cNvSpPr/>
          <p:nvPr/>
        </p:nvSpPr>
        <p:spPr>
          <a:xfrm>
            <a:off x="1965960" y="3840480"/>
            <a:ext cx="365400" cy="25560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8" name="Rectangle 23"/>
          <p:cNvSpPr/>
          <p:nvPr/>
        </p:nvSpPr>
        <p:spPr>
          <a:xfrm>
            <a:off x="2331720" y="3840480"/>
            <a:ext cx="365400" cy="25560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9" name="Rectangle 24"/>
          <p:cNvSpPr/>
          <p:nvPr/>
        </p:nvSpPr>
        <p:spPr>
          <a:xfrm>
            <a:off x="2697480" y="3840480"/>
            <a:ext cx="365400" cy="25560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25"/>
          <p:cNvSpPr/>
          <p:nvPr/>
        </p:nvSpPr>
        <p:spPr>
          <a:xfrm>
            <a:off x="1325880" y="409644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Rectangle 26"/>
          <p:cNvSpPr/>
          <p:nvPr/>
        </p:nvSpPr>
        <p:spPr>
          <a:xfrm>
            <a:off x="1965960" y="4096440"/>
            <a:ext cx="365400" cy="25560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2" name="Rectangle 27"/>
          <p:cNvSpPr/>
          <p:nvPr/>
        </p:nvSpPr>
        <p:spPr>
          <a:xfrm>
            <a:off x="2331720" y="4096440"/>
            <a:ext cx="365400" cy="25560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3" name="Rectangle 28"/>
          <p:cNvSpPr/>
          <p:nvPr/>
        </p:nvSpPr>
        <p:spPr>
          <a:xfrm>
            <a:off x="2697480" y="4096440"/>
            <a:ext cx="365400" cy="25560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4" name="TextBox 29"/>
          <p:cNvSpPr/>
          <p:nvPr/>
        </p:nvSpPr>
        <p:spPr>
          <a:xfrm>
            <a:off x="1325880" y="435240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30"/>
          <p:cNvSpPr/>
          <p:nvPr/>
        </p:nvSpPr>
        <p:spPr>
          <a:xfrm>
            <a:off x="1965960" y="4352400"/>
            <a:ext cx="365400" cy="25560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ectangle 31"/>
          <p:cNvSpPr/>
          <p:nvPr/>
        </p:nvSpPr>
        <p:spPr>
          <a:xfrm>
            <a:off x="2331720" y="4352400"/>
            <a:ext cx="365400" cy="25560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Rectangle 32"/>
          <p:cNvSpPr/>
          <p:nvPr/>
        </p:nvSpPr>
        <p:spPr>
          <a:xfrm>
            <a:off x="2697480" y="4352400"/>
            <a:ext cx="365400" cy="25560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8" name="TextBox 33"/>
          <p:cNvSpPr/>
          <p:nvPr/>
        </p:nvSpPr>
        <p:spPr>
          <a:xfrm>
            <a:off x="5212080" y="224028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Rectangle 34"/>
          <p:cNvSpPr/>
          <p:nvPr/>
        </p:nvSpPr>
        <p:spPr>
          <a:xfrm>
            <a:off x="5852160" y="2240280"/>
            <a:ext cx="365400" cy="25560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0" name="Rectangle 35"/>
          <p:cNvSpPr/>
          <p:nvPr/>
        </p:nvSpPr>
        <p:spPr>
          <a:xfrm>
            <a:off x="6217920" y="2240280"/>
            <a:ext cx="365400" cy="25560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Rectangle 36"/>
          <p:cNvSpPr/>
          <p:nvPr/>
        </p:nvSpPr>
        <p:spPr>
          <a:xfrm>
            <a:off x="6583680" y="2240280"/>
            <a:ext cx="365400" cy="25560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2" name="TextBox 37"/>
          <p:cNvSpPr/>
          <p:nvPr/>
        </p:nvSpPr>
        <p:spPr>
          <a:xfrm>
            <a:off x="5212080" y="249624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Rectangle 38"/>
          <p:cNvSpPr/>
          <p:nvPr/>
        </p:nvSpPr>
        <p:spPr>
          <a:xfrm>
            <a:off x="5852160" y="2496240"/>
            <a:ext cx="365400" cy="25560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4" name="Rectangle 39"/>
          <p:cNvSpPr/>
          <p:nvPr/>
        </p:nvSpPr>
        <p:spPr>
          <a:xfrm>
            <a:off x="6217920" y="2496240"/>
            <a:ext cx="365400" cy="25560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5" name="Rectangle 40"/>
          <p:cNvSpPr/>
          <p:nvPr/>
        </p:nvSpPr>
        <p:spPr>
          <a:xfrm>
            <a:off x="6583680" y="2496240"/>
            <a:ext cx="365400" cy="25560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6" name="TextBox 41"/>
          <p:cNvSpPr/>
          <p:nvPr/>
        </p:nvSpPr>
        <p:spPr>
          <a:xfrm>
            <a:off x="5212080" y="2752200"/>
            <a:ext cx="5115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Rectangle 42"/>
          <p:cNvSpPr/>
          <p:nvPr/>
        </p:nvSpPr>
        <p:spPr>
          <a:xfrm>
            <a:off x="5852160" y="2752200"/>
            <a:ext cx="365400" cy="25560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8" name="Rectangle 43"/>
          <p:cNvSpPr/>
          <p:nvPr/>
        </p:nvSpPr>
        <p:spPr>
          <a:xfrm>
            <a:off x="6217920" y="2752200"/>
            <a:ext cx="365400" cy="25560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Rectangle 44"/>
          <p:cNvSpPr/>
          <p:nvPr/>
        </p:nvSpPr>
        <p:spPr>
          <a:xfrm>
            <a:off x="6583680" y="2752200"/>
            <a:ext cx="365400" cy="25560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80" name="Connector 45"/>
          <p:cNvCxnSpPr/>
          <p:nvPr/>
        </p:nvCxnSpPr>
        <p:spPr>
          <a:xfrm>
            <a:off x="6400440" y="3108960"/>
            <a:ext cx="360" cy="50328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381" name="Isosceles Triangle 46"/>
          <p:cNvSpPr/>
          <p:nvPr/>
        </p:nvSpPr>
        <p:spPr>
          <a:xfrm rot="10800000">
            <a:off x="6328080" y="3539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2" name="TextBox 47"/>
          <p:cNvSpPr/>
          <p:nvPr/>
        </p:nvSpPr>
        <p:spPr>
          <a:xfrm>
            <a:off x="6583680" y="3200400"/>
            <a:ext cx="456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Σ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Box 48"/>
          <p:cNvSpPr/>
          <p:nvPr/>
        </p:nvSpPr>
        <p:spPr>
          <a:xfrm>
            <a:off x="5212080" y="3840480"/>
            <a:ext cx="51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Σ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Rectangle 49"/>
          <p:cNvSpPr/>
          <p:nvPr/>
        </p:nvSpPr>
        <p:spPr>
          <a:xfrm>
            <a:off x="5852160" y="3840480"/>
            <a:ext cx="365400" cy="310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5" name="Rectangle 50"/>
          <p:cNvSpPr/>
          <p:nvPr/>
        </p:nvSpPr>
        <p:spPr>
          <a:xfrm>
            <a:off x="6217920" y="3840480"/>
            <a:ext cx="365400" cy="3106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6" name="Rectangle 51"/>
          <p:cNvSpPr/>
          <p:nvPr/>
        </p:nvSpPr>
        <p:spPr>
          <a:xfrm>
            <a:off x="6583680" y="3840480"/>
            <a:ext cx="365400" cy="310680"/>
          </a:xfrm>
          <a:prstGeom prst="rect">
            <a:avLst/>
          </a:prstGeom>
          <a:solidFill>
            <a:srgbClr val="abd8d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7" name="TextBox 52"/>
          <p:cNvSpPr/>
          <p:nvPr/>
        </p:nvSpPr>
        <p:spPr>
          <a:xfrm>
            <a:off x="9098280" y="2240280"/>
            <a:ext cx="51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h_v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Rectangle 53"/>
          <p:cNvSpPr/>
          <p:nvPr/>
        </p:nvSpPr>
        <p:spPr>
          <a:xfrm>
            <a:off x="9738360" y="2240280"/>
            <a:ext cx="365400" cy="310680"/>
          </a:xfrm>
          <a:prstGeom prst="rect">
            <a:avLst/>
          </a:prstGeom>
          <a:solidFill>
            <a:srgbClr val="dbeeee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9" name="Rectangle 54"/>
          <p:cNvSpPr/>
          <p:nvPr/>
        </p:nvSpPr>
        <p:spPr>
          <a:xfrm>
            <a:off x="10104120" y="2240280"/>
            <a:ext cx="365400" cy="310680"/>
          </a:xfrm>
          <a:prstGeom prst="rect">
            <a:avLst/>
          </a:prstGeom>
          <a:solidFill>
            <a:srgbClr val="f7dec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0" name="Rectangle 55"/>
          <p:cNvSpPr/>
          <p:nvPr/>
        </p:nvSpPr>
        <p:spPr>
          <a:xfrm>
            <a:off x="10469880" y="2240280"/>
            <a:ext cx="365400" cy="310680"/>
          </a:xfrm>
          <a:prstGeom prst="rect">
            <a:avLst/>
          </a:prstGeom>
          <a:solidFill>
            <a:srgbClr val="f3f9f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56"/>
          <p:cNvSpPr/>
          <p:nvPr/>
        </p:nvSpPr>
        <p:spPr>
          <a:xfrm>
            <a:off x="9098280" y="2551320"/>
            <a:ext cx="51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Σ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Rectangle 57"/>
          <p:cNvSpPr/>
          <p:nvPr/>
        </p:nvSpPr>
        <p:spPr>
          <a:xfrm>
            <a:off x="9738360" y="2551320"/>
            <a:ext cx="365400" cy="3106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3" name="Rectangle 58"/>
          <p:cNvSpPr/>
          <p:nvPr/>
        </p:nvSpPr>
        <p:spPr>
          <a:xfrm>
            <a:off x="10104120" y="2551320"/>
            <a:ext cx="365400" cy="3106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4" name="Rectangle 59"/>
          <p:cNvSpPr/>
          <p:nvPr/>
        </p:nvSpPr>
        <p:spPr>
          <a:xfrm>
            <a:off x="10469880" y="2551320"/>
            <a:ext cx="365400" cy="310680"/>
          </a:xfrm>
          <a:prstGeom prst="rect">
            <a:avLst/>
          </a:prstGeom>
          <a:solidFill>
            <a:srgbClr val="abd8d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395" name="Connector 60"/>
          <p:cNvCxnSpPr/>
          <p:nvPr/>
        </p:nvCxnSpPr>
        <p:spPr>
          <a:xfrm>
            <a:off x="10286640" y="3108960"/>
            <a:ext cx="360" cy="50328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396" name="Isosceles Triangle 61"/>
          <p:cNvSpPr/>
          <p:nvPr/>
        </p:nvSpPr>
        <p:spPr>
          <a:xfrm rot="10800000">
            <a:off x="10214280" y="3539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7" name="TextBox 62"/>
          <p:cNvSpPr/>
          <p:nvPr/>
        </p:nvSpPr>
        <p:spPr>
          <a:xfrm>
            <a:off x="9098280" y="3840480"/>
            <a:ext cx="51156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h_v′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Rectangle 63"/>
          <p:cNvSpPr/>
          <p:nvPr/>
        </p:nvSpPr>
        <p:spPr>
          <a:xfrm>
            <a:off x="9738360" y="3840480"/>
            <a:ext cx="365400" cy="310680"/>
          </a:xfrm>
          <a:prstGeom prst="rect">
            <a:avLst/>
          </a:prstGeom>
          <a:solidFill>
            <a:srgbClr val="abd8d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9" name="Rectangle 64"/>
          <p:cNvSpPr/>
          <p:nvPr/>
        </p:nvSpPr>
        <p:spPr>
          <a:xfrm>
            <a:off x="10104120" y="3840480"/>
            <a:ext cx="365400" cy="310680"/>
          </a:xfrm>
          <a:prstGeom prst="rect">
            <a:avLst/>
          </a:prstGeom>
          <a:solidFill>
            <a:srgbClr val="f3f9f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0" name="Rectangle 65"/>
          <p:cNvSpPr/>
          <p:nvPr/>
        </p:nvSpPr>
        <p:spPr>
          <a:xfrm>
            <a:off x="10469880" y="3840480"/>
            <a:ext cx="365400" cy="310680"/>
          </a:xfrm>
          <a:prstGeom prst="rect">
            <a:avLst/>
          </a:prstGeom>
          <a:solidFill>
            <a:srgbClr val="9fd2d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1" name="TextBox 66"/>
          <p:cNvSpPr/>
          <p:nvPr/>
        </p:nvSpPr>
        <p:spPr>
          <a:xfrm>
            <a:off x="640080" y="470916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0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Каждый сосед готовит сообщение — функцию от своего вектора и ребра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67"/>
          <p:cNvSpPr/>
          <p:nvPr/>
        </p:nvSpPr>
        <p:spPr>
          <a:xfrm>
            <a:off x="4526280" y="470916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0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Сообщения схлопываются в одно: sum, mean или max — порядок не важен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68"/>
          <p:cNvSpPr/>
          <p:nvPr/>
        </p:nvSpPr>
        <p:spPr>
          <a:xfrm>
            <a:off x="8412480" y="4709160"/>
            <a:ext cx="33829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0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Вершина обновляет свой вектор: обычно MLP от старого и агрегата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69"/>
          <p:cNvSpPr/>
          <p:nvPr/>
        </p:nvSpPr>
        <p:spPr>
          <a:xfrm>
            <a:off x="640080" y="57150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Один такой проход — один слой. k слоёв — информация из окрестности радиуса k.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0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0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КАК СЧИТАЕТСЯ ОДИН ПРОГНОЗ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Вычислительный граф вершины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11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2" name="TextBox 8"/>
          <p:cNvSpPr/>
          <p:nvPr/>
        </p:nvSpPr>
        <p:spPr>
          <a:xfrm>
            <a:off x="731520" y="16459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граф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3" name="Connector 9"/>
          <p:cNvCxnSpPr/>
          <p:nvPr/>
        </p:nvCxnSpPr>
        <p:spPr>
          <a:xfrm flipH="1" flipV="1">
            <a:off x="1448280" y="2626560"/>
            <a:ext cx="711000" cy="4251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4" name="Connector 10"/>
          <p:cNvCxnSpPr/>
          <p:nvPr/>
        </p:nvCxnSpPr>
        <p:spPr>
          <a:xfrm flipH="1">
            <a:off x="1582200" y="3281400"/>
            <a:ext cx="593640" cy="482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5" name="Connector 11"/>
          <p:cNvCxnSpPr/>
          <p:nvPr/>
        </p:nvCxnSpPr>
        <p:spPr>
          <a:xfrm flipV="1">
            <a:off x="2529000" y="2983320"/>
            <a:ext cx="661680" cy="132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6" name="Connector 12"/>
          <p:cNvCxnSpPr/>
          <p:nvPr/>
        </p:nvCxnSpPr>
        <p:spPr>
          <a:xfrm flipH="1">
            <a:off x="928080" y="2694960"/>
            <a:ext cx="242280" cy="393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7" name="Connector 13"/>
          <p:cNvCxnSpPr/>
          <p:nvPr/>
        </p:nvCxnSpPr>
        <p:spPr>
          <a:xfrm>
            <a:off x="1392840" y="2687040"/>
            <a:ext cx="972720" cy="1355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8" name="Connector 14"/>
          <p:cNvCxnSpPr/>
          <p:nvPr/>
        </p:nvCxnSpPr>
        <p:spPr>
          <a:xfrm>
            <a:off x="1618920" y="3948120"/>
            <a:ext cx="671040" cy="200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19" name="Connector 15"/>
          <p:cNvCxnSpPr/>
          <p:nvPr/>
        </p:nvCxnSpPr>
        <p:spPr>
          <a:xfrm flipV="1">
            <a:off x="3483000" y="2280240"/>
            <a:ext cx="262440" cy="487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20" name="Connector 16"/>
          <p:cNvCxnSpPr/>
          <p:nvPr/>
        </p:nvCxnSpPr>
        <p:spPr>
          <a:xfrm>
            <a:off x="3474360" y="3125520"/>
            <a:ext cx="279360" cy="583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421" name="Oval 17"/>
          <p:cNvSpPr/>
          <p:nvPr/>
        </p:nvSpPr>
        <p:spPr>
          <a:xfrm>
            <a:off x="2130480" y="295344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Oval 18"/>
          <p:cNvSpPr/>
          <p:nvPr/>
        </p:nvSpPr>
        <p:spPr>
          <a:xfrm>
            <a:off x="1074600" y="232272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Oval 19"/>
          <p:cNvSpPr/>
          <p:nvPr/>
        </p:nvSpPr>
        <p:spPr>
          <a:xfrm>
            <a:off x="1225440" y="368964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Oval 20"/>
          <p:cNvSpPr/>
          <p:nvPr/>
        </p:nvSpPr>
        <p:spPr>
          <a:xfrm>
            <a:off x="3186720" y="27432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Oval 21"/>
          <p:cNvSpPr/>
          <p:nvPr/>
        </p:nvSpPr>
        <p:spPr>
          <a:xfrm>
            <a:off x="621720" y="305856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Oval 22"/>
          <p:cNvSpPr/>
          <p:nvPr/>
        </p:nvSpPr>
        <p:spPr>
          <a:xfrm>
            <a:off x="2281320" y="400500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Oval 23"/>
          <p:cNvSpPr/>
          <p:nvPr/>
        </p:nvSpPr>
        <p:spPr>
          <a:xfrm>
            <a:off x="3639240" y="19018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Oval 24"/>
          <p:cNvSpPr/>
          <p:nvPr/>
        </p:nvSpPr>
        <p:spPr>
          <a:xfrm>
            <a:off x="3639240" y="368964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Connector 25"/>
          <p:cNvCxnSpPr/>
          <p:nvPr/>
        </p:nvCxnSpPr>
        <p:spPr>
          <a:xfrm flipH="1">
            <a:off x="5788080" y="1934280"/>
            <a:ext cx="1584720" cy="977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0" name="Connector 26"/>
          <p:cNvCxnSpPr/>
          <p:nvPr/>
        </p:nvCxnSpPr>
        <p:spPr>
          <a:xfrm>
            <a:off x="7543800" y="2029680"/>
            <a:ext cx="360" cy="786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1" name="Connector 27"/>
          <p:cNvCxnSpPr/>
          <p:nvPr/>
        </p:nvCxnSpPr>
        <p:spPr>
          <a:xfrm>
            <a:off x="7714800" y="1934280"/>
            <a:ext cx="1584720" cy="977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2" name="Connector 28"/>
          <p:cNvCxnSpPr/>
          <p:nvPr/>
        </p:nvCxnSpPr>
        <p:spPr>
          <a:xfrm flipH="1">
            <a:off x="4955400" y="3186000"/>
            <a:ext cx="552240" cy="851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3" name="Connector 29"/>
          <p:cNvCxnSpPr/>
          <p:nvPr/>
        </p:nvCxnSpPr>
        <p:spPr>
          <a:xfrm>
            <a:off x="5616720" y="3218400"/>
            <a:ext cx="360" cy="786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4" name="Connector 30"/>
          <p:cNvCxnSpPr/>
          <p:nvPr/>
        </p:nvCxnSpPr>
        <p:spPr>
          <a:xfrm>
            <a:off x="5726160" y="3186000"/>
            <a:ext cx="552240" cy="851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5" name="Connector 31"/>
          <p:cNvCxnSpPr/>
          <p:nvPr/>
        </p:nvCxnSpPr>
        <p:spPr>
          <a:xfrm flipH="1">
            <a:off x="7220160" y="3208680"/>
            <a:ext cx="261720" cy="806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6" name="Connector 32"/>
          <p:cNvCxnSpPr/>
          <p:nvPr/>
        </p:nvCxnSpPr>
        <p:spPr>
          <a:xfrm>
            <a:off x="7605720" y="3208680"/>
            <a:ext cx="261720" cy="8064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7" name="Connector 33"/>
          <p:cNvCxnSpPr/>
          <p:nvPr/>
        </p:nvCxnSpPr>
        <p:spPr>
          <a:xfrm flipH="1">
            <a:off x="8809200" y="3186000"/>
            <a:ext cx="552240" cy="851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8" name="Connector 34"/>
          <p:cNvCxnSpPr/>
          <p:nvPr/>
        </p:nvCxnSpPr>
        <p:spPr>
          <a:xfrm>
            <a:off x="9470520" y="3218400"/>
            <a:ext cx="360" cy="786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39" name="Connector 35"/>
          <p:cNvCxnSpPr/>
          <p:nvPr/>
        </p:nvCxnSpPr>
        <p:spPr>
          <a:xfrm>
            <a:off x="9579960" y="3186000"/>
            <a:ext cx="552240" cy="8517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440" name="Oval 36"/>
          <p:cNvSpPr/>
          <p:nvPr/>
        </p:nvSpPr>
        <p:spPr>
          <a:xfrm>
            <a:off x="7342560" y="162756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Oval 37"/>
          <p:cNvSpPr/>
          <p:nvPr/>
        </p:nvSpPr>
        <p:spPr>
          <a:xfrm>
            <a:off x="4645080" y="40050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Oval 38"/>
          <p:cNvSpPr/>
          <p:nvPr/>
        </p:nvSpPr>
        <p:spPr>
          <a:xfrm>
            <a:off x="5415840" y="400500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Oval 39"/>
          <p:cNvSpPr/>
          <p:nvPr/>
        </p:nvSpPr>
        <p:spPr>
          <a:xfrm>
            <a:off x="6186600" y="400500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Oval 40"/>
          <p:cNvSpPr/>
          <p:nvPr/>
        </p:nvSpPr>
        <p:spPr>
          <a:xfrm>
            <a:off x="6957360" y="4005000"/>
            <a:ext cx="402120" cy="40212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e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Oval 41"/>
          <p:cNvSpPr/>
          <p:nvPr/>
        </p:nvSpPr>
        <p:spPr>
          <a:xfrm>
            <a:off x="7728120" y="400500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Oval 42"/>
          <p:cNvSpPr/>
          <p:nvPr/>
        </p:nvSpPr>
        <p:spPr>
          <a:xfrm>
            <a:off x="8498520" y="40050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Oval 43"/>
          <p:cNvSpPr/>
          <p:nvPr/>
        </p:nvSpPr>
        <p:spPr>
          <a:xfrm>
            <a:off x="9269280" y="400500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Oval 44"/>
          <p:cNvSpPr/>
          <p:nvPr/>
        </p:nvSpPr>
        <p:spPr>
          <a:xfrm>
            <a:off x="10040040" y="4005000"/>
            <a:ext cx="402120" cy="40212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Oval 45"/>
          <p:cNvSpPr/>
          <p:nvPr/>
        </p:nvSpPr>
        <p:spPr>
          <a:xfrm>
            <a:off x="5415840" y="2816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Oval 46"/>
          <p:cNvSpPr/>
          <p:nvPr/>
        </p:nvSpPr>
        <p:spPr>
          <a:xfrm>
            <a:off x="7342560" y="2816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Oval 47"/>
          <p:cNvSpPr/>
          <p:nvPr/>
        </p:nvSpPr>
        <p:spPr>
          <a:xfrm>
            <a:off x="9269280" y="2816280"/>
            <a:ext cx="402120" cy="40212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Box 48"/>
          <p:cNvSpPr/>
          <p:nvPr/>
        </p:nvSpPr>
        <p:spPr>
          <a:xfrm>
            <a:off x="10515600" y="169164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слой 2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Box 49"/>
          <p:cNvSpPr/>
          <p:nvPr/>
        </p:nvSpPr>
        <p:spPr>
          <a:xfrm>
            <a:off x="10515600" y="288036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слой 1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Box 50"/>
          <p:cNvSpPr/>
          <p:nvPr/>
        </p:nvSpPr>
        <p:spPr>
          <a:xfrm>
            <a:off x="10515600" y="4069080"/>
            <a:ext cx="1096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признаки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Box 51"/>
          <p:cNvSpPr/>
          <p:nvPr/>
        </p:nvSpPr>
        <p:spPr>
          <a:xfrm>
            <a:off x="640080" y="4572000"/>
            <a:ext cx="108810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Слой 1 собирает соседей, слой 2 — соседей соседей: два слоя видят окрестность радиуса 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Вершины повторяются: e попадает в дерево дважды, а v получает своё же сообщение назад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Веса на каждом уровне общие для всех вершин — поэтому модель работает и на новых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5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45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РЕЦЕПТИВНОЕ ПОЛЕ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видит вершина после 1, 2 и 3 слоёв?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6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463" name="Connector 8"/>
          <p:cNvCxnSpPr/>
          <p:nvPr/>
        </p:nvCxnSpPr>
        <p:spPr>
          <a:xfrm flipH="1" flipV="1">
            <a:off x="18784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4" name="Connector 9"/>
          <p:cNvCxnSpPr/>
          <p:nvPr/>
        </p:nvCxnSpPr>
        <p:spPr>
          <a:xfrm flipV="1">
            <a:off x="24544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5" name="Connector 10"/>
          <p:cNvCxnSpPr/>
          <p:nvPr/>
        </p:nvCxnSpPr>
        <p:spPr>
          <a:xfrm>
            <a:off x="2331720" y="3273480"/>
            <a:ext cx="360" cy="3110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66" name="Connector 11"/>
          <p:cNvCxnSpPr/>
          <p:nvPr/>
        </p:nvCxnSpPr>
        <p:spPr>
          <a:xfrm flipH="1" flipV="1">
            <a:off x="1256400" y="2297520"/>
            <a:ext cx="358200" cy="214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67" name="Connector 12"/>
          <p:cNvCxnSpPr/>
          <p:nvPr/>
        </p:nvCxnSpPr>
        <p:spPr>
          <a:xfrm flipH="1" flipV="1">
            <a:off x="1704960" y="1992600"/>
            <a:ext cx="37080" cy="440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68" name="Connector 13"/>
          <p:cNvCxnSpPr/>
          <p:nvPr/>
        </p:nvCxnSpPr>
        <p:spPr>
          <a:xfrm flipV="1">
            <a:off x="3014280" y="2081880"/>
            <a:ext cx="331200" cy="3898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69" name="Connector 14"/>
          <p:cNvCxnSpPr/>
          <p:nvPr/>
        </p:nvCxnSpPr>
        <p:spPr>
          <a:xfrm flipH="1">
            <a:off x="1820160" y="3851640"/>
            <a:ext cx="383040" cy="306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0" name="Connector 15"/>
          <p:cNvCxnSpPr/>
          <p:nvPr/>
        </p:nvCxnSpPr>
        <p:spPr>
          <a:xfrm>
            <a:off x="2470320" y="3837600"/>
            <a:ext cx="523080" cy="334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1" name="Connector 16"/>
          <p:cNvCxnSpPr/>
          <p:nvPr/>
        </p:nvCxnSpPr>
        <p:spPr>
          <a:xfrm flipH="1">
            <a:off x="804960" y="2359800"/>
            <a:ext cx="237240" cy="474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2" name="Connector 17"/>
          <p:cNvCxnSpPr/>
          <p:nvPr/>
        </p:nvCxnSpPr>
        <p:spPr>
          <a:xfrm>
            <a:off x="3550320" y="2088360"/>
            <a:ext cx="28296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3" name="Connector 18"/>
          <p:cNvCxnSpPr/>
          <p:nvPr/>
        </p:nvCxnSpPr>
        <p:spPr>
          <a:xfrm flipV="1">
            <a:off x="3260160" y="3723840"/>
            <a:ext cx="543240" cy="434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4" name="Connector 19"/>
          <p:cNvCxnSpPr/>
          <p:nvPr/>
        </p:nvCxnSpPr>
        <p:spPr>
          <a:xfrm flipH="1" flipV="1">
            <a:off x="890280" y="4047480"/>
            <a:ext cx="642600" cy="171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75" name="Connector 20"/>
          <p:cNvCxnSpPr/>
          <p:nvPr/>
        </p:nvCxnSpPr>
        <p:spPr>
          <a:xfrm>
            <a:off x="1920240" y="2596680"/>
            <a:ext cx="82332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476" name="Oval 21"/>
          <p:cNvSpPr/>
          <p:nvPr/>
        </p:nvSpPr>
        <p:spPr>
          <a:xfrm>
            <a:off x="2167200" y="294444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Oval 22"/>
          <p:cNvSpPr/>
          <p:nvPr/>
        </p:nvSpPr>
        <p:spPr>
          <a:xfrm>
            <a:off x="15912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8" name="Oval 23"/>
          <p:cNvSpPr/>
          <p:nvPr/>
        </p:nvSpPr>
        <p:spPr>
          <a:xfrm>
            <a:off x="27432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79" name="Oval 24"/>
          <p:cNvSpPr/>
          <p:nvPr/>
        </p:nvSpPr>
        <p:spPr>
          <a:xfrm>
            <a:off x="2167200" y="35845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0" name="Oval 25"/>
          <p:cNvSpPr/>
          <p:nvPr/>
        </p:nvSpPr>
        <p:spPr>
          <a:xfrm>
            <a:off x="951120" y="204840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1" name="Oval 26"/>
          <p:cNvSpPr/>
          <p:nvPr/>
        </p:nvSpPr>
        <p:spPr>
          <a:xfrm>
            <a:off x="1527120" y="16642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2" name="Oval 27"/>
          <p:cNvSpPr/>
          <p:nvPr/>
        </p:nvSpPr>
        <p:spPr>
          <a:xfrm>
            <a:off x="3287160" y="17920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3" name="Oval 28"/>
          <p:cNvSpPr/>
          <p:nvPr/>
        </p:nvSpPr>
        <p:spPr>
          <a:xfrm>
            <a:off x="1527120" y="40964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4" name="Oval 29"/>
          <p:cNvSpPr/>
          <p:nvPr/>
        </p:nvSpPr>
        <p:spPr>
          <a:xfrm>
            <a:off x="2967120" y="409644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5" name="Oval 30"/>
          <p:cNvSpPr/>
          <p:nvPr/>
        </p:nvSpPr>
        <p:spPr>
          <a:xfrm>
            <a:off x="567000" y="28162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6" name="Oval 31"/>
          <p:cNvSpPr/>
          <p:nvPr/>
        </p:nvSpPr>
        <p:spPr>
          <a:xfrm>
            <a:off x="3767400" y="24321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7" name="Oval 32"/>
          <p:cNvSpPr/>
          <p:nvPr/>
        </p:nvSpPr>
        <p:spPr>
          <a:xfrm>
            <a:off x="3767400" y="34563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8" name="Oval 33"/>
          <p:cNvSpPr/>
          <p:nvPr/>
        </p:nvSpPr>
        <p:spPr>
          <a:xfrm>
            <a:off x="567000" y="38404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89" name="TextBox 34"/>
          <p:cNvSpPr/>
          <p:nvPr/>
        </p:nvSpPr>
        <p:spPr>
          <a:xfrm>
            <a:off x="640080" y="46177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 слой: видно 3 вершины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0" name="Connector 35"/>
          <p:cNvCxnSpPr/>
          <p:nvPr/>
        </p:nvCxnSpPr>
        <p:spPr>
          <a:xfrm flipH="1" flipV="1">
            <a:off x="57646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1" name="Connector 36"/>
          <p:cNvCxnSpPr/>
          <p:nvPr/>
        </p:nvCxnSpPr>
        <p:spPr>
          <a:xfrm flipV="1">
            <a:off x="63406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2" name="Connector 37"/>
          <p:cNvCxnSpPr/>
          <p:nvPr/>
        </p:nvCxnSpPr>
        <p:spPr>
          <a:xfrm>
            <a:off x="6217920" y="3273480"/>
            <a:ext cx="360" cy="3110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3" name="Connector 38"/>
          <p:cNvCxnSpPr/>
          <p:nvPr/>
        </p:nvCxnSpPr>
        <p:spPr>
          <a:xfrm flipH="1" flipV="1">
            <a:off x="5142600" y="2297520"/>
            <a:ext cx="358200" cy="2149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4" name="Connector 39"/>
          <p:cNvCxnSpPr/>
          <p:nvPr/>
        </p:nvCxnSpPr>
        <p:spPr>
          <a:xfrm flipH="1" flipV="1">
            <a:off x="5591160" y="1992600"/>
            <a:ext cx="37080" cy="4402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5" name="Connector 40"/>
          <p:cNvCxnSpPr/>
          <p:nvPr/>
        </p:nvCxnSpPr>
        <p:spPr>
          <a:xfrm flipV="1">
            <a:off x="6900480" y="2081880"/>
            <a:ext cx="331200" cy="3898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6" name="Connector 41"/>
          <p:cNvCxnSpPr/>
          <p:nvPr/>
        </p:nvCxnSpPr>
        <p:spPr>
          <a:xfrm flipH="1">
            <a:off x="5706360" y="3851640"/>
            <a:ext cx="383040" cy="3067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7" name="Connector 42"/>
          <p:cNvCxnSpPr/>
          <p:nvPr/>
        </p:nvCxnSpPr>
        <p:spPr>
          <a:xfrm>
            <a:off x="6356520" y="3837600"/>
            <a:ext cx="523080" cy="3348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498" name="Connector 43"/>
          <p:cNvCxnSpPr/>
          <p:nvPr/>
        </p:nvCxnSpPr>
        <p:spPr>
          <a:xfrm flipH="1">
            <a:off x="4691160" y="2359800"/>
            <a:ext cx="237240" cy="474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499" name="Connector 44"/>
          <p:cNvCxnSpPr/>
          <p:nvPr/>
        </p:nvCxnSpPr>
        <p:spPr>
          <a:xfrm>
            <a:off x="7436520" y="2088360"/>
            <a:ext cx="282960" cy="3769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00" name="Connector 45"/>
          <p:cNvCxnSpPr/>
          <p:nvPr/>
        </p:nvCxnSpPr>
        <p:spPr>
          <a:xfrm flipV="1">
            <a:off x="7146360" y="3723840"/>
            <a:ext cx="543240" cy="4345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01" name="Connector 46"/>
          <p:cNvCxnSpPr/>
          <p:nvPr/>
        </p:nvCxnSpPr>
        <p:spPr>
          <a:xfrm flipH="1" flipV="1">
            <a:off x="4776480" y="4047480"/>
            <a:ext cx="642600" cy="171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02" name="Connector 47"/>
          <p:cNvCxnSpPr/>
          <p:nvPr/>
        </p:nvCxnSpPr>
        <p:spPr>
          <a:xfrm>
            <a:off x="5806440" y="2596680"/>
            <a:ext cx="82332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503" name="Oval 48"/>
          <p:cNvSpPr/>
          <p:nvPr/>
        </p:nvSpPr>
        <p:spPr>
          <a:xfrm>
            <a:off x="6053400" y="294444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Oval 49"/>
          <p:cNvSpPr/>
          <p:nvPr/>
        </p:nvSpPr>
        <p:spPr>
          <a:xfrm>
            <a:off x="54774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5" name="Oval 50"/>
          <p:cNvSpPr/>
          <p:nvPr/>
        </p:nvSpPr>
        <p:spPr>
          <a:xfrm>
            <a:off x="66294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6" name="Oval 51"/>
          <p:cNvSpPr/>
          <p:nvPr/>
        </p:nvSpPr>
        <p:spPr>
          <a:xfrm>
            <a:off x="6053400" y="35845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7" name="Oval 52"/>
          <p:cNvSpPr/>
          <p:nvPr/>
        </p:nvSpPr>
        <p:spPr>
          <a:xfrm>
            <a:off x="4837320" y="204840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8" name="Oval 53"/>
          <p:cNvSpPr/>
          <p:nvPr/>
        </p:nvSpPr>
        <p:spPr>
          <a:xfrm>
            <a:off x="5413320" y="16642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9" name="Oval 54"/>
          <p:cNvSpPr/>
          <p:nvPr/>
        </p:nvSpPr>
        <p:spPr>
          <a:xfrm>
            <a:off x="7173360" y="17920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0" name="Oval 55"/>
          <p:cNvSpPr/>
          <p:nvPr/>
        </p:nvSpPr>
        <p:spPr>
          <a:xfrm>
            <a:off x="5413320" y="40964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1" name="Oval 56"/>
          <p:cNvSpPr/>
          <p:nvPr/>
        </p:nvSpPr>
        <p:spPr>
          <a:xfrm>
            <a:off x="6853320" y="40964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2" name="Oval 57"/>
          <p:cNvSpPr/>
          <p:nvPr/>
        </p:nvSpPr>
        <p:spPr>
          <a:xfrm>
            <a:off x="4453200" y="28162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3" name="Oval 58"/>
          <p:cNvSpPr/>
          <p:nvPr/>
        </p:nvSpPr>
        <p:spPr>
          <a:xfrm>
            <a:off x="7653600" y="24321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4" name="Oval 59"/>
          <p:cNvSpPr/>
          <p:nvPr/>
        </p:nvSpPr>
        <p:spPr>
          <a:xfrm>
            <a:off x="7653600" y="34563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5" name="Oval 60"/>
          <p:cNvSpPr/>
          <p:nvPr/>
        </p:nvSpPr>
        <p:spPr>
          <a:xfrm>
            <a:off x="4453200" y="38404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16" name="TextBox 61"/>
          <p:cNvSpPr/>
          <p:nvPr/>
        </p:nvSpPr>
        <p:spPr>
          <a:xfrm>
            <a:off x="4526280" y="46177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 слоя: видно 8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7" name="Connector 62"/>
          <p:cNvCxnSpPr/>
          <p:nvPr/>
        </p:nvCxnSpPr>
        <p:spPr>
          <a:xfrm flipH="1" flipV="1">
            <a:off x="96508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18" name="Connector 63"/>
          <p:cNvCxnSpPr/>
          <p:nvPr/>
        </p:nvCxnSpPr>
        <p:spPr>
          <a:xfrm flipV="1">
            <a:off x="10226880" y="2706120"/>
            <a:ext cx="330480" cy="2937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19" name="Connector 64"/>
          <p:cNvCxnSpPr/>
          <p:nvPr/>
        </p:nvCxnSpPr>
        <p:spPr>
          <a:xfrm>
            <a:off x="10104120" y="3273480"/>
            <a:ext cx="360" cy="31104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0" name="Connector 65"/>
          <p:cNvCxnSpPr/>
          <p:nvPr/>
        </p:nvCxnSpPr>
        <p:spPr>
          <a:xfrm flipH="1" flipV="1">
            <a:off x="9028800" y="2297520"/>
            <a:ext cx="358200" cy="2149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1" name="Connector 66"/>
          <p:cNvCxnSpPr/>
          <p:nvPr/>
        </p:nvCxnSpPr>
        <p:spPr>
          <a:xfrm flipH="1" flipV="1">
            <a:off x="9477360" y="1992600"/>
            <a:ext cx="37080" cy="4402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2" name="Connector 67"/>
          <p:cNvCxnSpPr/>
          <p:nvPr/>
        </p:nvCxnSpPr>
        <p:spPr>
          <a:xfrm flipV="1">
            <a:off x="10786680" y="2081880"/>
            <a:ext cx="331200" cy="38988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3" name="Connector 68"/>
          <p:cNvCxnSpPr/>
          <p:nvPr/>
        </p:nvCxnSpPr>
        <p:spPr>
          <a:xfrm flipH="1">
            <a:off x="9592560" y="3851640"/>
            <a:ext cx="383040" cy="3067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4" name="Connector 69"/>
          <p:cNvCxnSpPr/>
          <p:nvPr/>
        </p:nvCxnSpPr>
        <p:spPr>
          <a:xfrm>
            <a:off x="10242720" y="3837600"/>
            <a:ext cx="523080" cy="33480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5" name="Connector 70"/>
          <p:cNvCxnSpPr/>
          <p:nvPr/>
        </p:nvCxnSpPr>
        <p:spPr>
          <a:xfrm flipH="1">
            <a:off x="8577360" y="2359800"/>
            <a:ext cx="237240" cy="4741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6" name="Connector 71"/>
          <p:cNvCxnSpPr/>
          <p:nvPr/>
        </p:nvCxnSpPr>
        <p:spPr>
          <a:xfrm>
            <a:off x="11322720" y="2088360"/>
            <a:ext cx="282960" cy="3769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7" name="Connector 72"/>
          <p:cNvCxnSpPr/>
          <p:nvPr/>
        </p:nvCxnSpPr>
        <p:spPr>
          <a:xfrm flipV="1">
            <a:off x="11032560" y="3723840"/>
            <a:ext cx="543240" cy="4345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8" name="Connector 73"/>
          <p:cNvCxnSpPr/>
          <p:nvPr/>
        </p:nvCxnSpPr>
        <p:spPr>
          <a:xfrm flipH="1" flipV="1">
            <a:off x="8662680" y="4047480"/>
            <a:ext cx="642600" cy="171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29" name="Connector 74"/>
          <p:cNvCxnSpPr/>
          <p:nvPr/>
        </p:nvCxnSpPr>
        <p:spPr>
          <a:xfrm>
            <a:off x="9692640" y="2596680"/>
            <a:ext cx="823320" cy="3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sp>
        <p:nvSpPr>
          <p:cNvPr id="530" name="Oval 75"/>
          <p:cNvSpPr/>
          <p:nvPr/>
        </p:nvSpPr>
        <p:spPr>
          <a:xfrm>
            <a:off x="9939600" y="294444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1" name="Oval 76"/>
          <p:cNvSpPr/>
          <p:nvPr/>
        </p:nvSpPr>
        <p:spPr>
          <a:xfrm>
            <a:off x="93636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2" name="Oval 77"/>
          <p:cNvSpPr/>
          <p:nvPr/>
        </p:nvSpPr>
        <p:spPr>
          <a:xfrm>
            <a:off x="105156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3" name="Oval 78"/>
          <p:cNvSpPr/>
          <p:nvPr/>
        </p:nvSpPr>
        <p:spPr>
          <a:xfrm>
            <a:off x="9939600" y="35845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4" name="Oval 79"/>
          <p:cNvSpPr/>
          <p:nvPr/>
        </p:nvSpPr>
        <p:spPr>
          <a:xfrm>
            <a:off x="8723520" y="204840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5" name="Oval 80"/>
          <p:cNvSpPr/>
          <p:nvPr/>
        </p:nvSpPr>
        <p:spPr>
          <a:xfrm>
            <a:off x="9299520" y="16642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6" name="Oval 81"/>
          <p:cNvSpPr/>
          <p:nvPr/>
        </p:nvSpPr>
        <p:spPr>
          <a:xfrm>
            <a:off x="11059560" y="17920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7" name="Oval 82"/>
          <p:cNvSpPr/>
          <p:nvPr/>
        </p:nvSpPr>
        <p:spPr>
          <a:xfrm>
            <a:off x="9299520" y="40964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8" name="Oval 83"/>
          <p:cNvSpPr/>
          <p:nvPr/>
        </p:nvSpPr>
        <p:spPr>
          <a:xfrm>
            <a:off x="10739520" y="40964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39" name="Oval 84"/>
          <p:cNvSpPr/>
          <p:nvPr/>
        </p:nvSpPr>
        <p:spPr>
          <a:xfrm>
            <a:off x="8339400" y="28162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0" name="Oval 85"/>
          <p:cNvSpPr/>
          <p:nvPr/>
        </p:nvSpPr>
        <p:spPr>
          <a:xfrm>
            <a:off x="11539800" y="24321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1" name="Oval 86"/>
          <p:cNvSpPr/>
          <p:nvPr/>
        </p:nvSpPr>
        <p:spPr>
          <a:xfrm>
            <a:off x="11539800" y="34563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2" name="Oval 87"/>
          <p:cNvSpPr/>
          <p:nvPr/>
        </p:nvSpPr>
        <p:spPr>
          <a:xfrm>
            <a:off x="8339400" y="384048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43" name="TextBox 88"/>
          <p:cNvSpPr/>
          <p:nvPr/>
        </p:nvSpPr>
        <p:spPr>
          <a:xfrm>
            <a:off x="8412480" y="4617720"/>
            <a:ext cx="33829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 слоя: видно 12 вершин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TextBox 89"/>
          <p:cNvSpPr/>
          <p:nvPr/>
        </p:nvSpPr>
        <p:spPr>
          <a:xfrm>
            <a:off x="640080" y="52578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Каждый слой расширяет окрестность на шаг, а новых весов не появляется: меняется только радиус, с которого собирается информация.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4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1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GCN-слой на 12 строк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1" name="Rounded Rectangle 7"/>
          <p:cNvSpPr/>
          <p:nvPr/>
        </p:nvSpPr>
        <p:spPr>
          <a:xfrm>
            <a:off x="640080" y="1481400"/>
            <a:ext cx="10911240" cy="420588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2" name="TextBox 8"/>
          <p:cNvSpPr/>
          <p:nvPr/>
        </p:nvSpPr>
        <p:spPr>
          <a:xfrm>
            <a:off x="932760" y="1737360"/>
            <a:ext cx="10325880" cy="369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class GCNLayer(nn.Module):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def __init__(self, in_dim, out_dim):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super().__init__()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self.lin = nn.Linear(in_dim, out_dim, bias=False)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def forward(self, x, edge_index):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        # петли и нормировка 1/sqrt(d_u * d_v)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edge_index, _ = add_self_loops(edge_index, num_nodes=x.size(0))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row, col = edge_index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deg = degree(col, x.size(0)).clamp(min=1)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norm = deg[row].pow(-0.5) * deg[col].pow(-0.5)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        # message + aggregate: одна операция index_add_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h = self.lin(x)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msg = h[row] * norm.unsqueeze(-1)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    return torch.zeros_like(h).index_add_(0, col, msg)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8b97a8"/>
                </a:solidFill>
                <a:effectLst/>
                <a:uFillTx/>
                <a:latin typeface="Courier New"/>
              </a:rPr>
              <a:t>        # σ здесь нет, как и в GCNConv: ReLU ставят в модели между слоями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Box 9"/>
          <p:cNvSpPr/>
          <p:nvPr/>
        </p:nvSpPr>
        <p:spPr>
          <a:xfrm>
            <a:off x="640080" y="59162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Ровно это вы напишете на практике 3 и сверите с GCNConv из PyG.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55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2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Семейство слоёв: GCN, GraphSAGE, GAT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5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56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HAMILTON ET AL., 2017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GraphSAGE: сначала сэмплируем, потом агрегируем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63" name="TextBox 7"/>
          <p:cNvSpPr/>
          <p:nvPr/>
        </p:nvSpPr>
        <p:spPr>
          <a:xfrm>
            <a:off x="640080" y="1481400"/>
            <a:ext cx="54860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Проблема: у хаба миллион соседей — собирать всех на каждом шаге невозможно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Решение: берём случайную подвыборку фиксированного размера, например 25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Агрегация на выбор: mean, max-pooling, LSTM по случайному порядку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Свой вектор вершины склеивается с агрегатом, а не складывается с ним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Окрестность ограничена (в статье 25 и 10 соседей на 2 слоя) → учим мини-батчами на подграфах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Учим функцию, а не таблицу → новая вершина сразу получает вектор, как у любой GNN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4" name="Connector 8"/>
          <p:cNvCxnSpPr/>
          <p:nvPr/>
        </p:nvCxnSpPr>
        <p:spPr>
          <a:xfrm>
            <a:off x="9034200" y="2834640"/>
            <a:ext cx="1132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65" name="Connector 9"/>
          <p:cNvCxnSpPr/>
          <p:nvPr/>
        </p:nvCxnSpPr>
        <p:spPr>
          <a:xfrm>
            <a:off x="9020880" y="2898720"/>
            <a:ext cx="963000" cy="4089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66" name="Connector 10"/>
          <p:cNvCxnSpPr/>
          <p:nvPr/>
        </p:nvCxnSpPr>
        <p:spPr>
          <a:xfrm>
            <a:off x="8971200" y="2963880"/>
            <a:ext cx="527760" cy="672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67" name="Connector 11"/>
          <p:cNvCxnSpPr/>
          <p:nvPr/>
        </p:nvCxnSpPr>
        <p:spPr>
          <a:xfrm>
            <a:off x="8869680" y="2999160"/>
            <a:ext cx="360" cy="745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68" name="Connector 12"/>
          <p:cNvCxnSpPr/>
          <p:nvPr/>
        </p:nvCxnSpPr>
        <p:spPr>
          <a:xfrm flipH="1">
            <a:off x="8240400" y="2963880"/>
            <a:ext cx="527760" cy="6721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69" name="Connector 13"/>
          <p:cNvCxnSpPr/>
          <p:nvPr/>
        </p:nvCxnSpPr>
        <p:spPr>
          <a:xfrm flipH="1">
            <a:off x="7755480" y="2898720"/>
            <a:ext cx="963000" cy="40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0" name="Connector 14"/>
          <p:cNvCxnSpPr/>
          <p:nvPr/>
        </p:nvCxnSpPr>
        <p:spPr>
          <a:xfrm flipH="1">
            <a:off x="7572960" y="2834640"/>
            <a:ext cx="113220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1" name="Connector 15"/>
          <p:cNvCxnSpPr/>
          <p:nvPr/>
        </p:nvCxnSpPr>
        <p:spPr>
          <a:xfrm flipH="1" flipV="1">
            <a:off x="7755480" y="2361600"/>
            <a:ext cx="963000" cy="40896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72" name="Connector 16"/>
          <p:cNvCxnSpPr/>
          <p:nvPr/>
        </p:nvCxnSpPr>
        <p:spPr>
          <a:xfrm flipH="1" flipV="1">
            <a:off x="8240400" y="2033280"/>
            <a:ext cx="527760" cy="6721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3" name="Connector 17"/>
          <p:cNvCxnSpPr/>
          <p:nvPr/>
        </p:nvCxnSpPr>
        <p:spPr>
          <a:xfrm flipV="1">
            <a:off x="8869680" y="1924560"/>
            <a:ext cx="360" cy="7455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574" name="Connector 18"/>
          <p:cNvCxnSpPr/>
          <p:nvPr/>
        </p:nvCxnSpPr>
        <p:spPr>
          <a:xfrm flipV="1">
            <a:off x="8971200" y="2033280"/>
            <a:ext cx="527760" cy="672120"/>
          </a:xfrm>
          <a:prstGeom prst="straightConnector1">
            <a:avLst/>
          </a:prstGeom>
          <a:ln w="28575">
            <a:solidFill>
              <a:srgbClr val="e07a3f"/>
            </a:solidFill>
            <a:round/>
          </a:ln>
        </p:spPr>
      </p:cxnSp>
      <p:cxnSp>
        <p:nvCxnSpPr>
          <p:cNvPr id="575" name="Connector 19"/>
          <p:cNvCxnSpPr/>
          <p:nvPr/>
        </p:nvCxnSpPr>
        <p:spPr>
          <a:xfrm flipV="1">
            <a:off x="9020880" y="2361600"/>
            <a:ext cx="963000" cy="4089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576" name="Oval 20"/>
          <p:cNvSpPr/>
          <p:nvPr/>
        </p:nvSpPr>
        <p:spPr>
          <a:xfrm>
            <a:off x="8705160" y="2670120"/>
            <a:ext cx="328680" cy="32868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3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Oval 21"/>
          <p:cNvSpPr/>
          <p:nvPr/>
        </p:nvSpPr>
        <p:spPr>
          <a:xfrm>
            <a:off x="10166400" y="267012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8" name="Oval 22"/>
          <p:cNvSpPr/>
          <p:nvPr/>
        </p:nvSpPr>
        <p:spPr>
          <a:xfrm>
            <a:off x="9970560" y="320724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79" name="Oval 23"/>
          <p:cNvSpPr/>
          <p:nvPr/>
        </p:nvSpPr>
        <p:spPr>
          <a:xfrm>
            <a:off x="9435600" y="360036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0" name="Oval 24"/>
          <p:cNvSpPr/>
          <p:nvPr/>
        </p:nvSpPr>
        <p:spPr>
          <a:xfrm>
            <a:off x="8705160" y="374436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1" name="Oval 25"/>
          <p:cNvSpPr/>
          <p:nvPr/>
        </p:nvSpPr>
        <p:spPr>
          <a:xfrm>
            <a:off x="7974360" y="360036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2" name="Oval 26"/>
          <p:cNvSpPr/>
          <p:nvPr/>
        </p:nvSpPr>
        <p:spPr>
          <a:xfrm>
            <a:off x="7439760" y="320724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3" name="Oval 27"/>
          <p:cNvSpPr/>
          <p:nvPr/>
        </p:nvSpPr>
        <p:spPr>
          <a:xfrm>
            <a:off x="7243920" y="267012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4" name="Oval 28"/>
          <p:cNvSpPr/>
          <p:nvPr/>
        </p:nvSpPr>
        <p:spPr>
          <a:xfrm>
            <a:off x="7439760" y="213300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5" name="Oval 29"/>
          <p:cNvSpPr/>
          <p:nvPr/>
        </p:nvSpPr>
        <p:spPr>
          <a:xfrm>
            <a:off x="7974360" y="173952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6" name="Oval 30"/>
          <p:cNvSpPr/>
          <p:nvPr/>
        </p:nvSpPr>
        <p:spPr>
          <a:xfrm>
            <a:off x="8705160" y="159552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7" name="Oval 31"/>
          <p:cNvSpPr/>
          <p:nvPr/>
        </p:nvSpPr>
        <p:spPr>
          <a:xfrm>
            <a:off x="9435600" y="1739520"/>
            <a:ext cx="328680" cy="32868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8" name="Oval 32"/>
          <p:cNvSpPr/>
          <p:nvPr/>
        </p:nvSpPr>
        <p:spPr>
          <a:xfrm>
            <a:off x="9970560" y="2133000"/>
            <a:ext cx="328680" cy="328680"/>
          </a:xfrm>
          <a:prstGeom prst="ellipse">
            <a:avLst/>
          </a:prstGeom>
          <a:solidFill>
            <a:srgbClr val="edeef0"/>
          </a:solidFill>
          <a:ln w="15240">
            <a:solidFill>
              <a:srgbClr val="edee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89" name="TextBox 33"/>
          <p:cNvSpPr/>
          <p:nvPr/>
        </p:nvSpPr>
        <p:spPr>
          <a:xfrm>
            <a:off x="6583680" y="425196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 сэмпле 4 соседа из 12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TextBox 34"/>
          <p:cNvSpPr/>
          <p:nvPr/>
        </p:nvSpPr>
        <p:spPr>
          <a:xfrm>
            <a:off x="6400800" y="4617720"/>
            <a:ext cx="78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агрегат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Rectangle 35"/>
          <p:cNvSpPr/>
          <p:nvPr/>
        </p:nvSpPr>
        <p:spPr>
          <a:xfrm>
            <a:off x="7315200" y="4617720"/>
            <a:ext cx="347040" cy="3106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2" name="Rectangle 36"/>
          <p:cNvSpPr/>
          <p:nvPr/>
        </p:nvSpPr>
        <p:spPr>
          <a:xfrm>
            <a:off x="7662600" y="4617720"/>
            <a:ext cx="347040" cy="31068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3" name="Rectangle 37"/>
          <p:cNvSpPr/>
          <p:nvPr/>
        </p:nvSpPr>
        <p:spPr>
          <a:xfrm>
            <a:off x="8010000" y="4617720"/>
            <a:ext cx="347040" cy="31068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4" name="TextBox 38"/>
          <p:cNvSpPr/>
          <p:nvPr/>
        </p:nvSpPr>
        <p:spPr>
          <a:xfrm>
            <a:off x="6400800" y="5029200"/>
            <a:ext cx="78588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свой h_v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Rectangle 39"/>
          <p:cNvSpPr/>
          <p:nvPr/>
        </p:nvSpPr>
        <p:spPr>
          <a:xfrm>
            <a:off x="7315200" y="5029200"/>
            <a:ext cx="347040" cy="31068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6" name="Rectangle 40"/>
          <p:cNvSpPr/>
          <p:nvPr/>
        </p:nvSpPr>
        <p:spPr>
          <a:xfrm>
            <a:off x="7662600" y="5029200"/>
            <a:ext cx="347040" cy="31068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97" name="Rectangle 41"/>
          <p:cNvSpPr/>
          <p:nvPr/>
        </p:nvSpPr>
        <p:spPr>
          <a:xfrm>
            <a:off x="8010000" y="5029200"/>
            <a:ext cx="347040" cy="31068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598" name="Connector 42"/>
          <p:cNvCxnSpPr/>
          <p:nvPr/>
        </p:nvCxnSpPr>
        <p:spPr>
          <a:xfrm>
            <a:off x="8503920" y="4955760"/>
            <a:ext cx="50328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599" name="Isosceles Triangle 43"/>
          <p:cNvSpPr/>
          <p:nvPr/>
        </p:nvSpPr>
        <p:spPr>
          <a:xfrm rot="5400000">
            <a:off x="8934120" y="48830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0" name="TextBox 44"/>
          <p:cNvSpPr/>
          <p:nvPr/>
        </p:nvSpPr>
        <p:spPr>
          <a:xfrm>
            <a:off x="9144000" y="443484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склейка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Rectangle 45"/>
          <p:cNvSpPr/>
          <p:nvPr/>
        </p:nvSpPr>
        <p:spPr>
          <a:xfrm>
            <a:off x="9144000" y="4800600"/>
            <a:ext cx="347040" cy="3106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2" name="Rectangle 46"/>
          <p:cNvSpPr/>
          <p:nvPr/>
        </p:nvSpPr>
        <p:spPr>
          <a:xfrm>
            <a:off x="9491400" y="4800600"/>
            <a:ext cx="347040" cy="31068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3" name="Rectangle 47"/>
          <p:cNvSpPr/>
          <p:nvPr/>
        </p:nvSpPr>
        <p:spPr>
          <a:xfrm>
            <a:off x="9838800" y="4800600"/>
            <a:ext cx="347040" cy="31068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4" name="Rectangle 48"/>
          <p:cNvSpPr/>
          <p:nvPr/>
        </p:nvSpPr>
        <p:spPr>
          <a:xfrm>
            <a:off x="10186560" y="4800600"/>
            <a:ext cx="347040" cy="31068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5" name="Rectangle 49"/>
          <p:cNvSpPr/>
          <p:nvPr/>
        </p:nvSpPr>
        <p:spPr>
          <a:xfrm>
            <a:off x="10533960" y="4800600"/>
            <a:ext cx="347040" cy="31068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6" name="Rectangle 50"/>
          <p:cNvSpPr/>
          <p:nvPr/>
        </p:nvSpPr>
        <p:spPr>
          <a:xfrm>
            <a:off x="10881360" y="4800600"/>
            <a:ext cx="347040" cy="31068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0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1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VELIČKOVIĆ ET AL., 2018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GAT: пусть модель сама решит, кого слушать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3" name="Rounded Rectangle 7"/>
          <p:cNvSpPr/>
          <p:nvPr/>
        </p:nvSpPr>
        <p:spPr>
          <a:xfrm>
            <a:off x="640080" y="1801440"/>
            <a:ext cx="10911240" cy="17827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14" name="Picture 8" descr="f_gat.png"/>
          <p:cNvPicPr/>
          <p:nvPr/>
        </p:nvPicPr>
        <p:blipFill>
          <a:blip r:embed="rId1"/>
          <a:stretch/>
        </p:blipFill>
        <p:spPr>
          <a:xfrm>
            <a:off x="3899880" y="2258640"/>
            <a:ext cx="4391640" cy="86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5" name="TextBox 9"/>
          <p:cNvSpPr/>
          <p:nvPr/>
        </p:nvSpPr>
        <p:spPr>
          <a:xfrm>
            <a:off x="640080" y="381312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Вместо фиксированной нормировки по степеням — обучаемые веса внимания. Softmax считается по соседям вершины, поэтому веса складываются в единицу. Дальше h_v = σ(Σ α_vu · W h_u).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1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НАСТОЯЩИЕ ВЕСА НА CORA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Кого слушает вершина: GCN против GAT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3" name="TextBox 8"/>
          <p:cNvSpPr/>
          <p:nvPr/>
        </p:nvSpPr>
        <p:spPr>
          <a:xfrm>
            <a:off x="640080" y="16459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GCN: вес задан степенями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4" name="Connector 9"/>
          <p:cNvCxnSpPr/>
          <p:nvPr/>
        </p:nvCxnSpPr>
        <p:spPr>
          <a:xfrm flipV="1">
            <a:off x="3200400" y="2606040"/>
            <a:ext cx="360" cy="809280"/>
          </a:xfrm>
          <a:prstGeom prst="straightConnector1">
            <a:avLst/>
          </a:prstGeom>
          <a:ln w="64261">
            <a:solidFill>
              <a:srgbClr val="e07a3f"/>
            </a:solidFill>
            <a:round/>
          </a:ln>
        </p:spPr>
      </p:cxnSp>
      <p:cxnSp>
        <p:nvCxnSpPr>
          <p:cNvPr id="625" name="Connector 10"/>
          <p:cNvCxnSpPr/>
          <p:nvPr/>
        </p:nvCxnSpPr>
        <p:spPr>
          <a:xfrm flipV="1">
            <a:off x="3385440" y="3288600"/>
            <a:ext cx="990000" cy="268560"/>
          </a:xfrm>
          <a:prstGeom prst="straightConnector1">
            <a:avLst/>
          </a:prstGeom>
          <a:ln w="48260">
            <a:solidFill>
              <a:srgbClr val="e07a3f"/>
            </a:solidFill>
            <a:round/>
          </a:ln>
        </p:spPr>
      </p:cxnSp>
      <p:cxnSp>
        <p:nvCxnSpPr>
          <p:cNvPr id="626" name="Connector 11"/>
          <p:cNvCxnSpPr/>
          <p:nvPr/>
        </p:nvCxnSpPr>
        <p:spPr>
          <a:xfrm>
            <a:off x="3326400" y="3751920"/>
            <a:ext cx="588600" cy="676080"/>
          </a:xfrm>
          <a:prstGeom prst="straightConnector1">
            <a:avLst/>
          </a:prstGeom>
          <a:ln w="34036">
            <a:solidFill>
              <a:srgbClr val="e07a3f"/>
            </a:solidFill>
            <a:round/>
          </a:ln>
        </p:spPr>
      </p:cxnSp>
      <p:cxnSp>
        <p:nvCxnSpPr>
          <p:cNvPr id="627" name="Connector 12"/>
          <p:cNvCxnSpPr/>
          <p:nvPr/>
        </p:nvCxnSpPr>
        <p:spPr>
          <a:xfrm flipH="1">
            <a:off x="2485800" y="3751920"/>
            <a:ext cx="588600" cy="676080"/>
          </a:xfrm>
          <a:prstGeom prst="straightConnector1">
            <a:avLst/>
          </a:prstGeom>
          <a:ln w="30480">
            <a:solidFill>
              <a:srgbClr val="e07a3f"/>
            </a:solidFill>
            <a:round/>
          </a:ln>
        </p:spPr>
      </p:cxnSp>
      <p:cxnSp>
        <p:nvCxnSpPr>
          <p:cNvPr id="628" name="Connector 13"/>
          <p:cNvCxnSpPr/>
          <p:nvPr/>
        </p:nvCxnSpPr>
        <p:spPr>
          <a:xfrm flipH="1" flipV="1">
            <a:off x="2025360" y="3288600"/>
            <a:ext cx="990000" cy="268560"/>
          </a:xfrm>
          <a:prstGeom prst="straightConnector1">
            <a:avLst/>
          </a:prstGeom>
          <a:ln w="64261">
            <a:solidFill>
              <a:srgbClr val="e07a3f"/>
            </a:solidFill>
            <a:round/>
          </a:ln>
        </p:spPr>
      </p:cxnSp>
      <p:sp>
        <p:nvSpPr>
          <p:cNvPr id="629" name="Oval 14"/>
          <p:cNvSpPr/>
          <p:nvPr/>
        </p:nvSpPr>
        <p:spPr>
          <a:xfrm>
            <a:off x="3008520" y="34153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Oval 15"/>
          <p:cNvSpPr/>
          <p:nvPr/>
        </p:nvSpPr>
        <p:spPr>
          <a:xfrm>
            <a:off x="3008520" y="222192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1" name="Oval 16"/>
          <p:cNvSpPr/>
          <p:nvPr/>
        </p:nvSpPr>
        <p:spPr>
          <a:xfrm>
            <a:off x="4368600" y="3046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2" name="Oval 17"/>
          <p:cNvSpPr/>
          <p:nvPr/>
        </p:nvSpPr>
        <p:spPr>
          <a:xfrm>
            <a:off x="3849120" y="438084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3" name="Oval 18"/>
          <p:cNvSpPr/>
          <p:nvPr/>
        </p:nvSpPr>
        <p:spPr>
          <a:xfrm>
            <a:off x="2167920" y="438084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4" name="Oval 19"/>
          <p:cNvSpPr/>
          <p:nvPr/>
        </p:nvSpPr>
        <p:spPr>
          <a:xfrm>
            <a:off x="1648080" y="3046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5" name="TextBox 20"/>
          <p:cNvSpPr/>
          <p:nvPr/>
        </p:nvSpPr>
        <p:spPr>
          <a:xfrm>
            <a:off x="2304360" y="21398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0.29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Box 21"/>
          <p:cNvSpPr/>
          <p:nvPr/>
        </p:nvSpPr>
        <p:spPr>
          <a:xfrm>
            <a:off x="1938600" y="24141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Box 22"/>
          <p:cNvSpPr/>
          <p:nvPr/>
        </p:nvSpPr>
        <p:spPr>
          <a:xfrm>
            <a:off x="4816440" y="29642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0.20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Box 23"/>
          <p:cNvSpPr/>
          <p:nvPr/>
        </p:nvSpPr>
        <p:spPr>
          <a:xfrm>
            <a:off x="4816440" y="32385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Box 24"/>
          <p:cNvSpPr/>
          <p:nvPr/>
        </p:nvSpPr>
        <p:spPr>
          <a:xfrm>
            <a:off x="4296960" y="42984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0.12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Box 25"/>
          <p:cNvSpPr/>
          <p:nvPr/>
        </p:nvSpPr>
        <p:spPr>
          <a:xfrm>
            <a:off x="4296960" y="45727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10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1" name="TextBox 26"/>
          <p:cNvSpPr/>
          <p:nvPr/>
        </p:nvSpPr>
        <p:spPr>
          <a:xfrm>
            <a:off x="1463760" y="42984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0.10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Box 27"/>
          <p:cNvSpPr/>
          <p:nvPr/>
        </p:nvSpPr>
        <p:spPr>
          <a:xfrm>
            <a:off x="1098000" y="45727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TextBox 28"/>
          <p:cNvSpPr/>
          <p:nvPr/>
        </p:nvSpPr>
        <p:spPr>
          <a:xfrm>
            <a:off x="944280" y="29642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0.29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Box 29"/>
          <p:cNvSpPr/>
          <p:nvPr/>
        </p:nvSpPr>
        <p:spPr>
          <a:xfrm>
            <a:off x="578520" y="32385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Box 30"/>
          <p:cNvSpPr/>
          <p:nvPr/>
        </p:nvSpPr>
        <p:spPr>
          <a:xfrm>
            <a:off x="640080" y="4983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сама вершина: 0.17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Box 31"/>
          <p:cNvSpPr/>
          <p:nvPr/>
        </p:nvSpPr>
        <p:spPr>
          <a:xfrm>
            <a:off x="6400800" y="164592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GAT: вес выучен (среднее трёх голов)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47" name="Connector 32"/>
          <p:cNvCxnSpPr/>
          <p:nvPr/>
        </p:nvCxnSpPr>
        <p:spPr>
          <a:xfrm flipV="1">
            <a:off x="8961120" y="2606040"/>
            <a:ext cx="360" cy="809280"/>
          </a:xfrm>
          <a:prstGeom prst="straightConnector1">
            <a:avLst/>
          </a:prstGeom>
          <a:ln w="37592">
            <a:solidFill>
              <a:srgbClr val="e07a3f"/>
            </a:solidFill>
            <a:round/>
          </a:ln>
        </p:spPr>
      </p:cxnSp>
      <p:cxnSp>
        <p:nvCxnSpPr>
          <p:cNvPr id="648" name="Connector 33"/>
          <p:cNvCxnSpPr/>
          <p:nvPr/>
        </p:nvCxnSpPr>
        <p:spPr>
          <a:xfrm flipV="1">
            <a:off x="9146160" y="3288600"/>
            <a:ext cx="990000" cy="268560"/>
          </a:xfrm>
          <a:prstGeom prst="straightConnector1">
            <a:avLst/>
          </a:prstGeom>
          <a:ln w="25146">
            <a:solidFill>
              <a:srgbClr val="e07a3f"/>
            </a:solidFill>
            <a:round/>
          </a:ln>
        </p:spPr>
      </p:cxnSp>
      <p:cxnSp>
        <p:nvCxnSpPr>
          <p:cNvPr id="649" name="Connector 34"/>
          <p:cNvCxnSpPr/>
          <p:nvPr/>
        </p:nvCxnSpPr>
        <p:spPr>
          <a:xfrm>
            <a:off x="9087120" y="3751920"/>
            <a:ext cx="588600" cy="676080"/>
          </a:xfrm>
          <a:prstGeom prst="straightConnector1">
            <a:avLst/>
          </a:prstGeom>
          <a:ln w="28701">
            <a:solidFill>
              <a:srgbClr val="e07a3f"/>
            </a:solidFill>
            <a:round/>
          </a:ln>
        </p:spPr>
      </p:cxnSp>
      <p:cxnSp>
        <p:nvCxnSpPr>
          <p:cNvPr id="650" name="Connector 35"/>
          <p:cNvCxnSpPr/>
          <p:nvPr/>
        </p:nvCxnSpPr>
        <p:spPr>
          <a:xfrm flipH="1">
            <a:off x="8246520" y="3751920"/>
            <a:ext cx="588600" cy="676080"/>
          </a:xfrm>
          <a:prstGeom prst="straightConnector1">
            <a:avLst/>
          </a:prstGeom>
          <a:ln w="108712">
            <a:solidFill>
              <a:srgbClr val="e07a3f"/>
            </a:solidFill>
            <a:round/>
          </a:ln>
        </p:spPr>
      </p:cxnSp>
      <p:cxnSp>
        <p:nvCxnSpPr>
          <p:cNvPr id="651" name="Connector 36"/>
          <p:cNvCxnSpPr/>
          <p:nvPr/>
        </p:nvCxnSpPr>
        <p:spPr>
          <a:xfrm flipH="1" flipV="1">
            <a:off x="7786080" y="3288600"/>
            <a:ext cx="990000" cy="268560"/>
          </a:xfrm>
          <a:prstGeom prst="straightConnector1">
            <a:avLst/>
          </a:prstGeom>
          <a:ln w="23368">
            <a:solidFill>
              <a:srgbClr val="e07a3f"/>
            </a:solidFill>
            <a:round/>
          </a:ln>
        </p:spPr>
      </p:cxnSp>
      <p:sp>
        <p:nvSpPr>
          <p:cNvPr id="652" name="Oval 37"/>
          <p:cNvSpPr/>
          <p:nvPr/>
        </p:nvSpPr>
        <p:spPr>
          <a:xfrm>
            <a:off x="8769240" y="3415320"/>
            <a:ext cx="383760" cy="38376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Oval 38"/>
          <p:cNvSpPr/>
          <p:nvPr/>
        </p:nvSpPr>
        <p:spPr>
          <a:xfrm>
            <a:off x="8769240" y="222192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4" name="Oval 39"/>
          <p:cNvSpPr/>
          <p:nvPr/>
        </p:nvSpPr>
        <p:spPr>
          <a:xfrm>
            <a:off x="10129320" y="3046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5" name="Oval 40"/>
          <p:cNvSpPr/>
          <p:nvPr/>
        </p:nvSpPr>
        <p:spPr>
          <a:xfrm>
            <a:off x="9609840" y="438084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6" name="Oval 41"/>
          <p:cNvSpPr/>
          <p:nvPr/>
        </p:nvSpPr>
        <p:spPr>
          <a:xfrm>
            <a:off x="7928640" y="438084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7" name="Oval 42"/>
          <p:cNvSpPr/>
          <p:nvPr/>
        </p:nvSpPr>
        <p:spPr>
          <a:xfrm>
            <a:off x="7408800" y="3046680"/>
            <a:ext cx="383760" cy="38376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8" name="TextBox 43"/>
          <p:cNvSpPr/>
          <p:nvPr/>
        </p:nvSpPr>
        <p:spPr>
          <a:xfrm>
            <a:off x="8065080" y="21398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0.14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44"/>
          <p:cNvSpPr/>
          <p:nvPr/>
        </p:nvSpPr>
        <p:spPr>
          <a:xfrm>
            <a:off x="7699320" y="24141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Box 45"/>
          <p:cNvSpPr/>
          <p:nvPr/>
        </p:nvSpPr>
        <p:spPr>
          <a:xfrm>
            <a:off x="10577160" y="29642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0.07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46"/>
          <p:cNvSpPr/>
          <p:nvPr/>
        </p:nvSpPr>
        <p:spPr>
          <a:xfrm>
            <a:off x="10577160" y="32385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47"/>
          <p:cNvSpPr/>
          <p:nvPr/>
        </p:nvSpPr>
        <p:spPr>
          <a:xfrm>
            <a:off x="10057680" y="42984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0.09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Box 48"/>
          <p:cNvSpPr/>
          <p:nvPr/>
        </p:nvSpPr>
        <p:spPr>
          <a:xfrm>
            <a:off x="10057680" y="45727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10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Box 49"/>
          <p:cNvSpPr/>
          <p:nvPr/>
        </p:nvSpPr>
        <p:spPr>
          <a:xfrm>
            <a:off x="7224480" y="429840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0.54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Box 50"/>
          <p:cNvSpPr/>
          <p:nvPr/>
        </p:nvSpPr>
        <p:spPr>
          <a:xfrm>
            <a:off x="6858720" y="457272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51"/>
          <p:cNvSpPr/>
          <p:nvPr/>
        </p:nvSpPr>
        <p:spPr>
          <a:xfrm>
            <a:off x="6705000" y="2964240"/>
            <a:ext cx="639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0.06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Box 52"/>
          <p:cNvSpPr/>
          <p:nvPr/>
        </p:nvSpPr>
        <p:spPr>
          <a:xfrm>
            <a:off x="6339240" y="3238560"/>
            <a:ext cx="10054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Box 53"/>
          <p:cNvSpPr/>
          <p:nvPr/>
        </p:nvSpPr>
        <p:spPr>
          <a:xfrm>
            <a:off x="6400800" y="498348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сама вершина: 0.10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Box 54"/>
          <p:cNvSpPr/>
          <p:nvPr/>
        </p:nvSpPr>
        <p:spPr>
          <a:xfrm>
            <a:off x="640080" y="5440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Вершина 1196 из Cora. Хаб со степенью 17 у GCN получает самый маленький вес — 0.10, а у GAT самый большой — 0.54. Толщина ребра — вес.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67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ДЕТАЛИ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Multi-head attention: несколько мнений вместо одного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6" name="TextBox 7"/>
          <p:cNvSpPr/>
          <p:nvPr/>
        </p:nvSpPr>
        <p:spPr>
          <a:xfrm>
            <a:off x="640080" y="1481400"/>
            <a:ext cx="512028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Одна голова легко переобучается, веса неустойчивы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Запускаем K независимых голов и объединяем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скрытые слои — склейка, последний — среднее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Обычно K = 4…8, цена растёт линейно по K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Box 8"/>
          <p:cNvSpPr/>
          <p:nvPr/>
        </p:nvSpPr>
        <p:spPr>
          <a:xfrm>
            <a:off x="6035040" y="169164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голова 1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8" name="Connector 9"/>
          <p:cNvCxnSpPr/>
          <p:nvPr/>
        </p:nvCxnSpPr>
        <p:spPr>
          <a:xfrm flipV="1">
            <a:off x="6903720" y="2368080"/>
            <a:ext cx="360" cy="421200"/>
          </a:xfrm>
          <a:prstGeom prst="straightConnector1">
            <a:avLst/>
          </a:prstGeom>
          <a:ln w="36195">
            <a:solidFill>
              <a:srgbClr val="e07a3f"/>
            </a:solidFill>
            <a:round/>
          </a:ln>
        </p:spPr>
      </p:cxnSp>
      <p:cxnSp>
        <p:nvCxnSpPr>
          <p:cNvPr id="679" name="Connector 10"/>
          <p:cNvCxnSpPr/>
          <p:nvPr/>
        </p:nvCxnSpPr>
        <p:spPr>
          <a:xfrm flipV="1">
            <a:off x="7016760" y="2740320"/>
            <a:ext cx="414000" cy="131760"/>
          </a:xfrm>
          <a:prstGeom prst="straightConnector1">
            <a:avLst/>
          </a:prstGeom>
          <a:ln w="19685">
            <a:solidFill>
              <a:srgbClr val="e07a3f"/>
            </a:solidFill>
            <a:round/>
          </a:ln>
        </p:spPr>
      </p:cxnSp>
      <p:cxnSp>
        <p:nvCxnSpPr>
          <p:cNvPr id="680" name="Connector 11"/>
          <p:cNvCxnSpPr/>
          <p:nvPr/>
        </p:nvCxnSpPr>
        <p:spPr>
          <a:xfrm>
            <a:off x="6974280" y="3003120"/>
            <a:ext cx="254160" cy="342000"/>
          </a:xfrm>
          <a:prstGeom prst="straightConnector1">
            <a:avLst/>
          </a:prstGeom>
          <a:ln w="17145">
            <a:solidFill>
              <a:srgbClr val="e07a3f"/>
            </a:solidFill>
            <a:round/>
          </a:ln>
        </p:spPr>
      </p:cxnSp>
      <p:cxnSp>
        <p:nvCxnSpPr>
          <p:cNvPr id="681" name="Connector 12"/>
          <p:cNvCxnSpPr/>
          <p:nvPr/>
        </p:nvCxnSpPr>
        <p:spPr>
          <a:xfrm flipH="1">
            <a:off x="6579000" y="3003120"/>
            <a:ext cx="254160" cy="342000"/>
          </a:xfrm>
          <a:prstGeom prst="straightConnector1">
            <a:avLst/>
          </a:prstGeom>
          <a:ln w="67945">
            <a:solidFill>
              <a:srgbClr val="e07a3f"/>
            </a:solidFill>
            <a:round/>
          </a:ln>
        </p:spPr>
      </p:cxnSp>
      <p:cxnSp>
        <p:nvCxnSpPr>
          <p:cNvPr id="682" name="Connector 13"/>
          <p:cNvCxnSpPr/>
          <p:nvPr/>
        </p:nvCxnSpPr>
        <p:spPr>
          <a:xfrm flipH="1" flipV="1">
            <a:off x="6376680" y="2740320"/>
            <a:ext cx="414000" cy="131760"/>
          </a:xfrm>
          <a:prstGeom prst="straightConnector1">
            <a:avLst/>
          </a:prstGeom>
          <a:ln w="18415">
            <a:solidFill>
              <a:srgbClr val="e07a3f"/>
            </a:solidFill>
            <a:round/>
          </a:ln>
        </p:spPr>
      </p:cxnSp>
      <p:sp>
        <p:nvSpPr>
          <p:cNvPr id="683" name="Oval 14"/>
          <p:cNvSpPr/>
          <p:nvPr/>
        </p:nvSpPr>
        <p:spPr>
          <a:xfrm>
            <a:off x="6784920" y="2788920"/>
            <a:ext cx="237240" cy="2372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Oval 15"/>
          <p:cNvSpPr/>
          <p:nvPr/>
        </p:nvSpPr>
        <p:spPr>
          <a:xfrm>
            <a:off x="6784920" y="21304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5" name="Oval 16"/>
          <p:cNvSpPr/>
          <p:nvPr/>
        </p:nvSpPr>
        <p:spPr>
          <a:xfrm>
            <a:off x="742500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6" name="Oval 17"/>
          <p:cNvSpPr/>
          <p:nvPr/>
        </p:nvSpPr>
        <p:spPr>
          <a:xfrm>
            <a:off x="718056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7" name="Oval 18"/>
          <p:cNvSpPr/>
          <p:nvPr/>
        </p:nvSpPr>
        <p:spPr>
          <a:xfrm>
            <a:off x="638928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8" name="Oval 19"/>
          <p:cNvSpPr/>
          <p:nvPr/>
        </p:nvSpPr>
        <p:spPr>
          <a:xfrm>
            <a:off x="614484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9" name="TextBox 20"/>
          <p:cNvSpPr/>
          <p:nvPr/>
        </p:nvSpPr>
        <p:spPr>
          <a:xfrm>
            <a:off x="6035040" y="370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хабу: 0.46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extBox 21"/>
          <p:cNvSpPr/>
          <p:nvPr/>
        </p:nvSpPr>
        <p:spPr>
          <a:xfrm>
            <a:off x="7863840" y="169164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голова 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91" name="Connector 22"/>
          <p:cNvCxnSpPr/>
          <p:nvPr/>
        </p:nvCxnSpPr>
        <p:spPr>
          <a:xfrm flipV="1">
            <a:off x="8732520" y="2368080"/>
            <a:ext cx="360" cy="421200"/>
          </a:xfrm>
          <a:prstGeom prst="straightConnector1">
            <a:avLst/>
          </a:prstGeom>
          <a:ln w="18415">
            <a:solidFill>
              <a:srgbClr val="e07a3f"/>
            </a:solidFill>
            <a:round/>
          </a:ln>
        </p:spPr>
      </p:cxnSp>
      <p:cxnSp>
        <p:nvCxnSpPr>
          <p:cNvPr id="692" name="Connector 23"/>
          <p:cNvCxnSpPr/>
          <p:nvPr/>
        </p:nvCxnSpPr>
        <p:spPr>
          <a:xfrm flipV="1">
            <a:off x="8845560" y="2740320"/>
            <a:ext cx="414000" cy="131760"/>
          </a:xfrm>
          <a:prstGeom prst="straightConnector1">
            <a:avLst/>
          </a:prstGeom>
          <a:ln w="12065">
            <a:solidFill>
              <a:srgbClr val="e07a3f"/>
            </a:solidFill>
            <a:round/>
          </a:ln>
        </p:spPr>
      </p:cxnSp>
      <p:cxnSp>
        <p:nvCxnSpPr>
          <p:cNvPr id="693" name="Connector 24"/>
          <p:cNvCxnSpPr/>
          <p:nvPr/>
        </p:nvCxnSpPr>
        <p:spPr>
          <a:xfrm>
            <a:off x="8803080" y="3003120"/>
            <a:ext cx="254160" cy="342000"/>
          </a:xfrm>
          <a:prstGeom prst="straightConnector1">
            <a:avLst/>
          </a:prstGeom>
          <a:ln w="13335">
            <a:solidFill>
              <a:srgbClr val="e07a3f"/>
            </a:solidFill>
            <a:round/>
          </a:ln>
        </p:spPr>
      </p:cxnSp>
      <p:cxnSp>
        <p:nvCxnSpPr>
          <p:cNvPr id="694" name="Connector 25"/>
          <p:cNvCxnSpPr/>
          <p:nvPr/>
        </p:nvCxnSpPr>
        <p:spPr>
          <a:xfrm flipH="1">
            <a:off x="8407800" y="3003120"/>
            <a:ext cx="254160" cy="342000"/>
          </a:xfrm>
          <a:prstGeom prst="straightConnector1">
            <a:avLst/>
          </a:prstGeom>
          <a:ln w="108585">
            <a:solidFill>
              <a:srgbClr val="e07a3f"/>
            </a:solidFill>
            <a:round/>
          </a:ln>
        </p:spPr>
      </p:cxnSp>
      <p:cxnSp>
        <p:nvCxnSpPr>
          <p:cNvPr id="695" name="Connector 26"/>
          <p:cNvCxnSpPr/>
          <p:nvPr/>
        </p:nvCxnSpPr>
        <p:spPr>
          <a:xfrm flipH="1" flipV="1">
            <a:off x="8205480" y="2740320"/>
            <a:ext cx="414000" cy="131760"/>
          </a:xfrm>
          <a:prstGeom prst="straightConnector1">
            <a:avLst/>
          </a:prstGeom>
          <a:ln w="13335">
            <a:solidFill>
              <a:srgbClr val="e07a3f"/>
            </a:solidFill>
            <a:round/>
          </a:ln>
        </p:spPr>
      </p:cxnSp>
      <p:sp>
        <p:nvSpPr>
          <p:cNvPr id="696" name="Oval 27"/>
          <p:cNvSpPr/>
          <p:nvPr/>
        </p:nvSpPr>
        <p:spPr>
          <a:xfrm>
            <a:off x="8613720" y="2788920"/>
            <a:ext cx="237240" cy="2372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7" name="Oval 28"/>
          <p:cNvSpPr/>
          <p:nvPr/>
        </p:nvSpPr>
        <p:spPr>
          <a:xfrm>
            <a:off x="8613720" y="21304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8" name="Oval 29"/>
          <p:cNvSpPr/>
          <p:nvPr/>
        </p:nvSpPr>
        <p:spPr>
          <a:xfrm>
            <a:off x="925380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9" name="Oval 30"/>
          <p:cNvSpPr/>
          <p:nvPr/>
        </p:nvSpPr>
        <p:spPr>
          <a:xfrm>
            <a:off x="900936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0" name="Oval 31"/>
          <p:cNvSpPr/>
          <p:nvPr/>
        </p:nvSpPr>
        <p:spPr>
          <a:xfrm>
            <a:off x="821808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1" name="Oval 32"/>
          <p:cNvSpPr/>
          <p:nvPr/>
        </p:nvSpPr>
        <p:spPr>
          <a:xfrm>
            <a:off x="797364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2" name="TextBox 33"/>
          <p:cNvSpPr/>
          <p:nvPr/>
        </p:nvSpPr>
        <p:spPr>
          <a:xfrm>
            <a:off x="7863840" y="370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хабу: 0.78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Box 34"/>
          <p:cNvSpPr/>
          <p:nvPr/>
        </p:nvSpPr>
        <p:spPr>
          <a:xfrm>
            <a:off x="9692640" y="169164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голова 3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04" name="Connector 35"/>
          <p:cNvCxnSpPr/>
          <p:nvPr/>
        </p:nvCxnSpPr>
        <p:spPr>
          <a:xfrm flipV="1">
            <a:off x="10561320" y="2368080"/>
            <a:ext cx="360" cy="421200"/>
          </a:xfrm>
          <a:prstGeom prst="straightConnector1">
            <a:avLst/>
          </a:prstGeom>
          <a:ln w="26034">
            <a:solidFill>
              <a:srgbClr val="e07a3f"/>
            </a:solidFill>
            <a:round/>
          </a:ln>
        </p:spPr>
      </p:cxnSp>
      <p:cxnSp>
        <p:nvCxnSpPr>
          <p:cNvPr id="705" name="Connector 36"/>
          <p:cNvCxnSpPr/>
          <p:nvPr/>
        </p:nvCxnSpPr>
        <p:spPr>
          <a:xfrm flipV="1">
            <a:off x="10674360" y="2740320"/>
            <a:ext cx="414000" cy="131760"/>
          </a:xfrm>
          <a:prstGeom prst="straightConnector1">
            <a:avLst/>
          </a:prstGeom>
          <a:ln w="23495">
            <a:solidFill>
              <a:srgbClr val="e07a3f"/>
            </a:solidFill>
            <a:round/>
          </a:ln>
        </p:spPr>
      </p:cxnSp>
      <p:cxnSp>
        <p:nvCxnSpPr>
          <p:cNvPr id="706" name="Connector 37"/>
          <p:cNvCxnSpPr/>
          <p:nvPr/>
        </p:nvCxnSpPr>
        <p:spPr>
          <a:xfrm>
            <a:off x="10631880" y="3003120"/>
            <a:ext cx="254160" cy="342000"/>
          </a:xfrm>
          <a:prstGeom prst="straightConnector1">
            <a:avLst/>
          </a:prstGeom>
          <a:ln w="32384">
            <a:solidFill>
              <a:srgbClr val="e07a3f"/>
            </a:solidFill>
            <a:round/>
          </a:ln>
        </p:spPr>
      </p:cxnSp>
      <p:cxnSp>
        <p:nvCxnSpPr>
          <p:cNvPr id="707" name="Connector 38"/>
          <p:cNvCxnSpPr/>
          <p:nvPr/>
        </p:nvCxnSpPr>
        <p:spPr>
          <a:xfrm flipH="1">
            <a:off x="10236600" y="3003120"/>
            <a:ext cx="254160" cy="342000"/>
          </a:xfrm>
          <a:prstGeom prst="straightConnector1">
            <a:avLst/>
          </a:prstGeom>
          <a:ln w="59055">
            <a:solidFill>
              <a:srgbClr val="e07a3f"/>
            </a:solidFill>
            <a:round/>
          </a:ln>
        </p:spPr>
      </p:cxnSp>
      <p:cxnSp>
        <p:nvCxnSpPr>
          <p:cNvPr id="708" name="Connector 39"/>
          <p:cNvCxnSpPr/>
          <p:nvPr/>
        </p:nvCxnSpPr>
        <p:spPr>
          <a:xfrm flipH="1" flipV="1">
            <a:off x="10034280" y="2740320"/>
            <a:ext cx="414000" cy="131760"/>
          </a:xfrm>
          <a:prstGeom prst="straightConnector1">
            <a:avLst/>
          </a:prstGeom>
          <a:ln w="18415">
            <a:solidFill>
              <a:srgbClr val="e07a3f"/>
            </a:solidFill>
            <a:round/>
          </a:ln>
        </p:spPr>
      </p:cxnSp>
      <p:sp>
        <p:nvSpPr>
          <p:cNvPr id="709" name="Oval 40"/>
          <p:cNvSpPr/>
          <p:nvPr/>
        </p:nvSpPr>
        <p:spPr>
          <a:xfrm>
            <a:off x="10442520" y="2788920"/>
            <a:ext cx="237240" cy="23724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v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0" name="Oval 41"/>
          <p:cNvSpPr/>
          <p:nvPr/>
        </p:nvSpPr>
        <p:spPr>
          <a:xfrm>
            <a:off x="10442520" y="213048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1" name="Oval 42"/>
          <p:cNvSpPr/>
          <p:nvPr/>
        </p:nvSpPr>
        <p:spPr>
          <a:xfrm>
            <a:off x="1108260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2" name="Oval 43"/>
          <p:cNvSpPr/>
          <p:nvPr/>
        </p:nvSpPr>
        <p:spPr>
          <a:xfrm>
            <a:off x="1083816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3" name="Oval 44"/>
          <p:cNvSpPr/>
          <p:nvPr/>
        </p:nvSpPr>
        <p:spPr>
          <a:xfrm>
            <a:off x="10046880" y="33217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4" name="Oval 45"/>
          <p:cNvSpPr/>
          <p:nvPr/>
        </p:nvSpPr>
        <p:spPr>
          <a:xfrm>
            <a:off x="9802440" y="2585520"/>
            <a:ext cx="237240" cy="2372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5" name="TextBox 46"/>
          <p:cNvSpPr/>
          <p:nvPr/>
        </p:nvSpPr>
        <p:spPr>
          <a:xfrm>
            <a:off x="9692640" y="3703320"/>
            <a:ext cx="1737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хабу: 0.39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Rectangle 47"/>
          <p:cNvSpPr/>
          <p:nvPr/>
        </p:nvSpPr>
        <p:spPr>
          <a:xfrm>
            <a:off x="6629400" y="4572000"/>
            <a:ext cx="328680" cy="31068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7" name="Rectangle 48"/>
          <p:cNvSpPr/>
          <p:nvPr/>
        </p:nvSpPr>
        <p:spPr>
          <a:xfrm>
            <a:off x="6958440" y="4572000"/>
            <a:ext cx="328680" cy="31068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8" name="Rectangle 49"/>
          <p:cNvSpPr/>
          <p:nvPr/>
        </p:nvSpPr>
        <p:spPr>
          <a:xfrm>
            <a:off x="7287840" y="4572000"/>
            <a:ext cx="328680" cy="31068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9" name="Rectangle 50"/>
          <p:cNvSpPr/>
          <p:nvPr/>
        </p:nvSpPr>
        <p:spPr>
          <a:xfrm>
            <a:off x="7726680" y="4572000"/>
            <a:ext cx="328680" cy="31068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0" name="Rectangle 51"/>
          <p:cNvSpPr/>
          <p:nvPr/>
        </p:nvSpPr>
        <p:spPr>
          <a:xfrm>
            <a:off x="8055720" y="4572000"/>
            <a:ext cx="328680" cy="3106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1" name="Rectangle 52"/>
          <p:cNvSpPr/>
          <p:nvPr/>
        </p:nvSpPr>
        <p:spPr>
          <a:xfrm>
            <a:off x="8385120" y="4572000"/>
            <a:ext cx="328680" cy="31068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2" name="Rectangle 53"/>
          <p:cNvSpPr/>
          <p:nvPr/>
        </p:nvSpPr>
        <p:spPr>
          <a:xfrm>
            <a:off x="8823960" y="4572000"/>
            <a:ext cx="328680" cy="31068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3" name="Rectangle 54"/>
          <p:cNvSpPr/>
          <p:nvPr/>
        </p:nvSpPr>
        <p:spPr>
          <a:xfrm>
            <a:off x="9153000" y="4572000"/>
            <a:ext cx="328680" cy="31068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4" name="Rectangle 55"/>
          <p:cNvSpPr/>
          <p:nvPr/>
        </p:nvSpPr>
        <p:spPr>
          <a:xfrm>
            <a:off x="9482400" y="4572000"/>
            <a:ext cx="328680" cy="31068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5" name="TextBox 56"/>
          <p:cNvSpPr/>
          <p:nvPr/>
        </p:nvSpPr>
        <p:spPr>
          <a:xfrm>
            <a:off x="6035040" y="41605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склейка выходов голов → вектор вершины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Box 57"/>
          <p:cNvSpPr/>
          <p:nvPr/>
        </p:nvSpPr>
        <p:spPr>
          <a:xfrm>
            <a:off x="6035040" y="51206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Настоящие веса трёх голов для вершины 1196: каждая голова по-своему решает, кого слушать, а склейка собирает все мнения.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СРАВНЕНИЕ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Три классических слоя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733" name="Table 7"/>
          <p:cNvGraphicFramePr/>
          <p:nvPr/>
        </p:nvGraphicFramePr>
        <p:xfrm>
          <a:off x="640080" y="1664280"/>
          <a:ext cx="10911240" cy="2091960"/>
        </p:xfrm>
        <a:graphic>
          <a:graphicData uri="http://schemas.openxmlformats.org/drawingml/2006/table">
            <a:tbl>
              <a:tblPr/>
              <a:tblGrid>
                <a:gridCol w="1522440"/>
                <a:gridCol w="3044880"/>
                <a:gridCol w="3298680"/>
                <a:gridCol w="30448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Слой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Как агрегирует соседей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добавляет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Цена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нормированная сумма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простота, мало параметров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вес соседа задан степенями; классически учат на всём графе сразу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GraphSAGE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mean / max / LSTM по сэмплу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сэмплирование соседей → мини-батчи на огромных графах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сэмплирование шумит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GAT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взвешенная сумма с attention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веса соседей обучаются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дороже, склонен к переобучению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34" name="TextBox 8"/>
          <p:cNvSpPr/>
          <p:nvPr/>
        </p:nvSpPr>
        <p:spPr>
          <a:xfrm>
            <a:off x="640080" y="44805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Inductive-режим есть у всех трёх: каждый слой — функция от признаков и соседей с общими весами, так что новой вершине хватает её признаков и связей.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3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1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 соцсети, у части вершин десятки тысяч соседей, новые пользователи добавляются каждую минуту. Какой слой брать первым?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3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GCN: он самый простой и быстрый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5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GraphSAGE: сэмплирование соседей и inductive-режим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7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GAT: attention сам разберётся, кого слушать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9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Любой: разницы на практике нет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5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5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6" name="TextBox 7"/>
          <p:cNvSpPr/>
          <p:nvPr/>
        </p:nvSpPr>
        <p:spPr>
          <a:xfrm>
            <a:off x="640080" y="1481400"/>
            <a:ext cx="1091124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 соцсети, у части вершин десятки тысяч соседей, новые пользователи добавляются каждую минуту. Какой слой брать первым?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Rounded Rectangle 8"/>
          <p:cNvSpPr/>
          <p:nvPr/>
        </p:nvSpPr>
        <p:spPr>
          <a:xfrm>
            <a:off x="640080" y="2377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8" name="TextBox 9"/>
          <p:cNvSpPr/>
          <p:nvPr/>
        </p:nvSpPr>
        <p:spPr>
          <a:xfrm>
            <a:off x="914400" y="248724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GCN: он самый простой и быстрый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Rounded Rectangle 10"/>
          <p:cNvSpPr/>
          <p:nvPr/>
        </p:nvSpPr>
        <p:spPr>
          <a:xfrm>
            <a:off x="640080" y="2944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0" name="TextBox 11"/>
          <p:cNvSpPr/>
          <p:nvPr/>
        </p:nvSpPr>
        <p:spPr>
          <a:xfrm>
            <a:off x="914400" y="305424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GraphSAGE: сэмплирование соседей и inductive-режим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Box 12"/>
          <p:cNvSpPr/>
          <p:nvPr/>
        </p:nvSpPr>
        <p:spPr>
          <a:xfrm>
            <a:off x="9174240" y="307224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2" name="Rounded Rectangle 13"/>
          <p:cNvSpPr/>
          <p:nvPr/>
        </p:nvSpPr>
        <p:spPr>
          <a:xfrm>
            <a:off x="640080" y="351144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3" name="TextBox 14"/>
          <p:cNvSpPr/>
          <p:nvPr/>
        </p:nvSpPr>
        <p:spPr>
          <a:xfrm>
            <a:off x="914400" y="3620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GAT: attention сам разберётся, кого слушать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Rounded Rectangle 15"/>
          <p:cNvSpPr/>
          <p:nvPr/>
        </p:nvSpPr>
        <p:spPr>
          <a:xfrm>
            <a:off x="640080" y="407808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5" name="TextBox 16"/>
          <p:cNvSpPr/>
          <p:nvPr/>
        </p:nvSpPr>
        <p:spPr>
          <a:xfrm>
            <a:off x="914400" y="4187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Любой: разницы на практике нет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Rounded Rectangle 17"/>
          <p:cNvSpPr/>
          <p:nvPr/>
        </p:nvSpPr>
        <p:spPr>
          <a:xfrm>
            <a:off x="640080" y="4782240"/>
            <a:ext cx="10911240" cy="1252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7" name="TextBox 18"/>
          <p:cNvSpPr/>
          <p:nvPr/>
        </p:nvSpPr>
        <p:spPr>
          <a:xfrm>
            <a:off x="960120" y="4992480"/>
            <a:ext cx="10271160" cy="95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нового пользователя посчитает любой из трёх слоёв: все они — функции от признаков. Решают хабы: GCN классически учат на всём графе и тянет всю окрестность, GAT считает attention по всем десяткам тысяч соседей. GraphSAGE сэмплирует соседей — вычисления ограничены, учим мини-батчами. На этом построен PinSAGE.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77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РАЗБОР ВРУЧНУЮ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Один слой на конкретных числах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4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775" name="Connector 8"/>
          <p:cNvCxnSpPr/>
          <p:nvPr/>
        </p:nvCxnSpPr>
        <p:spPr>
          <a:xfrm flipV="1">
            <a:off x="1324440" y="2149560"/>
            <a:ext cx="1740240" cy="181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76" name="Connector 9"/>
          <p:cNvCxnSpPr/>
          <p:nvPr/>
        </p:nvCxnSpPr>
        <p:spPr>
          <a:xfrm>
            <a:off x="1272600" y="2500920"/>
            <a:ext cx="746640" cy="621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77" name="Connector 10"/>
          <p:cNvCxnSpPr/>
          <p:nvPr/>
        </p:nvCxnSpPr>
        <p:spPr>
          <a:xfrm flipH="1">
            <a:off x="2352600" y="2290680"/>
            <a:ext cx="781200" cy="8136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778" name="Connector 11"/>
          <p:cNvCxnSpPr/>
          <p:nvPr/>
        </p:nvCxnSpPr>
        <p:spPr>
          <a:xfrm>
            <a:off x="2350440" y="3435840"/>
            <a:ext cx="648360" cy="694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779" name="Oval 12"/>
          <p:cNvSpPr/>
          <p:nvPr/>
        </p:nvSpPr>
        <p:spPr>
          <a:xfrm>
            <a:off x="868680" y="21261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Oval 13"/>
          <p:cNvSpPr/>
          <p:nvPr/>
        </p:nvSpPr>
        <p:spPr>
          <a:xfrm>
            <a:off x="3063240" y="18975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Oval 14"/>
          <p:cNvSpPr/>
          <p:nvPr/>
        </p:nvSpPr>
        <p:spPr>
          <a:xfrm>
            <a:off x="1965960" y="304056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Oval 15"/>
          <p:cNvSpPr/>
          <p:nvPr/>
        </p:nvSpPr>
        <p:spPr>
          <a:xfrm>
            <a:off x="2926080" y="4069080"/>
            <a:ext cx="456840" cy="45684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Box 16"/>
          <p:cNvSpPr/>
          <p:nvPr/>
        </p:nvSpPr>
        <p:spPr>
          <a:xfrm>
            <a:off x="4709160" y="1783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признаки до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Box 17"/>
          <p:cNvSpPr/>
          <p:nvPr/>
        </p:nvSpPr>
        <p:spPr>
          <a:xfrm>
            <a:off x="4462200" y="2194560"/>
            <a:ext cx="25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Rectangle 18"/>
          <p:cNvSpPr/>
          <p:nvPr/>
        </p:nvSpPr>
        <p:spPr>
          <a:xfrm>
            <a:off x="4846320" y="2194560"/>
            <a:ext cx="868320" cy="4384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Rectangle 19"/>
          <p:cNvSpPr/>
          <p:nvPr/>
        </p:nvSpPr>
        <p:spPr>
          <a:xfrm>
            <a:off x="5715000" y="2194560"/>
            <a:ext cx="868320" cy="438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Box 20"/>
          <p:cNvSpPr/>
          <p:nvPr/>
        </p:nvSpPr>
        <p:spPr>
          <a:xfrm>
            <a:off x="4462200" y="2633400"/>
            <a:ext cx="25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Rectangle 21"/>
          <p:cNvSpPr/>
          <p:nvPr/>
        </p:nvSpPr>
        <p:spPr>
          <a:xfrm>
            <a:off x="4846320" y="2633400"/>
            <a:ext cx="868320" cy="438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Rectangle 22"/>
          <p:cNvSpPr/>
          <p:nvPr/>
        </p:nvSpPr>
        <p:spPr>
          <a:xfrm>
            <a:off x="5715000" y="2633400"/>
            <a:ext cx="868320" cy="4384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TextBox 23"/>
          <p:cNvSpPr/>
          <p:nvPr/>
        </p:nvSpPr>
        <p:spPr>
          <a:xfrm>
            <a:off x="4462200" y="3072240"/>
            <a:ext cx="25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Rectangle 24"/>
          <p:cNvSpPr/>
          <p:nvPr/>
        </p:nvSpPr>
        <p:spPr>
          <a:xfrm>
            <a:off x="4846320" y="3072240"/>
            <a:ext cx="868320" cy="4384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Rectangle 25"/>
          <p:cNvSpPr/>
          <p:nvPr/>
        </p:nvSpPr>
        <p:spPr>
          <a:xfrm>
            <a:off x="5715000" y="3072240"/>
            <a:ext cx="868320" cy="438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Box 26"/>
          <p:cNvSpPr/>
          <p:nvPr/>
        </p:nvSpPr>
        <p:spPr>
          <a:xfrm>
            <a:off x="4462200" y="3511440"/>
            <a:ext cx="25560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4" name="Rectangle 27"/>
          <p:cNvSpPr/>
          <p:nvPr/>
        </p:nvSpPr>
        <p:spPr>
          <a:xfrm>
            <a:off x="4846320" y="3511440"/>
            <a:ext cx="868320" cy="4384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Rectangle 28"/>
          <p:cNvSpPr/>
          <p:nvPr/>
        </p:nvSpPr>
        <p:spPr>
          <a:xfrm>
            <a:off x="5715000" y="3511440"/>
            <a:ext cx="868320" cy="4384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Box 29"/>
          <p:cNvSpPr/>
          <p:nvPr/>
        </p:nvSpPr>
        <p:spPr>
          <a:xfrm>
            <a:off x="6812280" y="1783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степень с петлёй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Rectangle 30"/>
          <p:cNvSpPr/>
          <p:nvPr/>
        </p:nvSpPr>
        <p:spPr>
          <a:xfrm>
            <a:off x="7269480" y="2194560"/>
            <a:ext cx="1096920" cy="438480"/>
          </a:xfrm>
          <a:prstGeom prst="rect">
            <a:avLst/>
          </a:prstGeom>
          <a:solidFill>
            <a:srgbClr val="93cdc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Rectangle 31"/>
          <p:cNvSpPr/>
          <p:nvPr/>
        </p:nvSpPr>
        <p:spPr>
          <a:xfrm>
            <a:off x="7269480" y="2633400"/>
            <a:ext cx="1096920" cy="438480"/>
          </a:xfrm>
          <a:prstGeom prst="rect">
            <a:avLst/>
          </a:prstGeom>
          <a:solidFill>
            <a:srgbClr val="93cdc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3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Rectangle 32"/>
          <p:cNvSpPr/>
          <p:nvPr/>
        </p:nvSpPr>
        <p:spPr>
          <a:xfrm>
            <a:off x="7269480" y="3072240"/>
            <a:ext cx="1096920" cy="43848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4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0" name="Rectangle 33"/>
          <p:cNvSpPr/>
          <p:nvPr/>
        </p:nvSpPr>
        <p:spPr>
          <a:xfrm>
            <a:off x="7269480" y="3511440"/>
            <a:ext cx="1096920" cy="438480"/>
          </a:xfrm>
          <a:prstGeom prst="rect">
            <a:avLst/>
          </a:prstGeom>
          <a:solidFill>
            <a:srgbClr val="b7dddd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1" name="Connector 34"/>
          <p:cNvCxnSpPr/>
          <p:nvPr/>
        </p:nvCxnSpPr>
        <p:spPr>
          <a:xfrm>
            <a:off x="8503920" y="3063240"/>
            <a:ext cx="41184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802" name="Isosceles Triangle 35"/>
          <p:cNvSpPr/>
          <p:nvPr/>
        </p:nvSpPr>
        <p:spPr>
          <a:xfrm rot="5400000">
            <a:off x="8842680" y="29901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3" name="TextBox 36"/>
          <p:cNvSpPr/>
          <p:nvPr/>
        </p:nvSpPr>
        <p:spPr>
          <a:xfrm>
            <a:off x="8915400" y="178308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после слоя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Rectangle 37"/>
          <p:cNvSpPr/>
          <p:nvPr/>
        </p:nvSpPr>
        <p:spPr>
          <a:xfrm>
            <a:off x="9052560" y="2194560"/>
            <a:ext cx="868320" cy="43848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1.199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Rectangle 38"/>
          <p:cNvSpPr/>
          <p:nvPr/>
        </p:nvSpPr>
        <p:spPr>
          <a:xfrm>
            <a:off x="9921240" y="2194560"/>
            <a:ext cx="868320" cy="438480"/>
          </a:xfrm>
          <a:prstGeom prst="rect">
            <a:avLst/>
          </a:prstGeom>
          <a:solidFill>
            <a:srgbClr val="bfe1e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0.667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6" name="Rectangle 39"/>
          <p:cNvSpPr/>
          <p:nvPr/>
        </p:nvSpPr>
        <p:spPr>
          <a:xfrm>
            <a:off x="9052560" y="2633400"/>
            <a:ext cx="868320" cy="43848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1.199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Rectangle 40"/>
          <p:cNvSpPr/>
          <p:nvPr/>
        </p:nvSpPr>
        <p:spPr>
          <a:xfrm>
            <a:off x="9921240" y="2633400"/>
            <a:ext cx="868320" cy="438480"/>
          </a:xfrm>
          <a:prstGeom prst="rect">
            <a:avLst/>
          </a:prstGeom>
          <a:solidFill>
            <a:srgbClr val="bfe1e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0.667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ectangle 41"/>
          <p:cNvSpPr/>
          <p:nvPr/>
        </p:nvSpPr>
        <p:spPr>
          <a:xfrm>
            <a:off x="9052560" y="3072240"/>
            <a:ext cx="868320" cy="438480"/>
          </a:xfrm>
          <a:prstGeom prst="rect">
            <a:avLst/>
          </a:prstGeom>
          <a:solidFill>
            <a:srgbClr val="9b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1.039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9" name="Rectangle 42"/>
          <p:cNvSpPr/>
          <p:nvPr/>
        </p:nvSpPr>
        <p:spPr>
          <a:xfrm>
            <a:off x="9921240" y="3072240"/>
            <a:ext cx="868320" cy="438480"/>
          </a:xfrm>
          <a:prstGeom prst="rect">
            <a:avLst/>
          </a:prstGeom>
          <a:solidFill>
            <a:srgbClr val="a5d5d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0.931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Rectangle 43"/>
          <p:cNvSpPr/>
          <p:nvPr/>
        </p:nvSpPr>
        <p:spPr>
          <a:xfrm>
            <a:off x="9052560" y="3511440"/>
            <a:ext cx="868320" cy="438480"/>
          </a:xfrm>
          <a:prstGeom prst="rect">
            <a:avLst/>
          </a:prstGeom>
          <a:solidFill>
            <a:srgbClr val="99cfc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1.061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Rectangle 44"/>
          <p:cNvSpPr/>
          <p:nvPr/>
        </p:nvSpPr>
        <p:spPr>
          <a:xfrm>
            <a:off x="9921240" y="3511440"/>
            <a:ext cx="868320" cy="438480"/>
          </a:xfrm>
          <a:prstGeom prst="rect">
            <a:avLst/>
          </a:prstGeom>
          <a:solidFill>
            <a:srgbClr val="cfe9e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0.500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Box 45"/>
          <p:cNvSpPr/>
          <p:nvPr/>
        </p:nvSpPr>
        <p:spPr>
          <a:xfrm>
            <a:off x="640080" y="48006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Веса взяты единичной матрицей, чтобы было видно чистое действие агрегации. Вершины 0 и 1 получили одинаковый результат: у них совпадают окрестности с учётом петель.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1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ДИСЦИПЛИНА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проверить, что ваш слой правильный?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9" name="TextBox 7"/>
          <p:cNvSpPr/>
          <p:nvPr/>
        </p:nvSpPr>
        <p:spPr>
          <a:xfrm>
            <a:off x="640080" y="1481400"/>
            <a:ext cx="566892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Соберите граф на 4 вершины и посчитайте всё руками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Скопируйте веса из PyG в свою реализацию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Сравните выходы: расхождение должно быть на уровне машинной точности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нашем примере расхождение — 0.0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 первый пункт домашнего задания 1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0" name="Rounded Rectangle 8"/>
          <p:cNvSpPr/>
          <p:nvPr/>
        </p:nvSpPr>
        <p:spPr>
          <a:xfrm>
            <a:off x="6583680" y="2194560"/>
            <a:ext cx="4937400" cy="233964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1" name="TextBox 9"/>
          <p:cNvSpPr/>
          <p:nvPr/>
        </p:nvSpPr>
        <p:spPr>
          <a:xfrm>
            <a:off x="6876360" y="2450520"/>
            <a:ext cx="4352040" cy="182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conv = GCNConv(2, 2, bias=False)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with torch.no_grad():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    conv.lin.weight.copy_(torch.eye(2))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mine = my_layer(x, edge_index)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ref = conv(x, edge_index)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assert torch.allclose(mine, ref, atol=1e-5)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2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2 · В ОБЩЕМ РЯДУ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Чем графовая сеть отличается от привычных архитектур?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828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2785680"/>
                <a:gridCol w="2553480"/>
                <a:gridCol w="2785680"/>
                <a:gridCol w="278568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endParaRPr b="0" lang="ru-RU" sz="18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CNN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RNN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GNN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Структура входа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решётка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последовательность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произвольный граф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Число соседей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фиксировано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один предыдущий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любое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Порядок важен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да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нет, и это требование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Общие веса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 позициям окна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 шагам времени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по всем вершинам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0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3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Как это обучать и не обмануть себя?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3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ДАННЫЕ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На чём будем проверять?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8" name="TextBox 7"/>
          <p:cNvSpPr/>
          <p:nvPr/>
        </p:nvSpPr>
        <p:spPr>
          <a:xfrm>
            <a:off x="640080" y="1481400"/>
            <a:ext cx="67662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Cora: 2708 статей, 5278 связей цитирования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каждой статьи 1433 бинарных признаков — какие слова в ней есть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Классов 7: тематика статьи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Размечено всего 140 вершин — это 5% графа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Валидация 500, тест 1000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Стандартный сплит из статьи Planetoid — так делают все, и это позволяет сравнивать результаты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39" name="Table 8"/>
          <p:cNvGraphicFramePr/>
          <p:nvPr/>
        </p:nvGraphicFramePr>
        <p:xfrm>
          <a:off x="8778240" y="2011680"/>
          <a:ext cx="2742840" cy="2944080"/>
        </p:xfrm>
        <a:graphic>
          <a:graphicData uri="http://schemas.openxmlformats.org/drawingml/2006/table">
            <a:tbl>
              <a:tblPr/>
              <a:tblGrid>
                <a:gridCol w="1554480"/>
                <a:gridCol w="11887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3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Сколько</a:t>
                      </a:r>
                      <a:endParaRPr b="0" lang="ru-RU" sz="13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Вершины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2708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Рёбра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5278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Признаки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1433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Классы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7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Обучение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140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Тест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3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1000</a:t>
                      </a:r>
                      <a:endParaRPr b="0" lang="ru-RU" sz="13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4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84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ПОСТАНОВКА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Одни эмбеддинги — три задачи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46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47" name="Connector 8"/>
          <p:cNvCxnSpPr/>
          <p:nvPr/>
        </p:nvCxnSpPr>
        <p:spPr>
          <a:xfrm flipV="1">
            <a:off x="1075680" y="2409480"/>
            <a:ext cx="591840" cy="118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48" name="Connector 9"/>
          <p:cNvCxnSpPr/>
          <p:nvPr/>
        </p:nvCxnSpPr>
        <p:spPr>
          <a:xfrm>
            <a:off x="1023480" y="2683080"/>
            <a:ext cx="513360" cy="577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49" name="Connector 10"/>
          <p:cNvCxnSpPr/>
          <p:nvPr/>
        </p:nvCxnSpPr>
        <p:spPr>
          <a:xfrm flipV="1">
            <a:off x="888840" y="3430440"/>
            <a:ext cx="599760" cy="1800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50" name="Connector 11"/>
          <p:cNvCxnSpPr/>
          <p:nvPr/>
        </p:nvCxnSpPr>
        <p:spPr>
          <a:xfrm flipV="1">
            <a:off x="1807200" y="3232440"/>
            <a:ext cx="591840" cy="11880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51" name="Connector 12"/>
          <p:cNvCxnSpPr/>
          <p:nvPr/>
        </p:nvCxnSpPr>
        <p:spPr>
          <a:xfrm>
            <a:off x="1937880" y="2500200"/>
            <a:ext cx="513360" cy="5774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52" name="Connector 13"/>
          <p:cNvCxnSpPr/>
          <p:nvPr/>
        </p:nvCxnSpPr>
        <p:spPr>
          <a:xfrm flipH="1">
            <a:off x="1572480" y="3546720"/>
            <a:ext cx="55440" cy="4960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853" name="Connector 14"/>
          <p:cNvCxnSpPr/>
          <p:nvPr/>
        </p:nvCxnSpPr>
        <p:spPr>
          <a:xfrm>
            <a:off x="868320" y="3748680"/>
            <a:ext cx="549360" cy="3664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854" name="Oval 15"/>
          <p:cNvSpPr/>
          <p:nvPr/>
        </p:nvSpPr>
        <p:spPr>
          <a:xfrm>
            <a:off x="749880" y="239580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5" name="Oval 16"/>
          <p:cNvSpPr/>
          <p:nvPr/>
        </p:nvSpPr>
        <p:spPr>
          <a:xfrm>
            <a:off x="1664280" y="22129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6" name="Oval 17"/>
          <p:cNvSpPr/>
          <p:nvPr/>
        </p:nvSpPr>
        <p:spPr>
          <a:xfrm>
            <a:off x="567000" y="34930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7" name="Oval 18"/>
          <p:cNvSpPr/>
          <p:nvPr/>
        </p:nvSpPr>
        <p:spPr>
          <a:xfrm>
            <a:off x="1481400" y="321876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8" name="Oval 19"/>
          <p:cNvSpPr/>
          <p:nvPr/>
        </p:nvSpPr>
        <p:spPr>
          <a:xfrm>
            <a:off x="2395800" y="303588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9" name="Oval 20"/>
          <p:cNvSpPr/>
          <p:nvPr/>
        </p:nvSpPr>
        <p:spPr>
          <a:xfrm>
            <a:off x="1389960" y="4041720"/>
            <a:ext cx="328680" cy="328680"/>
          </a:xfrm>
          <a:prstGeom prst="ellipse">
            <a:avLst/>
          </a:prstGeom>
          <a:solidFill>
            <a:srgbClr val="f4f6f9"/>
          </a:solidFill>
          <a:ln w="1524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60" name="Connector 21"/>
          <p:cNvCxnSpPr/>
          <p:nvPr/>
        </p:nvCxnSpPr>
        <p:spPr>
          <a:xfrm>
            <a:off x="2743200" y="3291840"/>
            <a:ext cx="45756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861" name="Isosceles Triangle 22"/>
          <p:cNvSpPr/>
          <p:nvPr/>
        </p:nvSpPr>
        <p:spPr>
          <a:xfrm rot="5400000">
            <a:off x="3127680" y="3218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2" name="Rounded Rectangle 23"/>
          <p:cNvSpPr/>
          <p:nvPr/>
        </p:nvSpPr>
        <p:spPr>
          <a:xfrm>
            <a:off x="3291840" y="2788920"/>
            <a:ext cx="1371240" cy="100548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GNN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k слоёв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863" name="Connector 24"/>
          <p:cNvCxnSpPr/>
          <p:nvPr/>
        </p:nvCxnSpPr>
        <p:spPr>
          <a:xfrm>
            <a:off x="4754880" y="3291840"/>
            <a:ext cx="457560" cy="360"/>
          </a:xfrm>
          <a:prstGeom prst="straightConnector1">
            <a:avLst/>
          </a:prstGeom>
          <a:ln w="22225">
            <a:solidFill>
              <a:srgbClr val="e07a3f"/>
            </a:solidFill>
            <a:round/>
          </a:ln>
        </p:spPr>
      </p:cxnSp>
      <p:sp>
        <p:nvSpPr>
          <p:cNvPr id="864" name="Isosceles Triangle 25"/>
          <p:cNvSpPr/>
          <p:nvPr/>
        </p:nvSpPr>
        <p:spPr>
          <a:xfrm rot="5400000">
            <a:off x="5139360" y="3218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5" name="TextBox 26"/>
          <p:cNvSpPr/>
          <p:nvPr/>
        </p:nvSpPr>
        <p:spPr>
          <a:xfrm>
            <a:off x="4937760" y="1920240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вектор каждой вершины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6" name="TextBox 27"/>
          <p:cNvSpPr/>
          <p:nvPr/>
        </p:nvSpPr>
        <p:spPr>
          <a:xfrm>
            <a:off x="5303520" y="237744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a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Rectangle 28"/>
          <p:cNvSpPr/>
          <p:nvPr/>
        </p:nvSpPr>
        <p:spPr>
          <a:xfrm>
            <a:off x="5623560" y="2377440"/>
            <a:ext cx="273960" cy="30132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8" name="Rectangle 29"/>
          <p:cNvSpPr/>
          <p:nvPr/>
        </p:nvSpPr>
        <p:spPr>
          <a:xfrm>
            <a:off x="5897880" y="2377440"/>
            <a:ext cx="273960" cy="30132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9" name="Rectangle 30"/>
          <p:cNvSpPr/>
          <p:nvPr/>
        </p:nvSpPr>
        <p:spPr>
          <a:xfrm>
            <a:off x="6172200" y="2377440"/>
            <a:ext cx="273960" cy="3013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0" name="TextBox 31"/>
          <p:cNvSpPr/>
          <p:nvPr/>
        </p:nvSpPr>
        <p:spPr>
          <a:xfrm>
            <a:off x="5303520" y="267912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b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Rectangle 32"/>
          <p:cNvSpPr/>
          <p:nvPr/>
        </p:nvSpPr>
        <p:spPr>
          <a:xfrm>
            <a:off x="5623560" y="2679120"/>
            <a:ext cx="273960" cy="3013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2" name="Rectangle 33"/>
          <p:cNvSpPr/>
          <p:nvPr/>
        </p:nvSpPr>
        <p:spPr>
          <a:xfrm>
            <a:off x="5897880" y="2679120"/>
            <a:ext cx="273960" cy="30132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3" name="Rectangle 34"/>
          <p:cNvSpPr/>
          <p:nvPr/>
        </p:nvSpPr>
        <p:spPr>
          <a:xfrm>
            <a:off x="6172200" y="2679120"/>
            <a:ext cx="273960" cy="301320"/>
          </a:xfrm>
          <a:prstGeom prst="rect">
            <a:avLst/>
          </a:prstGeom>
          <a:solidFill>
            <a:srgbClr val="f8dfd1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4" name="TextBox 35"/>
          <p:cNvSpPr/>
          <p:nvPr/>
        </p:nvSpPr>
        <p:spPr>
          <a:xfrm>
            <a:off x="5303520" y="298080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c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Rectangle 36"/>
          <p:cNvSpPr/>
          <p:nvPr/>
        </p:nvSpPr>
        <p:spPr>
          <a:xfrm>
            <a:off x="5623560" y="2980800"/>
            <a:ext cx="273960" cy="301320"/>
          </a:xfrm>
          <a:prstGeom prst="rect">
            <a:avLst/>
          </a:prstGeom>
          <a:solidFill>
            <a:srgbClr val="f6d7c5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6" name="Rectangle 37"/>
          <p:cNvSpPr/>
          <p:nvPr/>
        </p:nvSpPr>
        <p:spPr>
          <a:xfrm>
            <a:off x="5897880" y="2980800"/>
            <a:ext cx="273960" cy="301320"/>
          </a:xfrm>
          <a:prstGeom prst="rect">
            <a:avLst/>
          </a:prstGeom>
          <a:solidFill>
            <a:srgbClr val="e2f2f2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7" name="Rectangle 38"/>
          <p:cNvSpPr/>
          <p:nvPr/>
        </p:nvSpPr>
        <p:spPr>
          <a:xfrm>
            <a:off x="6172200" y="2980800"/>
            <a:ext cx="273960" cy="301320"/>
          </a:xfrm>
          <a:prstGeom prst="rect">
            <a:avLst/>
          </a:prstGeom>
          <a:solidFill>
            <a:srgbClr val="a8d7d7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8" name="TextBox 39"/>
          <p:cNvSpPr/>
          <p:nvPr/>
        </p:nvSpPr>
        <p:spPr>
          <a:xfrm>
            <a:off x="5303520" y="328284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d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Rectangle 40"/>
          <p:cNvSpPr/>
          <p:nvPr/>
        </p:nvSpPr>
        <p:spPr>
          <a:xfrm>
            <a:off x="5623560" y="3282840"/>
            <a:ext cx="273960" cy="30132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0" name="Rectangle 41"/>
          <p:cNvSpPr/>
          <p:nvPr/>
        </p:nvSpPr>
        <p:spPr>
          <a:xfrm>
            <a:off x="5897880" y="3282840"/>
            <a:ext cx="273960" cy="30132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1" name="Rectangle 42"/>
          <p:cNvSpPr/>
          <p:nvPr/>
        </p:nvSpPr>
        <p:spPr>
          <a:xfrm>
            <a:off x="6172200" y="3282840"/>
            <a:ext cx="273960" cy="3013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2" name="TextBox 43"/>
          <p:cNvSpPr/>
          <p:nvPr/>
        </p:nvSpPr>
        <p:spPr>
          <a:xfrm>
            <a:off x="5303520" y="358452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e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Rectangle 44"/>
          <p:cNvSpPr/>
          <p:nvPr/>
        </p:nvSpPr>
        <p:spPr>
          <a:xfrm>
            <a:off x="5623560" y="3584520"/>
            <a:ext cx="273960" cy="301320"/>
          </a:xfrm>
          <a:prstGeom prst="rect">
            <a:avLst/>
          </a:prstGeom>
          <a:solidFill>
            <a:srgbClr val="fbefe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4" name="Rectangle 45"/>
          <p:cNvSpPr/>
          <p:nvPr/>
        </p:nvSpPr>
        <p:spPr>
          <a:xfrm>
            <a:off x="5897880" y="3584520"/>
            <a:ext cx="273960" cy="301320"/>
          </a:xfrm>
          <a:prstGeom prst="rect">
            <a:avLst/>
          </a:prstGeom>
          <a:solidFill>
            <a:srgbClr val="f4cfba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5" name="Rectangle 46"/>
          <p:cNvSpPr/>
          <p:nvPr/>
        </p:nvSpPr>
        <p:spPr>
          <a:xfrm>
            <a:off x="6172200" y="3584520"/>
            <a:ext cx="273960" cy="301320"/>
          </a:xfrm>
          <a:prstGeom prst="rect">
            <a:avLst/>
          </a:prstGeom>
          <a:solidFill>
            <a:srgbClr val="d4ebeb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6" name="TextBox 47"/>
          <p:cNvSpPr/>
          <p:nvPr/>
        </p:nvSpPr>
        <p:spPr>
          <a:xfrm>
            <a:off x="5303520" y="3886200"/>
            <a:ext cx="191520" cy="3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f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Rectangle 48"/>
          <p:cNvSpPr/>
          <p:nvPr/>
        </p:nvSpPr>
        <p:spPr>
          <a:xfrm>
            <a:off x="5623560" y="3886200"/>
            <a:ext cx="273960" cy="301320"/>
          </a:xfrm>
          <a:prstGeom prst="rect">
            <a:avLst/>
          </a:prstGeom>
          <a:solidFill>
            <a:srgbClr val="9ad0d0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8" name="Rectangle 49"/>
          <p:cNvSpPr/>
          <p:nvPr/>
        </p:nvSpPr>
        <p:spPr>
          <a:xfrm>
            <a:off x="5897880" y="3886200"/>
            <a:ext cx="273960" cy="301320"/>
          </a:xfrm>
          <a:prstGeom prst="rect">
            <a:avLst/>
          </a:prstGeom>
          <a:solidFill>
            <a:srgbClr val="f1f8f8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9" name="Rectangle 50"/>
          <p:cNvSpPr/>
          <p:nvPr/>
        </p:nvSpPr>
        <p:spPr>
          <a:xfrm>
            <a:off x="6172200" y="3886200"/>
            <a:ext cx="273960" cy="301320"/>
          </a:xfrm>
          <a:prstGeom prst="rect">
            <a:avLst/>
          </a:prstGeom>
          <a:solidFill>
            <a:srgbClr val="f9e7d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90" name="Connector 51"/>
          <p:cNvCxnSpPr/>
          <p:nvPr/>
        </p:nvCxnSpPr>
        <p:spPr>
          <a:xfrm flipV="1">
            <a:off x="6675120" y="2377440"/>
            <a:ext cx="640440" cy="91476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891" name="Isosceles Triangle 52"/>
          <p:cNvSpPr/>
          <p:nvPr/>
        </p:nvSpPr>
        <p:spPr>
          <a:xfrm rot="2099400">
            <a:off x="7242120" y="23040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2" name="Rounded Rectangle 53"/>
          <p:cNvSpPr/>
          <p:nvPr/>
        </p:nvSpPr>
        <p:spPr>
          <a:xfrm>
            <a:off x="7406640" y="1965960"/>
            <a:ext cx="4114440" cy="8226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Вершина: h_v → классификатор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какая тематика у статьи?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3" name="Connector 54"/>
          <p:cNvCxnSpPr/>
          <p:nvPr/>
        </p:nvCxnSpPr>
        <p:spPr>
          <a:xfrm>
            <a:off x="6675120" y="3291840"/>
            <a:ext cx="640440" cy="13752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894" name="Isosceles Triangle 55"/>
          <p:cNvSpPr/>
          <p:nvPr/>
        </p:nvSpPr>
        <p:spPr>
          <a:xfrm rot="6125400">
            <a:off x="7242480" y="33559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5" name="Rounded Rectangle 56"/>
          <p:cNvSpPr/>
          <p:nvPr/>
        </p:nvSpPr>
        <p:spPr>
          <a:xfrm>
            <a:off x="7406640" y="3017520"/>
            <a:ext cx="4114440" cy="8226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Ребро: скор пары (h_u, h_v)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будет ли связь?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6" name="Connector 57"/>
          <p:cNvCxnSpPr/>
          <p:nvPr/>
        </p:nvCxnSpPr>
        <p:spPr>
          <a:xfrm>
            <a:off x="6675120" y="3291840"/>
            <a:ext cx="640440" cy="118908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897" name="Isosceles Triangle 58"/>
          <p:cNvSpPr/>
          <p:nvPr/>
        </p:nvSpPr>
        <p:spPr>
          <a:xfrm rot="9102000">
            <a:off x="7242480" y="44078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8" name="Rounded Rectangle 59"/>
          <p:cNvSpPr/>
          <p:nvPr/>
        </p:nvSpPr>
        <p:spPr>
          <a:xfrm>
            <a:off x="7406640" y="4069080"/>
            <a:ext cx="4114440" cy="82260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Граф: пулинг всех h → классификатор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токсична ли молекула?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Box 60"/>
          <p:cNvSpPr/>
          <p:nvPr/>
        </p:nvSpPr>
        <p:spPr>
          <a:xfrm>
            <a:off x="640080" y="525780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5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Тело модели одно и то же: меняются только голова сверху и лосс — подробности на следующем слайде.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0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ПОСТАНОВКА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Три уровня задач — три головы поверх одних и тех же эмбеддингов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06" name="Table 7"/>
          <p:cNvGraphicFramePr/>
          <p:nvPr/>
        </p:nvGraphicFramePr>
        <p:xfrm>
          <a:off x="640080" y="1664280"/>
          <a:ext cx="10911240" cy="1682280"/>
        </p:xfrm>
        <a:graphic>
          <a:graphicData uri="http://schemas.openxmlformats.org/drawingml/2006/table">
            <a:tbl>
              <a:tblPr/>
              <a:tblGrid>
                <a:gridCol w="1939680"/>
                <a:gridCol w="4849560"/>
                <a:gridCol w="41220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Уровень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подаём в голову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Лосс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Вершина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эмбеддинг вершины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cross-entropy по размеченным вершинам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Ребро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пара эмбеддингов: произведение или конкатенация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бинарная cross-entropy с негативами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Граф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пулинг всех вершин: sum, mean или max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cross-entropy или MSE по графам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1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ЭКСПЕРИМЕНТ НА CORA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Даёт ли граф хоть что-то?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13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4676040"/>
                <a:gridCol w="3117240"/>
                <a:gridCol w="311724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Модель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 на тесте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Разброс по 5 сидам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MLP (граф не используется)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0.574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0.005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0.807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0.006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GraphSAGE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0.006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GAT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0.756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± 0.016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14" name="TextBox 8"/>
          <p:cNvSpPr/>
          <p:nvPr/>
        </p:nvSpPr>
        <p:spPr>
          <a:xfrm>
            <a:off x="640080" y="44805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Одинаковые условия: 200 эпох, Adam, lr 0.01, dropout 0.5, скрытый слой 64. MLP видит те же признаки статьи, но не видит связей — и проигрывает 23 пункта. Вот это и есть доказательство, что граф несёт информацию.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7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18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ЭКСПЕРИМЕНТ НА CORA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Те же числа на картинке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21" name="Picture 7" descr="l03_models.png"/>
          <p:cNvPicPr/>
          <p:nvPr/>
        </p:nvPicPr>
        <p:blipFill>
          <a:blip r:embed="rId1"/>
          <a:stretch/>
        </p:blipFill>
        <p:spPr>
          <a:xfrm>
            <a:off x="2806560" y="1481400"/>
            <a:ext cx="6578280" cy="3200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2" name="TextBox 8"/>
          <p:cNvSpPr/>
          <p:nvPr/>
        </p:nvSpPr>
        <p:spPr>
          <a:xfrm>
            <a:off x="640080" y="491040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Усы — разброс по пяти сидам. MLP видит ровно те же признаки статьи, но не видит связей: разрыв в 23 пункта целиком объясняется структурой графа.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2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ЭКСПЕРИМЕНТ НА CORA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граф делает с представлениями?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29" name="Picture 7" descr="l03_tsne.png"/>
          <p:cNvPicPr/>
          <p:nvPr/>
        </p:nvPicPr>
        <p:blipFill>
          <a:blip r:embed="rId1"/>
          <a:stretch/>
        </p:blipFill>
        <p:spPr>
          <a:xfrm>
            <a:off x="2323800" y="1481400"/>
            <a:ext cx="7543440" cy="315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0" name="TextBox 8"/>
          <p:cNvSpPr/>
          <p:nvPr/>
        </p:nvSpPr>
        <p:spPr>
          <a:xfrm>
            <a:off x="640080" y="486468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Каждая точка — статья Cora, цвет — тематика, сжато в 2D через t-SNE. Слева исходные слова, справа скрытый слой обученной GCN. Среди 10 ближайших соседей статьи той же тематики 55% по словам и 75% после GCN: граф собирает темы вместе.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3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РАЗБОР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MLP проигрывает, хотя признаки те же?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7" name="TextBox 7"/>
          <p:cNvSpPr/>
          <p:nvPr/>
        </p:nvSpPr>
        <p:spPr>
          <a:xfrm>
            <a:off x="640080" y="1481400"/>
            <a:ext cx="576036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У Cora всего 140 размеченных вершин на 1433 признака — MLP просто нечему учиться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GNN распространяет информацию от размеченных вершин к соседям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499"/>
              </a:spcAft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      –   каждая размеченная статья «подсвечивает» свою окрестность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 сути, граф работает как мощная регуляризация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Отсюда правило: чем меньше разметки, тем больше выигрыш от графа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Обратное тоже верно: чем больше разметки, тем меньше выигрыш — проверим на следующем слайде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Box 8"/>
          <p:cNvSpPr/>
          <p:nvPr/>
        </p:nvSpPr>
        <p:spPr>
          <a:xfrm>
            <a:off x="6583680" y="1737360"/>
            <a:ext cx="4937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Какая часть Cora рядом с разметкой?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Box 9"/>
          <p:cNvSpPr/>
          <p:nvPr/>
        </p:nvSpPr>
        <p:spPr>
          <a:xfrm>
            <a:off x="6583680" y="240480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размечено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0" name="Rounded Rectangle 10"/>
          <p:cNvSpPr/>
          <p:nvPr/>
        </p:nvSpPr>
        <p:spPr>
          <a:xfrm>
            <a:off x="8229600" y="2331720"/>
            <a:ext cx="3108600" cy="45684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Rounded Rectangle 11"/>
          <p:cNvSpPr/>
          <p:nvPr/>
        </p:nvSpPr>
        <p:spPr>
          <a:xfrm>
            <a:off x="8229600" y="2331720"/>
            <a:ext cx="161280" cy="456840"/>
          </a:xfrm>
          <a:prstGeom prst="roundRect">
            <a:avLst>
              <a:gd name="adj" fmla="val 15000"/>
            </a:avLst>
          </a:prstGeom>
          <a:solidFill>
            <a:srgbClr val="abd8d8"/>
          </a:solidFill>
          <a:ln w="12700">
            <a:solidFill>
              <a:srgbClr val="abd8d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TextBox 12"/>
          <p:cNvSpPr/>
          <p:nvPr/>
        </p:nvSpPr>
        <p:spPr>
          <a:xfrm>
            <a:off x="8482680" y="240480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5%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3" name="TextBox 13"/>
          <p:cNvSpPr/>
          <p:nvPr/>
        </p:nvSpPr>
        <p:spPr>
          <a:xfrm>
            <a:off x="6583680" y="318204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≤ 1 шага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Rounded Rectangle 14"/>
          <p:cNvSpPr/>
          <p:nvPr/>
        </p:nvSpPr>
        <p:spPr>
          <a:xfrm>
            <a:off x="8229600" y="3108960"/>
            <a:ext cx="3108600" cy="45684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5" name="Rounded Rectangle 15"/>
          <p:cNvSpPr/>
          <p:nvPr/>
        </p:nvSpPr>
        <p:spPr>
          <a:xfrm>
            <a:off x="8229600" y="3108960"/>
            <a:ext cx="739440" cy="456840"/>
          </a:xfrm>
          <a:prstGeom prst="roundRect">
            <a:avLst>
              <a:gd name="adj" fmla="val 15000"/>
            </a:avLst>
          </a:prstGeom>
          <a:solidFill>
            <a:srgbClr val="5cb3b3"/>
          </a:solidFill>
          <a:ln w="12700">
            <a:solidFill>
              <a:srgbClr val="5cb3b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Box 16"/>
          <p:cNvSpPr/>
          <p:nvPr/>
        </p:nvSpPr>
        <p:spPr>
          <a:xfrm>
            <a:off x="9060840" y="318204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24%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TextBox 17"/>
          <p:cNvSpPr/>
          <p:nvPr/>
        </p:nvSpPr>
        <p:spPr>
          <a:xfrm>
            <a:off x="6583680" y="3959280"/>
            <a:ext cx="15084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≤ 2 шагов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8" name="Rounded Rectangle 18"/>
          <p:cNvSpPr/>
          <p:nvPr/>
        </p:nvSpPr>
        <p:spPr>
          <a:xfrm>
            <a:off x="8229600" y="3886200"/>
            <a:ext cx="3108600" cy="45684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Rounded Rectangle 19"/>
          <p:cNvSpPr/>
          <p:nvPr/>
        </p:nvSpPr>
        <p:spPr>
          <a:xfrm>
            <a:off x="8229600" y="3886200"/>
            <a:ext cx="1908720" cy="456840"/>
          </a:xfrm>
          <a:prstGeom prst="roundRect">
            <a:avLst>
              <a:gd name="adj" fmla="val 15000"/>
            </a:avLst>
          </a:prstGeom>
          <a:solidFill>
            <a:srgbClr val="0e8f8f"/>
          </a:solidFill>
          <a:ln w="1270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ru-RU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0" name="TextBox 20"/>
          <p:cNvSpPr/>
          <p:nvPr/>
        </p:nvSpPr>
        <p:spPr>
          <a:xfrm>
            <a:off x="10230120" y="3959280"/>
            <a:ext cx="822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61%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1" name="TextBox 21"/>
          <p:cNvSpPr/>
          <p:nvPr/>
        </p:nvSpPr>
        <p:spPr>
          <a:xfrm>
            <a:off x="6583680" y="4754880"/>
            <a:ext cx="4937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Двухслойная GCN дотягивается до разметки от 61% вершин — им есть у кого учиться. MLP видит только сами размеченные 5%.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5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ОСТОРОЖНО СО СРАВНЕНИЯМИ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Та же модель, другой сплит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58" name="Table 7"/>
          <p:cNvGraphicFramePr/>
          <p:nvPr/>
        </p:nvGraphicFramePr>
        <p:xfrm>
          <a:off x="640080" y="1664280"/>
          <a:ext cx="10911240" cy="1682280"/>
        </p:xfrm>
        <a:graphic>
          <a:graphicData uri="http://schemas.openxmlformats.org/drawingml/2006/table">
            <a:tbl>
              <a:tblPr/>
              <a:tblGrid>
                <a:gridCol w="8001720"/>
                <a:gridCol w="290952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Условия эксперимента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Стандартный Planetoid: 140 размеченных вершин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0.807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60% графа в обучении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0.859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60% в обучении, но MLP без графа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0.752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59" name="TextBox 8"/>
          <p:cNvSpPr/>
          <p:nvPr/>
        </p:nvSpPr>
        <p:spPr>
          <a:xfrm>
            <a:off x="640080" y="40233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Стоит отдать в обучение 60% графа — и GCN показывает 0.859 вместо 0.807. Но посмотрите на третью строку: в тех же условиях MLP без графа даёт 0.752 вместо 0.574. Если сравнивать свою модель с чужой на разных сплитах, можно «доказать» что угодно. Заодно проверяем правило про разметку: при 140 метках граф даёт +23 пункта, при 60% графа — уже +11.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62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63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ОСТОРОЖНО СО СРАВНЕНИЯМИ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Почему нельзя сравнивать числа из разных статей?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66" name="Picture 7" descr="l03_splits.png"/>
          <p:cNvPicPr/>
          <p:nvPr/>
        </p:nvPicPr>
        <p:blipFill>
          <a:blip r:embed="rId1"/>
          <a:stretch/>
        </p:blipFill>
        <p:spPr>
          <a:xfrm>
            <a:off x="2814120" y="1481400"/>
            <a:ext cx="6563160" cy="310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7" name="TextBox 8"/>
          <p:cNvSpPr/>
          <p:nvPr/>
        </p:nvSpPr>
        <p:spPr>
          <a:xfrm>
            <a:off x="640080" y="481896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Одна только щедрая разметка поднимает MLP без графа с 0.574 до 0.752 — на 18 пунктов, а граф на стандартном сплите давал +23. Возьмите чужой результат на щедром сплите — и любой метод покажется сильнее. Сравнивать модели можно только при одинаковом протоколе.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7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OVER-SMOOTHING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будет, если сделать сеть глубже?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974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3152160"/>
                <a:gridCol w="3879360"/>
                <a:gridCol w="38793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Число слоёв GCN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 на обучении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 на тесте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0.805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0.998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0.784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0.998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0.742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0.264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0.166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975" name="TextBox 8"/>
          <p:cNvSpPr/>
          <p:nvPr/>
        </p:nvSpPr>
        <p:spPr>
          <a:xfrm>
            <a:off x="640080" y="42976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До 8 слоёв сеть идеально выучивает 140 обучающих вершин, а тест медленно падает. На 16 слоях она не справляется даже с обучающими — 0.264, тест 0.166. Тут два эффекта сразу: представления сглаживаются, а глубокую GCN без residual-связей ещё и трудно обучить.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7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OVER-SMOOTHING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Глубина против качества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82" name="Picture 7" descr="l03_depth.png"/>
          <p:cNvPicPr/>
          <p:nvPr/>
        </p:nvPicPr>
        <p:blipFill>
          <a:blip r:embed="rId1"/>
          <a:stretch/>
        </p:blipFill>
        <p:spPr>
          <a:xfrm>
            <a:off x="1840320" y="1481400"/>
            <a:ext cx="8510760" cy="301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3" name="TextBox 8"/>
          <p:cNvSpPr/>
          <p:nvPr/>
        </p:nvSpPr>
        <p:spPr>
          <a:xfrm>
            <a:off x="640080" y="47275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Слева — обученная GCN. Справа — чистое усреднение признаков Cora по соседям, без всяких весов: среднее косинусное сходство векторов растёт с 0.15 до 0.81 за 64 шага. Это и есть over-smoothing: вершины становятся неразличимы.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8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Разговор про глубокие графовые сети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90" name="Picture 7" descr="meme_more_layers.png"/>
          <p:cNvPicPr/>
          <p:nvPr/>
        </p:nvPicPr>
        <p:blipFill>
          <a:blip r:embed="rId1"/>
          <a:stretch/>
        </p:blipFill>
        <p:spPr>
          <a:xfrm>
            <a:off x="4129920" y="1481400"/>
            <a:ext cx="393156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1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На Cora шестнадцать слоёв дают 0.166 — это уровень подбрасывания монетки с семью гранями.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9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99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ОБЪЯСНЕНИЕ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такое over-smoothing и почему он неизбежен?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Каждый слой усредняет вершину с её соседями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После k слоёв вершина видит всю k-хопную окрестность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Окрестности соседних вершин всё сильнее перекрываются — их векторы сближаются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 Cora без обучения: после 8 усреднений сходство 0.48, после 64 — 0.81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Формально: повторное усреднение — это степенной метод; он сходится к главному собственному вектору, и различия между вершинами стираются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01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002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НАГЛЯДНО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Over-smoothing на маленьком графе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5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006" name="Connector 8"/>
          <p:cNvCxnSpPr/>
          <p:nvPr/>
        </p:nvCxnSpPr>
        <p:spPr>
          <a:xfrm flipV="1">
            <a:off x="126144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07" name="Connector 9"/>
          <p:cNvCxnSpPr/>
          <p:nvPr/>
        </p:nvCxnSpPr>
        <p:spPr>
          <a:xfrm>
            <a:off x="118584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08" name="Connector 10"/>
          <p:cNvCxnSpPr/>
          <p:nvPr/>
        </p:nvCxnSpPr>
        <p:spPr>
          <a:xfrm>
            <a:off x="151776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09" name="Connector 11"/>
          <p:cNvCxnSpPr/>
          <p:nvPr/>
        </p:nvCxnSpPr>
        <p:spPr>
          <a:xfrm>
            <a:off x="169812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0" name="Connector 12"/>
          <p:cNvCxnSpPr/>
          <p:nvPr/>
        </p:nvCxnSpPr>
        <p:spPr>
          <a:xfrm flipV="1">
            <a:off x="170784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1" name="Connector 13"/>
          <p:cNvCxnSpPr/>
          <p:nvPr/>
        </p:nvCxnSpPr>
        <p:spPr>
          <a:xfrm>
            <a:off x="2331720" y="223092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2" name="Connector 14"/>
          <p:cNvCxnSpPr/>
          <p:nvPr/>
        </p:nvCxnSpPr>
        <p:spPr>
          <a:xfrm flipV="1">
            <a:off x="293256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3" name="Connector 15"/>
          <p:cNvCxnSpPr/>
          <p:nvPr/>
        </p:nvCxnSpPr>
        <p:spPr>
          <a:xfrm>
            <a:off x="294228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4" name="Connector 16"/>
          <p:cNvCxnSpPr/>
          <p:nvPr/>
        </p:nvCxnSpPr>
        <p:spPr>
          <a:xfrm>
            <a:off x="332820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5" name="Connector 17"/>
          <p:cNvCxnSpPr/>
          <p:nvPr/>
        </p:nvCxnSpPr>
        <p:spPr>
          <a:xfrm>
            <a:off x="353844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16" name="Connector 18"/>
          <p:cNvCxnSpPr/>
          <p:nvPr/>
        </p:nvCxnSpPr>
        <p:spPr>
          <a:xfrm flipV="1">
            <a:off x="346284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17" name="Oval 19"/>
          <p:cNvSpPr/>
          <p:nvPr/>
        </p:nvSpPr>
        <p:spPr>
          <a:xfrm>
            <a:off x="813960" y="174636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8" name="Oval 20"/>
          <p:cNvSpPr/>
          <p:nvPr/>
        </p:nvSpPr>
        <p:spPr>
          <a:xfrm>
            <a:off x="1280160" y="149976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9" name="Oval 21"/>
          <p:cNvSpPr/>
          <p:nvPr/>
        </p:nvSpPr>
        <p:spPr>
          <a:xfrm>
            <a:off x="1280160" y="242532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0" name="Oval 22"/>
          <p:cNvSpPr/>
          <p:nvPr/>
        </p:nvSpPr>
        <p:spPr>
          <a:xfrm>
            <a:off x="1856160" y="199332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1" name="Oval 23"/>
          <p:cNvSpPr/>
          <p:nvPr/>
        </p:nvSpPr>
        <p:spPr>
          <a:xfrm>
            <a:off x="2514600" y="199332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2" name="Oval 24"/>
          <p:cNvSpPr/>
          <p:nvPr/>
        </p:nvSpPr>
        <p:spPr>
          <a:xfrm>
            <a:off x="3090600" y="149976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3" name="Oval 25"/>
          <p:cNvSpPr/>
          <p:nvPr/>
        </p:nvSpPr>
        <p:spPr>
          <a:xfrm>
            <a:off x="3090600" y="242532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4" name="Oval 26"/>
          <p:cNvSpPr/>
          <p:nvPr/>
        </p:nvSpPr>
        <p:spPr>
          <a:xfrm>
            <a:off x="3557160" y="174636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5" name="TextBox 27"/>
          <p:cNvSpPr/>
          <p:nvPr/>
        </p:nvSpPr>
        <p:spPr>
          <a:xfrm>
            <a:off x="640080" y="32187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 шагов · разброс 2.00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6" name="Connector 28"/>
          <p:cNvCxnSpPr/>
          <p:nvPr/>
        </p:nvCxnSpPr>
        <p:spPr>
          <a:xfrm flipV="1">
            <a:off x="505620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27" name="Connector 29"/>
          <p:cNvCxnSpPr/>
          <p:nvPr/>
        </p:nvCxnSpPr>
        <p:spPr>
          <a:xfrm>
            <a:off x="498060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28" name="Connector 30"/>
          <p:cNvCxnSpPr/>
          <p:nvPr/>
        </p:nvCxnSpPr>
        <p:spPr>
          <a:xfrm>
            <a:off x="531252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29" name="Connector 31"/>
          <p:cNvCxnSpPr/>
          <p:nvPr/>
        </p:nvCxnSpPr>
        <p:spPr>
          <a:xfrm>
            <a:off x="549288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0" name="Connector 32"/>
          <p:cNvCxnSpPr/>
          <p:nvPr/>
        </p:nvCxnSpPr>
        <p:spPr>
          <a:xfrm flipV="1">
            <a:off x="550260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1" name="Connector 33"/>
          <p:cNvCxnSpPr/>
          <p:nvPr/>
        </p:nvCxnSpPr>
        <p:spPr>
          <a:xfrm>
            <a:off x="6126480" y="223092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2" name="Connector 34"/>
          <p:cNvCxnSpPr/>
          <p:nvPr/>
        </p:nvCxnSpPr>
        <p:spPr>
          <a:xfrm flipV="1">
            <a:off x="672732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3" name="Connector 35"/>
          <p:cNvCxnSpPr/>
          <p:nvPr/>
        </p:nvCxnSpPr>
        <p:spPr>
          <a:xfrm>
            <a:off x="673704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4" name="Connector 36"/>
          <p:cNvCxnSpPr/>
          <p:nvPr/>
        </p:nvCxnSpPr>
        <p:spPr>
          <a:xfrm>
            <a:off x="712296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5" name="Connector 37"/>
          <p:cNvCxnSpPr/>
          <p:nvPr/>
        </p:nvCxnSpPr>
        <p:spPr>
          <a:xfrm>
            <a:off x="733320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36" name="Connector 38"/>
          <p:cNvCxnSpPr/>
          <p:nvPr/>
        </p:nvCxnSpPr>
        <p:spPr>
          <a:xfrm flipV="1">
            <a:off x="725760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37" name="Oval 39"/>
          <p:cNvSpPr/>
          <p:nvPr/>
        </p:nvSpPr>
        <p:spPr>
          <a:xfrm>
            <a:off x="4608720" y="174636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8" name="Oval 40"/>
          <p:cNvSpPr/>
          <p:nvPr/>
        </p:nvSpPr>
        <p:spPr>
          <a:xfrm>
            <a:off x="5074920" y="149976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9" name="Oval 41"/>
          <p:cNvSpPr/>
          <p:nvPr/>
        </p:nvSpPr>
        <p:spPr>
          <a:xfrm>
            <a:off x="5074920" y="2425320"/>
            <a:ext cx="475200" cy="475200"/>
          </a:xfrm>
          <a:prstGeom prst="ellipse">
            <a:avLst/>
          </a:prstGeom>
          <a:solidFill>
            <a:srgbClr val="0e8f8f"/>
          </a:solidFill>
          <a:ln w="1524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0" name="Oval 42"/>
          <p:cNvSpPr/>
          <p:nvPr/>
        </p:nvSpPr>
        <p:spPr>
          <a:xfrm>
            <a:off x="5650920" y="1993320"/>
            <a:ext cx="475200" cy="475200"/>
          </a:xfrm>
          <a:prstGeom prst="ellipse">
            <a:avLst/>
          </a:prstGeom>
          <a:solidFill>
            <a:srgbClr val="86c7c7"/>
          </a:solidFill>
          <a:ln w="15240">
            <a:solidFill>
              <a:srgbClr val="86c7c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+0.50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1" name="Oval 43"/>
          <p:cNvSpPr/>
          <p:nvPr/>
        </p:nvSpPr>
        <p:spPr>
          <a:xfrm>
            <a:off x="6309360" y="1993320"/>
            <a:ext cx="475200" cy="475200"/>
          </a:xfrm>
          <a:prstGeom prst="ellipse">
            <a:avLst/>
          </a:prstGeom>
          <a:solidFill>
            <a:srgbClr val="f0bc9f"/>
          </a:solidFill>
          <a:ln w="15240">
            <a:solidFill>
              <a:srgbClr val="f0bc9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−0.50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Oval 44"/>
          <p:cNvSpPr/>
          <p:nvPr/>
        </p:nvSpPr>
        <p:spPr>
          <a:xfrm>
            <a:off x="6885360" y="149976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3" name="Oval 45"/>
          <p:cNvSpPr/>
          <p:nvPr/>
        </p:nvSpPr>
        <p:spPr>
          <a:xfrm>
            <a:off x="6885360" y="242532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Oval 46"/>
          <p:cNvSpPr/>
          <p:nvPr/>
        </p:nvSpPr>
        <p:spPr>
          <a:xfrm>
            <a:off x="7351920" y="1746360"/>
            <a:ext cx="475200" cy="475200"/>
          </a:xfrm>
          <a:prstGeom prst="ellipse">
            <a:avLst/>
          </a:prstGeom>
          <a:solidFill>
            <a:srgbClr val="e07a3f"/>
          </a:solidFill>
          <a:ln w="1524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−1.00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5" name="TextBox 47"/>
          <p:cNvSpPr/>
          <p:nvPr/>
        </p:nvSpPr>
        <p:spPr>
          <a:xfrm>
            <a:off x="4434840" y="32187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 шаг · разброс 2.00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46" name="Connector 48"/>
          <p:cNvCxnSpPr/>
          <p:nvPr/>
        </p:nvCxnSpPr>
        <p:spPr>
          <a:xfrm flipV="1">
            <a:off x="885096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7" name="Connector 49"/>
          <p:cNvCxnSpPr/>
          <p:nvPr/>
        </p:nvCxnSpPr>
        <p:spPr>
          <a:xfrm>
            <a:off x="877536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8" name="Connector 50"/>
          <p:cNvCxnSpPr/>
          <p:nvPr/>
        </p:nvCxnSpPr>
        <p:spPr>
          <a:xfrm>
            <a:off x="910728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49" name="Connector 51"/>
          <p:cNvCxnSpPr/>
          <p:nvPr/>
        </p:nvCxnSpPr>
        <p:spPr>
          <a:xfrm>
            <a:off x="928764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0" name="Connector 52"/>
          <p:cNvCxnSpPr/>
          <p:nvPr/>
        </p:nvCxnSpPr>
        <p:spPr>
          <a:xfrm flipV="1">
            <a:off x="929736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1" name="Connector 53"/>
          <p:cNvCxnSpPr/>
          <p:nvPr/>
        </p:nvCxnSpPr>
        <p:spPr>
          <a:xfrm>
            <a:off x="9921240" y="223092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2" name="Connector 54"/>
          <p:cNvCxnSpPr/>
          <p:nvPr/>
        </p:nvCxnSpPr>
        <p:spPr>
          <a:xfrm flipV="1">
            <a:off x="10522080" y="189180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3" name="Connector 55"/>
          <p:cNvCxnSpPr/>
          <p:nvPr/>
        </p:nvCxnSpPr>
        <p:spPr>
          <a:xfrm>
            <a:off x="10531800" y="237348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4" name="Connector 56"/>
          <p:cNvCxnSpPr/>
          <p:nvPr/>
        </p:nvCxnSpPr>
        <p:spPr>
          <a:xfrm>
            <a:off x="10917720" y="197496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5" name="Connector 57"/>
          <p:cNvCxnSpPr/>
          <p:nvPr/>
        </p:nvCxnSpPr>
        <p:spPr>
          <a:xfrm>
            <a:off x="11127960" y="184824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56" name="Connector 58"/>
          <p:cNvCxnSpPr/>
          <p:nvPr/>
        </p:nvCxnSpPr>
        <p:spPr>
          <a:xfrm flipV="1">
            <a:off x="11052360" y="218016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57" name="Oval 59"/>
          <p:cNvSpPr/>
          <p:nvPr/>
        </p:nvSpPr>
        <p:spPr>
          <a:xfrm>
            <a:off x="8403480" y="1746360"/>
            <a:ext cx="475200" cy="475200"/>
          </a:xfrm>
          <a:prstGeom prst="ellipse">
            <a:avLst/>
          </a:prstGeom>
          <a:solidFill>
            <a:srgbClr val="32a0a0"/>
          </a:solidFill>
          <a:ln w="15240">
            <a:solidFill>
              <a:srgbClr val="32a0a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+0.85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8" name="Oval 60"/>
          <p:cNvSpPr/>
          <p:nvPr/>
        </p:nvSpPr>
        <p:spPr>
          <a:xfrm>
            <a:off x="8869680" y="1499760"/>
            <a:ext cx="475200" cy="475200"/>
          </a:xfrm>
          <a:prstGeom prst="ellipse">
            <a:avLst/>
          </a:prstGeom>
          <a:solidFill>
            <a:srgbClr val="4dacac"/>
          </a:solidFill>
          <a:ln w="15240">
            <a:solidFill>
              <a:srgbClr val="4daca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+0.74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9" name="Oval 61"/>
          <p:cNvSpPr/>
          <p:nvPr/>
        </p:nvSpPr>
        <p:spPr>
          <a:xfrm>
            <a:off x="8869680" y="2425320"/>
            <a:ext cx="475200" cy="475200"/>
          </a:xfrm>
          <a:prstGeom prst="ellipse">
            <a:avLst/>
          </a:prstGeom>
          <a:solidFill>
            <a:srgbClr val="4dacac"/>
          </a:solidFill>
          <a:ln w="15240">
            <a:solidFill>
              <a:srgbClr val="4daca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+0.74</a:t>
            </a:r>
            <a:endParaRPr b="0" lang="ru-RU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0" name="Oval 62"/>
          <p:cNvSpPr/>
          <p:nvPr/>
        </p:nvSpPr>
        <p:spPr>
          <a:xfrm>
            <a:off x="9445680" y="1993320"/>
            <a:ext cx="475200" cy="475200"/>
          </a:xfrm>
          <a:prstGeom prst="ellipse">
            <a:avLst/>
          </a:prstGeom>
          <a:solidFill>
            <a:srgbClr val="9cd1d1"/>
          </a:solidFill>
          <a:ln w="15240">
            <a:solidFill>
              <a:srgbClr val="9cd1d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+0.41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1" name="Oval 63"/>
          <p:cNvSpPr/>
          <p:nvPr/>
        </p:nvSpPr>
        <p:spPr>
          <a:xfrm>
            <a:off x="10104120" y="1993320"/>
            <a:ext cx="475200" cy="475200"/>
          </a:xfrm>
          <a:prstGeom prst="ellipse">
            <a:avLst/>
          </a:prstGeom>
          <a:solidFill>
            <a:srgbClr val="f2c8b0"/>
          </a:solidFill>
          <a:ln w="15240">
            <a:solidFill>
              <a:srgbClr val="f2c8b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−0.41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2" name="Oval 64"/>
          <p:cNvSpPr/>
          <p:nvPr/>
        </p:nvSpPr>
        <p:spPr>
          <a:xfrm>
            <a:off x="10680120" y="1499760"/>
            <a:ext cx="475200" cy="475200"/>
          </a:xfrm>
          <a:prstGeom prst="ellipse">
            <a:avLst/>
          </a:prstGeom>
          <a:solidFill>
            <a:srgbClr val="e89d71"/>
          </a:solidFill>
          <a:ln w="15240">
            <a:solidFill>
              <a:srgbClr val="e89d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−0.74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Oval 65"/>
          <p:cNvSpPr/>
          <p:nvPr/>
        </p:nvSpPr>
        <p:spPr>
          <a:xfrm>
            <a:off x="10680120" y="2425320"/>
            <a:ext cx="475200" cy="475200"/>
          </a:xfrm>
          <a:prstGeom prst="ellipse">
            <a:avLst/>
          </a:prstGeom>
          <a:solidFill>
            <a:srgbClr val="e89d71"/>
          </a:solidFill>
          <a:ln w="15240">
            <a:solidFill>
              <a:srgbClr val="e89d7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−0.74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4" name="Oval 66"/>
          <p:cNvSpPr/>
          <p:nvPr/>
        </p:nvSpPr>
        <p:spPr>
          <a:xfrm>
            <a:off x="11146680" y="1746360"/>
            <a:ext cx="475200" cy="475200"/>
          </a:xfrm>
          <a:prstGeom prst="ellipse">
            <a:avLst/>
          </a:prstGeom>
          <a:solidFill>
            <a:srgbClr val="e58e5c"/>
          </a:solidFill>
          <a:ln w="15240">
            <a:solidFill>
              <a:srgbClr val="e58e5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−0.85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5" name="TextBox 67"/>
          <p:cNvSpPr/>
          <p:nvPr/>
        </p:nvSpPr>
        <p:spPr>
          <a:xfrm>
            <a:off x="8229600" y="32187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4 шага · разброс 1.70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66" name="Connector 68"/>
          <p:cNvCxnSpPr/>
          <p:nvPr/>
        </p:nvCxnSpPr>
        <p:spPr>
          <a:xfrm flipV="1">
            <a:off x="126144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67" name="Connector 69"/>
          <p:cNvCxnSpPr/>
          <p:nvPr/>
        </p:nvCxnSpPr>
        <p:spPr>
          <a:xfrm>
            <a:off x="118584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68" name="Connector 70"/>
          <p:cNvCxnSpPr/>
          <p:nvPr/>
        </p:nvCxnSpPr>
        <p:spPr>
          <a:xfrm>
            <a:off x="151776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69" name="Connector 71"/>
          <p:cNvCxnSpPr/>
          <p:nvPr/>
        </p:nvCxnSpPr>
        <p:spPr>
          <a:xfrm>
            <a:off x="169812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0" name="Connector 72"/>
          <p:cNvCxnSpPr/>
          <p:nvPr/>
        </p:nvCxnSpPr>
        <p:spPr>
          <a:xfrm flipV="1">
            <a:off x="170784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1" name="Connector 73"/>
          <p:cNvCxnSpPr/>
          <p:nvPr/>
        </p:nvCxnSpPr>
        <p:spPr>
          <a:xfrm>
            <a:off x="2331720" y="419688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2" name="Connector 74"/>
          <p:cNvCxnSpPr/>
          <p:nvPr/>
        </p:nvCxnSpPr>
        <p:spPr>
          <a:xfrm flipV="1">
            <a:off x="293256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3" name="Connector 75"/>
          <p:cNvCxnSpPr/>
          <p:nvPr/>
        </p:nvCxnSpPr>
        <p:spPr>
          <a:xfrm>
            <a:off x="294228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4" name="Connector 76"/>
          <p:cNvCxnSpPr/>
          <p:nvPr/>
        </p:nvCxnSpPr>
        <p:spPr>
          <a:xfrm>
            <a:off x="332820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5" name="Connector 77"/>
          <p:cNvCxnSpPr/>
          <p:nvPr/>
        </p:nvCxnSpPr>
        <p:spPr>
          <a:xfrm>
            <a:off x="353844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76" name="Connector 78"/>
          <p:cNvCxnSpPr/>
          <p:nvPr/>
        </p:nvCxnSpPr>
        <p:spPr>
          <a:xfrm flipV="1">
            <a:off x="346284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77" name="Oval 79"/>
          <p:cNvSpPr/>
          <p:nvPr/>
        </p:nvSpPr>
        <p:spPr>
          <a:xfrm>
            <a:off x="813960" y="3712320"/>
            <a:ext cx="475200" cy="475200"/>
          </a:xfrm>
          <a:prstGeom prst="ellipse">
            <a:avLst/>
          </a:prstGeom>
          <a:solidFill>
            <a:srgbClr val="b4dcdc"/>
          </a:solidFill>
          <a:ln w="15240">
            <a:solidFill>
              <a:srgbClr val="b4dcd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+0.31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Oval 80"/>
          <p:cNvSpPr/>
          <p:nvPr/>
        </p:nvSpPr>
        <p:spPr>
          <a:xfrm>
            <a:off x="1280160" y="3465720"/>
            <a:ext cx="475200" cy="475200"/>
          </a:xfrm>
          <a:prstGeom prst="ellipse">
            <a:avLst/>
          </a:prstGeom>
          <a:solidFill>
            <a:srgbClr val="bee1e1"/>
          </a:solidFill>
          <a:ln w="15240">
            <a:solidFill>
              <a:srgbClr val="be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+0.27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Oval 81"/>
          <p:cNvSpPr/>
          <p:nvPr/>
        </p:nvSpPr>
        <p:spPr>
          <a:xfrm>
            <a:off x="1280160" y="4391280"/>
            <a:ext cx="475200" cy="475200"/>
          </a:xfrm>
          <a:prstGeom prst="ellipse">
            <a:avLst/>
          </a:prstGeom>
          <a:solidFill>
            <a:srgbClr val="bee1e1"/>
          </a:solidFill>
          <a:ln w="15240">
            <a:solidFill>
              <a:srgbClr val="be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+0.27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Oval 82"/>
          <p:cNvSpPr/>
          <p:nvPr/>
        </p:nvSpPr>
        <p:spPr>
          <a:xfrm>
            <a:off x="1856160" y="3959280"/>
            <a:ext cx="475200" cy="475200"/>
          </a:xfrm>
          <a:prstGeom prst="ellipse">
            <a:avLst/>
          </a:prstGeom>
          <a:solidFill>
            <a:srgbClr val="dbeeee"/>
          </a:solidFill>
          <a:ln w="15240">
            <a:solidFill>
              <a:srgbClr val="dbeee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+0.15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Oval 83"/>
          <p:cNvSpPr/>
          <p:nvPr/>
        </p:nvSpPr>
        <p:spPr>
          <a:xfrm>
            <a:off x="2514600" y="3959280"/>
            <a:ext cx="475200" cy="475200"/>
          </a:xfrm>
          <a:prstGeom prst="ellipse">
            <a:avLst/>
          </a:prstGeom>
          <a:solidFill>
            <a:srgbClr val="faebe2"/>
          </a:solidFill>
          <a:ln w="15240">
            <a:solidFill>
              <a:srgbClr val="faebe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−0.15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Oval 84"/>
          <p:cNvSpPr/>
          <p:nvPr/>
        </p:nvSpPr>
        <p:spPr>
          <a:xfrm>
            <a:off x="3090600" y="3465720"/>
            <a:ext cx="475200" cy="475200"/>
          </a:xfrm>
          <a:prstGeom prst="ellipse">
            <a:avLst/>
          </a:prstGeom>
          <a:solidFill>
            <a:srgbClr val="f7dbcb"/>
          </a:solidFill>
          <a:ln w="15240">
            <a:solidFill>
              <a:srgbClr val="f7dbc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−0.27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Oval 85"/>
          <p:cNvSpPr/>
          <p:nvPr/>
        </p:nvSpPr>
        <p:spPr>
          <a:xfrm>
            <a:off x="3090600" y="4391280"/>
            <a:ext cx="475200" cy="475200"/>
          </a:xfrm>
          <a:prstGeom prst="ellipse">
            <a:avLst/>
          </a:prstGeom>
          <a:solidFill>
            <a:srgbClr val="f7dbcb"/>
          </a:solidFill>
          <a:ln w="15240">
            <a:solidFill>
              <a:srgbClr val="f7dbc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−0.27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Oval 86"/>
          <p:cNvSpPr/>
          <p:nvPr/>
        </p:nvSpPr>
        <p:spPr>
          <a:xfrm>
            <a:off x="3557160" y="3712320"/>
            <a:ext cx="475200" cy="475200"/>
          </a:xfrm>
          <a:prstGeom prst="ellipse">
            <a:avLst/>
          </a:prstGeom>
          <a:solidFill>
            <a:srgbClr val="f5d6c3"/>
          </a:solidFill>
          <a:ln w="15240">
            <a:solidFill>
              <a:srgbClr val="f5d6c3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−0.31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TextBox 87"/>
          <p:cNvSpPr/>
          <p:nvPr/>
        </p:nvSpPr>
        <p:spPr>
          <a:xfrm>
            <a:off x="640080" y="51847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16 шагов · разброс 0.62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86" name="Connector 88"/>
          <p:cNvCxnSpPr/>
          <p:nvPr/>
        </p:nvCxnSpPr>
        <p:spPr>
          <a:xfrm flipV="1">
            <a:off x="505620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7" name="Connector 89"/>
          <p:cNvCxnSpPr/>
          <p:nvPr/>
        </p:nvCxnSpPr>
        <p:spPr>
          <a:xfrm>
            <a:off x="498060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8" name="Connector 90"/>
          <p:cNvCxnSpPr/>
          <p:nvPr/>
        </p:nvCxnSpPr>
        <p:spPr>
          <a:xfrm>
            <a:off x="531252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89" name="Connector 91"/>
          <p:cNvCxnSpPr/>
          <p:nvPr/>
        </p:nvCxnSpPr>
        <p:spPr>
          <a:xfrm>
            <a:off x="549288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0" name="Connector 92"/>
          <p:cNvCxnSpPr/>
          <p:nvPr/>
        </p:nvCxnSpPr>
        <p:spPr>
          <a:xfrm flipV="1">
            <a:off x="550260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1" name="Connector 93"/>
          <p:cNvCxnSpPr/>
          <p:nvPr/>
        </p:nvCxnSpPr>
        <p:spPr>
          <a:xfrm>
            <a:off x="6126480" y="419688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2" name="Connector 94"/>
          <p:cNvCxnSpPr/>
          <p:nvPr/>
        </p:nvCxnSpPr>
        <p:spPr>
          <a:xfrm flipV="1">
            <a:off x="672732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3" name="Connector 95"/>
          <p:cNvCxnSpPr/>
          <p:nvPr/>
        </p:nvCxnSpPr>
        <p:spPr>
          <a:xfrm>
            <a:off x="673704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4" name="Connector 96"/>
          <p:cNvCxnSpPr/>
          <p:nvPr/>
        </p:nvCxnSpPr>
        <p:spPr>
          <a:xfrm>
            <a:off x="712296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5" name="Connector 97"/>
          <p:cNvCxnSpPr/>
          <p:nvPr/>
        </p:nvCxnSpPr>
        <p:spPr>
          <a:xfrm>
            <a:off x="733320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096" name="Connector 98"/>
          <p:cNvCxnSpPr/>
          <p:nvPr/>
        </p:nvCxnSpPr>
        <p:spPr>
          <a:xfrm flipV="1">
            <a:off x="725760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097" name="Oval 99"/>
          <p:cNvSpPr/>
          <p:nvPr/>
        </p:nvSpPr>
        <p:spPr>
          <a:xfrm>
            <a:off x="4608720" y="3712320"/>
            <a:ext cx="475200" cy="475200"/>
          </a:xfrm>
          <a:prstGeom prst="ellipse">
            <a:avLst/>
          </a:prstGeom>
          <a:solidFill>
            <a:srgbClr val="ecf6f6"/>
          </a:solidFill>
          <a:ln w="15240">
            <a:solidFill>
              <a:srgbClr val="ecf6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+0.08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Oval 100"/>
          <p:cNvSpPr/>
          <p:nvPr/>
        </p:nvSpPr>
        <p:spPr>
          <a:xfrm>
            <a:off x="5074920" y="3465720"/>
            <a:ext cx="475200" cy="475200"/>
          </a:xfrm>
          <a:prstGeom prst="ellipse">
            <a:avLst/>
          </a:prstGeom>
          <a:solidFill>
            <a:srgbClr val="eef7f7"/>
          </a:solidFill>
          <a:ln w="15240">
            <a:solidFill>
              <a:srgbClr val="eef7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+0.07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Oval 101"/>
          <p:cNvSpPr/>
          <p:nvPr/>
        </p:nvSpPr>
        <p:spPr>
          <a:xfrm>
            <a:off x="5074920" y="4391280"/>
            <a:ext cx="475200" cy="475200"/>
          </a:xfrm>
          <a:prstGeom prst="ellipse">
            <a:avLst/>
          </a:prstGeom>
          <a:solidFill>
            <a:srgbClr val="eef7f7"/>
          </a:solidFill>
          <a:ln w="15240">
            <a:solidFill>
              <a:srgbClr val="eef7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+0.07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Oval 102"/>
          <p:cNvSpPr/>
          <p:nvPr/>
        </p:nvSpPr>
        <p:spPr>
          <a:xfrm>
            <a:off x="5650920" y="3959280"/>
            <a:ext cx="475200" cy="475200"/>
          </a:xfrm>
          <a:prstGeom prst="ellipse">
            <a:avLst/>
          </a:prstGeom>
          <a:solidFill>
            <a:srgbClr val="f5fbfb"/>
          </a:solidFill>
          <a:ln w="15240">
            <a:solidFill>
              <a:srgbClr val="f5fbf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+0.04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Oval 103"/>
          <p:cNvSpPr/>
          <p:nvPr/>
        </p:nvSpPr>
        <p:spPr>
          <a:xfrm>
            <a:off x="6309360" y="3959280"/>
            <a:ext cx="475200" cy="475200"/>
          </a:xfrm>
          <a:prstGeom prst="ellipse">
            <a:avLst/>
          </a:prstGeom>
          <a:solidFill>
            <a:srgbClr val="fefaf7"/>
          </a:solidFill>
          <a:ln w="15240">
            <a:solidFill>
              <a:srgbClr val="fefaf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−0.04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Oval 104"/>
          <p:cNvSpPr/>
          <p:nvPr/>
        </p:nvSpPr>
        <p:spPr>
          <a:xfrm>
            <a:off x="6885360" y="3465720"/>
            <a:ext cx="475200" cy="475200"/>
          </a:xfrm>
          <a:prstGeom prst="ellipse">
            <a:avLst/>
          </a:prstGeom>
          <a:solidFill>
            <a:srgbClr val="fdf6f2"/>
          </a:solidFill>
          <a:ln w="15240">
            <a:solidFill>
              <a:srgbClr val="fdf6f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−0.07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Oval 105"/>
          <p:cNvSpPr/>
          <p:nvPr/>
        </p:nvSpPr>
        <p:spPr>
          <a:xfrm>
            <a:off x="6885360" y="4391280"/>
            <a:ext cx="475200" cy="475200"/>
          </a:xfrm>
          <a:prstGeom prst="ellipse">
            <a:avLst/>
          </a:prstGeom>
          <a:solidFill>
            <a:srgbClr val="fdf6f2"/>
          </a:solidFill>
          <a:ln w="15240">
            <a:solidFill>
              <a:srgbClr val="fdf6f2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−0.07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Oval 106"/>
          <p:cNvSpPr/>
          <p:nvPr/>
        </p:nvSpPr>
        <p:spPr>
          <a:xfrm>
            <a:off x="7351920" y="3712320"/>
            <a:ext cx="475200" cy="475200"/>
          </a:xfrm>
          <a:prstGeom prst="ellipse">
            <a:avLst/>
          </a:prstGeom>
          <a:solidFill>
            <a:srgbClr val="fdf4f0"/>
          </a:solidFill>
          <a:ln w="15240">
            <a:solidFill>
              <a:srgbClr val="fdf4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−0.08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TextBox 107"/>
          <p:cNvSpPr/>
          <p:nvPr/>
        </p:nvSpPr>
        <p:spPr>
          <a:xfrm>
            <a:off x="4434840" y="51847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32 шага · разброс 0.16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06" name="Connector 108"/>
          <p:cNvCxnSpPr/>
          <p:nvPr/>
        </p:nvCxnSpPr>
        <p:spPr>
          <a:xfrm flipV="1">
            <a:off x="885096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07" name="Connector 109"/>
          <p:cNvCxnSpPr/>
          <p:nvPr/>
        </p:nvCxnSpPr>
        <p:spPr>
          <a:xfrm>
            <a:off x="877536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08" name="Connector 110"/>
          <p:cNvCxnSpPr/>
          <p:nvPr/>
        </p:nvCxnSpPr>
        <p:spPr>
          <a:xfrm>
            <a:off x="910728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09" name="Connector 111"/>
          <p:cNvCxnSpPr/>
          <p:nvPr/>
        </p:nvCxnSpPr>
        <p:spPr>
          <a:xfrm>
            <a:off x="928764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0" name="Connector 112"/>
          <p:cNvCxnSpPr/>
          <p:nvPr/>
        </p:nvCxnSpPr>
        <p:spPr>
          <a:xfrm flipV="1">
            <a:off x="929736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1" name="Connector 113"/>
          <p:cNvCxnSpPr/>
          <p:nvPr/>
        </p:nvCxnSpPr>
        <p:spPr>
          <a:xfrm>
            <a:off x="9921240" y="4196880"/>
            <a:ext cx="183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2" name="Connector 114"/>
          <p:cNvCxnSpPr/>
          <p:nvPr/>
        </p:nvCxnSpPr>
        <p:spPr>
          <a:xfrm flipV="1">
            <a:off x="10522080" y="3857760"/>
            <a:ext cx="215640" cy="1846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3" name="Connector 115"/>
          <p:cNvCxnSpPr/>
          <p:nvPr/>
        </p:nvCxnSpPr>
        <p:spPr>
          <a:xfrm>
            <a:off x="10531800" y="4339440"/>
            <a:ext cx="196200" cy="1472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4" name="Connector 116"/>
          <p:cNvCxnSpPr/>
          <p:nvPr/>
        </p:nvCxnSpPr>
        <p:spPr>
          <a:xfrm>
            <a:off x="10917720" y="3940920"/>
            <a:ext cx="360" cy="45072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5" name="Connector 117"/>
          <p:cNvCxnSpPr/>
          <p:nvPr/>
        </p:nvCxnSpPr>
        <p:spPr>
          <a:xfrm>
            <a:off x="11127960" y="3814200"/>
            <a:ext cx="46440" cy="248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116" name="Connector 118"/>
          <p:cNvCxnSpPr/>
          <p:nvPr/>
        </p:nvCxnSpPr>
        <p:spPr>
          <a:xfrm flipV="1">
            <a:off x="11052360" y="4146120"/>
            <a:ext cx="197640" cy="28728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117" name="Oval 119"/>
          <p:cNvSpPr/>
          <p:nvPr/>
        </p:nvSpPr>
        <p:spPr>
          <a:xfrm>
            <a:off x="8403480" y="3712320"/>
            <a:ext cx="475200" cy="475200"/>
          </a:xfrm>
          <a:prstGeom prst="ellipse">
            <a:avLst/>
          </a:prstGeom>
          <a:solidFill>
            <a:srgbClr val="fdfefe"/>
          </a:solidFill>
          <a:ln w="15240">
            <a:solidFill>
              <a:srgbClr val="fdfef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+0.01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8" name="Oval 120"/>
          <p:cNvSpPr/>
          <p:nvPr/>
        </p:nvSpPr>
        <p:spPr>
          <a:xfrm>
            <a:off x="8869680" y="346572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9" name="Oval 121"/>
          <p:cNvSpPr/>
          <p:nvPr/>
        </p:nvSpPr>
        <p:spPr>
          <a:xfrm>
            <a:off x="8869680" y="439128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Oval 122"/>
          <p:cNvSpPr/>
          <p:nvPr/>
        </p:nvSpPr>
        <p:spPr>
          <a:xfrm>
            <a:off x="9445680" y="395928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1" name="Oval 123"/>
          <p:cNvSpPr/>
          <p:nvPr/>
        </p:nvSpPr>
        <p:spPr>
          <a:xfrm>
            <a:off x="10104120" y="395928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2" name="Oval 124"/>
          <p:cNvSpPr/>
          <p:nvPr/>
        </p:nvSpPr>
        <p:spPr>
          <a:xfrm>
            <a:off x="10680120" y="346572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Oval 125"/>
          <p:cNvSpPr/>
          <p:nvPr/>
        </p:nvSpPr>
        <p:spPr>
          <a:xfrm>
            <a:off x="10680120" y="4391280"/>
            <a:ext cx="475200" cy="4752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4" name="Oval 126"/>
          <p:cNvSpPr/>
          <p:nvPr/>
        </p:nvSpPr>
        <p:spPr>
          <a:xfrm>
            <a:off x="11146680" y="3712320"/>
            <a:ext cx="475200" cy="475200"/>
          </a:xfrm>
          <a:prstGeom prst="ellipse">
            <a:avLst/>
          </a:prstGeom>
          <a:solidFill>
            <a:srgbClr val="fffefd"/>
          </a:solidFill>
          <a:ln w="15240">
            <a:solidFill>
              <a:srgbClr val="fffef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−0.01</a:t>
            </a:r>
            <a:endParaRPr b="0" lang="ru-RU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5" name="TextBox 127"/>
          <p:cNvSpPr/>
          <p:nvPr/>
        </p:nvSpPr>
        <p:spPr>
          <a:xfrm>
            <a:off x="8229600" y="51847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64 шага · разброс 0.02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TextBox 128"/>
          <p:cNvSpPr/>
          <p:nvPr/>
        </p:nvSpPr>
        <p:spPr>
          <a:xfrm>
            <a:off x="640080" y="566928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Каждый шаг — среднее по соседям вместе с самой вершиной. Две группы стартуют с +1 и −1; через 64 шага все вершины почти одинаковые, и различать их нечем.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2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3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РЕЦЕПТЫ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с этим борются?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133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2727720"/>
                <a:gridCol w="4773600"/>
                <a:gridCol w="34095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Приём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Идея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4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Что даёт</a:t>
                      </a:r>
                      <a:endParaRPr b="0" lang="ru-RU" sz="14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Residual-связи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h' = h + f(h): слой добавляет, а не заменяет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глубина до 10+ слоёв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Jumping Knowledge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финальный вектор собирается из всех слоёв сразу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вершина сама выбирает радиус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PairNorm, нормализации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явно удерживают представления разнесёнными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смягчает, не лечит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Просто 2–3 слоя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не строить глубокую сеть без нужды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4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рабочий ответ в 90% случаев</a:t>
                      </a:r>
                      <a:endParaRPr b="0" lang="ru-R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42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36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37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3 · РЕЦЕПТЫ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Residual и Jumping Knowledge на схеме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9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0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41" name="TextBox 8"/>
          <p:cNvSpPr/>
          <p:nvPr/>
        </p:nvSpPr>
        <p:spPr>
          <a:xfrm>
            <a:off x="640080" y="16916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Residual-связь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2" name="Rounded Rectangle 9"/>
          <p:cNvSpPr/>
          <p:nvPr/>
        </p:nvSpPr>
        <p:spPr>
          <a:xfrm>
            <a:off x="822960" y="3017520"/>
            <a:ext cx="822600" cy="54828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3" name="Connector 10"/>
          <p:cNvCxnSpPr/>
          <p:nvPr/>
        </p:nvCxnSpPr>
        <p:spPr>
          <a:xfrm>
            <a:off x="1691640" y="3291840"/>
            <a:ext cx="457560" cy="36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44" name="Isosceles Triangle 11"/>
          <p:cNvSpPr/>
          <p:nvPr/>
        </p:nvSpPr>
        <p:spPr>
          <a:xfrm rot="5400000">
            <a:off x="2076120" y="3218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5" name="Rounded Rectangle 12"/>
          <p:cNvSpPr/>
          <p:nvPr/>
        </p:nvSpPr>
        <p:spPr>
          <a:xfrm>
            <a:off x="2240280" y="3017520"/>
            <a:ext cx="1371240" cy="54828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слой GNN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46" name="Connector 13"/>
          <p:cNvCxnSpPr/>
          <p:nvPr/>
        </p:nvCxnSpPr>
        <p:spPr>
          <a:xfrm>
            <a:off x="3657600" y="3291840"/>
            <a:ext cx="411840" cy="36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47" name="Isosceles Triangle 14"/>
          <p:cNvSpPr/>
          <p:nvPr/>
        </p:nvSpPr>
        <p:spPr>
          <a:xfrm rot="5400000">
            <a:off x="3996360" y="3218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8" name="Rounded Rectangle 15"/>
          <p:cNvSpPr/>
          <p:nvPr/>
        </p:nvSpPr>
        <p:spPr>
          <a:xfrm>
            <a:off x="4160520" y="3063240"/>
            <a:ext cx="456840" cy="456840"/>
          </a:xfrm>
          <a:prstGeom prst="roundRect">
            <a:avLst>
              <a:gd name="adj" fmla="val 15000"/>
            </a:avLst>
          </a:prstGeom>
          <a:solidFill>
            <a:srgbClr val="e07a3f"/>
          </a:solidFill>
          <a:ln w="127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+</a:t>
            </a:r>
            <a:endParaRPr b="0" lang="ru-RU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49" name="Connector 16"/>
          <p:cNvCxnSpPr/>
          <p:nvPr/>
        </p:nvCxnSpPr>
        <p:spPr>
          <a:xfrm>
            <a:off x="4663440" y="3291840"/>
            <a:ext cx="366120" cy="36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50" name="Isosceles Triangle 17"/>
          <p:cNvSpPr/>
          <p:nvPr/>
        </p:nvSpPr>
        <p:spPr>
          <a:xfrm rot="5400000">
            <a:off x="4956480" y="32187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1" name="Rounded Rectangle 18"/>
          <p:cNvSpPr/>
          <p:nvPr/>
        </p:nvSpPr>
        <p:spPr>
          <a:xfrm>
            <a:off x="5074920" y="3017520"/>
            <a:ext cx="685440" cy="54828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h′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52" name="Connector 19"/>
          <p:cNvCxnSpPr/>
          <p:nvPr/>
        </p:nvCxnSpPr>
        <p:spPr>
          <a:xfrm flipV="1">
            <a:off x="1234440" y="2468880"/>
            <a:ext cx="360" cy="549000"/>
          </a:xfrm>
          <a:prstGeom prst="straightConnector1">
            <a:avLst/>
          </a:prstGeom>
          <a:ln>
            <a:solidFill>
              <a:srgbClr val="e07a3f"/>
            </a:solidFill>
            <a:round/>
          </a:ln>
        </p:spPr>
      </p:cxnSp>
      <p:cxnSp>
        <p:nvCxnSpPr>
          <p:cNvPr id="1153" name="Connector 20"/>
          <p:cNvCxnSpPr/>
          <p:nvPr/>
        </p:nvCxnSpPr>
        <p:spPr>
          <a:xfrm>
            <a:off x="1234440" y="2468880"/>
            <a:ext cx="3155040" cy="360"/>
          </a:xfrm>
          <a:prstGeom prst="straightConnector1">
            <a:avLst/>
          </a:prstGeom>
          <a:ln>
            <a:solidFill>
              <a:srgbClr val="e07a3f"/>
            </a:solidFill>
            <a:round/>
          </a:ln>
        </p:spPr>
      </p:cxnSp>
      <p:cxnSp>
        <p:nvCxnSpPr>
          <p:cNvPr id="1154" name="Connector 21"/>
          <p:cNvCxnSpPr/>
          <p:nvPr/>
        </p:nvCxnSpPr>
        <p:spPr>
          <a:xfrm>
            <a:off x="4389120" y="2468880"/>
            <a:ext cx="360" cy="530640"/>
          </a:xfrm>
          <a:prstGeom prst="straightConnector1">
            <a:avLst/>
          </a:prstGeom>
          <a:ln>
            <a:solidFill>
              <a:srgbClr val="e07a3f"/>
            </a:solidFill>
            <a:round/>
          </a:ln>
        </p:spPr>
      </p:cxnSp>
      <p:sp>
        <p:nvSpPr>
          <p:cNvPr id="1155" name="Isosceles Triangle 22"/>
          <p:cNvSpPr/>
          <p:nvPr/>
        </p:nvSpPr>
        <p:spPr>
          <a:xfrm rot="10800000">
            <a:off x="4316400" y="29264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6" name="TextBox 23"/>
          <p:cNvSpPr/>
          <p:nvPr/>
        </p:nvSpPr>
        <p:spPr>
          <a:xfrm>
            <a:off x="1463040" y="2103120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h проходит в обход слоя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7" name="TextBox 24"/>
          <p:cNvSpPr/>
          <p:nvPr/>
        </p:nvSpPr>
        <p:spPr>
          <a:xfrm>
            <a:off x="640080" y="4023360"/>
            <a:ext cx="521172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h′ = h + f(h): слой добавляет поправку, а не переписывает вектор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Исходные признаки доживают до глубоких слоёв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8" name="TextBox 25"/>
          <p:cNvSpPr/>
          <p:nvPr/>
        </p:nvSpPr>
        <p:spPr>
          <a:xfrm>
            <a:off x="6400800" y="1691640"/>
            <a:ext cx="51202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Jumping Knowledge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Rounded Rectangle 26"/>
          <p:cNvSpPr/>
          <p:nvPr/>
        </p:nvSpPr>
        <p:spPr>
          <a:xfrm>
            <a:off x="6675120" y="2148840"/>
            <a:ext cx="1371240" cy="5025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слой 1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60" name="Connector 27"/>
          <p:cNvCxnSpPr/>
          <p:nvPr/>
        </p:nvCxnSpPr>
        <p:spPr>
          <a:xfrm>
            <a:off x="7360920" y="2660760"/>
            <a:ext cx="360" cy="1648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61" name="Isosceles Triangle 28"/>
          <p:cNvSpPr/>
          <p:nvPr/>
        </p:nvSpPr>
        <p:spPr>
          <a:xfrm rot="10800000">
            <a:off x="7288200" y="27529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62" name="Connector 29"/>
          <p:cNvCxnSpPr/>
          <p:nvPr/>
        </p:nvCxnSpPr>
        <p:spPr>
          <a:xfrm>
            <a:off x="8092440" y="2395440"/>
            <a:ext cx="795600" cy="23832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1163" name="Isosceles Triangle 30"/>
          <p:cNvSpPr/>
          <p:nvPr/>
        </p:nvSpPr>
        <p:spPr>
          <a:xfrm rot="6398400">
            <a:off x="8815320" y="25603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4" name="Rounded Rectangle 31"/>
          <p:cNvSpPr/>
          <p:nvPr/>
        </p:nvSpPr>
        <p:spPr>
          <a:xfrm>
            <a:off x="6675120" y="2834640"/>
            <a:ext cx="1371240" cy="5025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слой 2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65" name="Connector 32"/>
          <p:cNvCxnSpPr/>
          <p:nvPr/>
        </p:nvCxnSpPr>
        <p:spPr>
          <a:xfrm>
            <a:off x="7360920" y="3346560"/>
            <a:ext cx="360" cy="16488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66" name="Isosceles Triangle 33"/>
          <p:cNvSpPr/>
          <p:nvPr/>
        </p:nvSpPr>
        <p:spPr>
          <a:xfrm rot="10800000">
            <a:off x="7288200" y="343872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167" name="Connector 34"/>
          <p:cNvCxnSpPr/>
          <p:nvPr/>
        </p:nvCxnSpPr>
        <p:spPr>
          <a:xfrm flipV="1">
            <a:off x="8092440" y="2834640"/>
            <a:ext cx="795600" cy="24696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1168" name="Isosceles Triangle 35"/>
          <p:cNvSpPr/>
          <p:nvPr/>
        </p:nvSpPr>
        <p:spPr>
          <a:xfrm rot="4365600">
            <a:off x="8815320" y="276120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9" name="Rounded Rectangle 36"/>
          <p:cNvSpPr/>
          <p:nvPr/>
        </p:nvSpPr>
        <p:spPr>
          <a:xfrm>
            <a:off x="6675120" y="3520440"/>
            <a:ext cx="1371240" cy="50256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 w="127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5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слой 3</a:t>
            </a:r>
            <a:endParaRPr b="0" lang="ru-RU" sz="15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1170" name="Connector 37"/>
          <p:cNvCxnSpPr/>
          <p:nvPr/>
        </p:nvCxnSpPr>
        <p:spPr>
          <a:xfrm flipV="1">
            <a:off x="8092440" y="3035520"/>
            <a:ext cx="795600" cy="731880"/>
          </a:xfrm>
          <a:prstGeom prst="straightConnector1">
            <a:avLst/>
          </a:prstGeom>
          <a:ln w="22225">
            <a:solidFill>
              <a:srgbClr val="0e8f8f"/>
            </a:solidFill>
            <a:round/>
          </a:ln>
        </p:spPr>
      </p:cxnSp>
      <p:sp>
        <p:nvSpPr>
          <p:cNvPr id="1171" name="Isosceles Triangle 38"/>
          <p:cNvSpPr/>
          <p:nvPr/>
        </p:nvSpPr>
        <p:spPr>
          <a:xfrm rot="2844000">
            <a:off x="8814960" y="296244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0e8f8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2" name="Rounded Rectangle 39"/>
          <p:cNvSpPr/>
          <p:nvPr/>
        </p:nvSpPr>
        <p:spPr>
          <a:xfrm>
            <a:off x="8961120" y="2514600"/>
            <a:ext cx="1279800" cy="63972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склейка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или max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3" name="Connector 40"/>
          <p:cNvCxnSpPr/>
          <p:nvPr/>
        </p:nvCxnSpPr>
        <p:spPr>
          <a:xfrm>
            <a:off x="10287000" y="2834640"/>
            <a:ext cx="366120" cy="360"/>
          </a:xfrm>
          <a:prstGeom prst="straightConnector1">
            <a:avLst/>
          </a:prstGeom>
          <a:ln w="22225">
            <a:solidFill>
              <a:srgbClr val="6b7280"/>
            </a:solidFill>
            <a:round/>
          </a:ln>
        </p:spPr>
      </p:cxnSp>
      <p:sp>
        <p:nvSpPr>
          <p:cNvPr id="1174" name="Isosceles Triangle 41"/>
          <p:cNvSpPr/>
          <p:nvPr/>
        </p:nvSpPr>
        <p:spPr>
          <a:xfrm rot="5400000">
            <a:off x="10580040" y="2761560"/>
            <a:ext cx="145800" cy="145800"/>
          </a:xfrm>
          <a:prstGeom prst="triangle">
            <a:avLst>
              <a:gd name="adj" fmla="val 50000"/>
            </a:avLst>
          </a:prstGeom>
          <a:solidFill>
            <a:srgbClr val="6b728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5" name="Rounded Rectangle 42"/>
          <p:cNvSpPr/>
          <p:nvPr/>
        </p:nvSpPr>
        <p:spPr>
          <a:xfrm>
            <a:off x="10744200" y="2560320"/>
            <a:ext cx="731160" cy="548280"/>
          </a:xfrm>
          <a:prstGeom prst="roundRect">
            <a:avLst>
              <a:gd name="adj" fmla="val 15000"/>
            </a:avLst>
          </a:prstGeom>
          <a:solidFill>
            <a:srgbClr val="f4f6f9"/>
          </a:solidFill>
          <a:ln w="12700"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54720" rIns="5472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h_v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6" name="TextBox 43"/>
          <p:cNvSpPr/>
          <p:nvPr/>
        </p:nvSpPr>
        <p:spPr>
          <a:xfrm>
            <a:off x="6400800" y="4023360"/>
            <a:ext cx="512028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Итоговый вектор собирается из выходов всех слоёв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Вершина сама берёт нужный радиус: близкий или дальний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79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80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ПРОВЕРЬ СЕБЯ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Вопрос аудитории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3" name="TextBox 7"/>
          <p:cNvSpPr/>
          <p:nvPr/>
        </p:nvSpPr>
        <p:spPr>
          <a:xfrm>
            <a:off x="640080" y="1481400"/>
            <a:ext cx="10911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</a:pPr>
            <a:r>
              <a:rPr b="1" lang="en-US" sz="22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Ваша GCN на Cora даёт accuracy 0.93, у всех в статьях 0.81. Что проверить в первую очередь?</a:t>
            </a:r>
            <a:endParaRPr b="0" lang="ru-RU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Rounded Rectangle 8"/>
          <p:cNvSpPr/>
          <p:nvPr/>
        </p:nvSpPr>
        <p:spPr>
          <a:xfrm>
            <a:off x="640080" y="28987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5" name="TextBox 9"/>
          <p:cNvSpPr/>
          <p:nvPr/>
        </p:nvSpPr>
        <p:spPr>
          <a:xfrm>
            <a:off x="914400" y="30448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Ничего, у вас просто лучше подобраны гиперпараметры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Rounded Rectangle 10"/>
          <p:cNvSpPr/>
          <p:nvPr/>
        </p:nvSpPr>
        <p:spPr>
          <a:xfrm>
            <a:off x="640080" y="35845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7" name="TextBox 11"/>
          <p:cNvSpPr/>
          <p:nvPr/>
        </p:nvSpPr>
        <p:spPr>
          <a:xfrm>
            <a:off x="914400" y="37306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Сплит: в обучение, скорее всего, попало больше вершин, чем принято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Rounded Rectangle 12"/>
          <p:cNvSpPr/>
          <p:nvPr/>
        </p:nvSpPr>
        <p:spPr>
          <a:xfrm>
            <a:off x="640080" y="42703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9" name="TextBox 13"/>
          <p:cNvSpPr/>
          <p:nvPr/>
        </p:nvSpPr>
        <p:spPr>
          <a:xfrm>
            <a:off x="914400" y="44164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увеличить число слоёв, чтобы закрепить успех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Rounded Rectangle 14"/>
          <p:cNvSpPr/>
          <p:nvPr/>
        </p:nvSpPr>
        <p:spPr>
          <a:xfrm>
            <a:off x="640080" y="4956120"/>
            <a:ext cx="10911240" cy="5666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1" name="TextBox 15"/>
          <p:cNvSpPr/>
          <p:nvPr/>
        </p:nvSpPr>
        <p:spPr>
          <a:xfrm>
            <a:off x="914400" y="510228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Надо поменять оптимизатор на SGD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9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19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ОТВЕТ НА ВОПРОС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Разбор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8" name="TextBox 7"/>
          <p:cNvSpPr/>
          <p:nvPr/>
        </p:nvSpPr>
        <p:spPr>
          <a:xfrm>
            <a:off x="640080" y="1481400"/>
            <a:ext cx="10911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Ваша GCN на Cora даёт accuracy 0.93, у всех в статьях 0.81. Что проверить в первую очередь?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Rounded Rectangle 8"/>
          <p:cNvSpPr/>
          <p:nvPr/>
        </p:nvSpPr>
        <p:spPr>
          <a:xfrm>
            <a:off x="640080" y="2066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0" name="TextBox 9"/>
          <p:cNvSpPr/>
          <p:nvPr/>
        </p:nvSpPr>
        <p:spPr>
          <a:xfrm>
            <a:off x="914400" y="2176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A.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Ничего, у вас просто лучше подобраны гиперпараметры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Rounded Rectangle 10"/>
          <p:cNvSpPr/>
          <p:nvPr/>
        </p:nvSpPr>
        <p:spPr>
          <a:xfrm>
            <a:off x="640080" y="2633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cf0e6"/>
          </a:solidFill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2" name="TextBox 11"/>
          <p:cNvSpPr/>
          <p:nvPr/>
        </p:nvSpPr>
        <p:spPr>
          <a:xfrm>
            <a:off x="914400" y="2743200"/>
            <a:ext cx="82594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B.  </a:t>
            </a:r>
            <a:r>
              <a:rPr b="1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Сплит: в обучение, скорее всего, попало больше вершин, чем принято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TextBox 12"/>
          <p:cNvSpPr/>
          <p:nvPr/>
        </p:nvSpPr>
        <p:spPr>
          <a:xfrm>
            <a:off x="9174240" y="27615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✓ правильный ответ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Rounded Rectangle 13"/>
          <p:cNvSpPr/>
          <p:nvPr/>
        </p:nvSpPr>
        <p:spPr>
          <a:xfrm>
            <a:off x="640080" y="3200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5" name="TextBox 14"/>
          <p:cNvSpPr/>
          <p:nvPr/>
        </p:nvSpPr>
        <p:spPr>
          <a:xfrm>
            <a:off x="914400" y="3310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C.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 увеличить число слоёв, чтобы закрепить успех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Rounded Rectangle 15"/>
          <p:cNvSpPr/>
          <p:nvPr/>
        </p:nvSpPr>
        <p:spPr>
          <a:xfrm>
            <a:off x="640080" y="3767400"/>
            <a:ext cx="10911240" cy="456840"/>
          </a:xfrm>
          <a:prstGeom prst="roundRect">
            <a:avLst>
              <a:gd name="adj" fmla="val 18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7" name="TextBox 16"/>
          <p:cNvSpPr/>
          <p:nvPr/>
        </p:nvSpPr>
        <p:spPr>
          <a:xfrm>
            <a:off x="914400" y="3877200"/>
            <a:ext cx="10362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D.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Надо поменять оптимизатор на SGD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Rounded Rectangle 17"/>
          <p:cNvSpPr/>
          <p:nvPr/>
        </p:nvSpPr>
        <p:spPr>
          <a:xfrm>
            <a:off x="640080" y="4471560"/>
            <a:ext cx="10911240" cy="156312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9" name="TextBox 18"/>
          <p:cNvSpPr/>
          <p:nvPr/>
        </p:nvSpPr>
        <p:spPr>
          <a:xfrm>
            <a:off x="960120" y="4681800"/>
            <a:ext cx="10271160" cy="12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2000"/>
              </a:lnSpc>
            </a:pPr>
            <a:r>
              <a:rPr b="1" lang="en-US" sz="15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Почему: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Результат, который резко выбивается вверх, почти всегда объясняется сплитом, а не моделью. Мы только что видели: на щедром сплите даже MLP без графа даёт 0.752 вместо 0.574. Прежде чем радоваться, убедитесь, что сравниваете с чужими числами в одинаковых условиях: тот же сплит, то же число размеченных вершин, то же число прогонов. Именно это требование будет в домашних заданиях.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1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4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Практические детали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46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1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1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БАТЧИНГ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Как собрать батч из графов разного размера?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9" name="TextBox 7"/>
          <p:cNvSpPr/>
          <p:nvPr/>
        </p:nvSpPr>
        <p:spPr>
          <a:xfrm>
            <a:off x="640080" y="1481400"/>
            <a:ext cx="539460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Нужно, когда объект — целый граф: молекулы, белки. На Cora граф один, батч не нужен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Складываем графы в один большой с блочно-диагональной матрицей смежности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Между графами нет рёбер — сообщения не перетекают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Вектор batch хранит, какому графу принадлежит вершина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Пулинг по графу — scatter по этому вектору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2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 PyG это делает DataLoader, но понимать, что внутри, обязательно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0" name="Rounded Rectangle 8"/>
          <p:cNvSpPr/>
          <p:nvPr/>
        </p:nvSpPr>
        <p:spPr>
          <a:xfrm>
            <a:off x="6263640" y="2103120"/>
            <a:ext cx="5257440" cy="2595600"/>
          </a:xfrm>
          <a:prstGeom prst="roundRect">
            <a:avLst>
              <a:gd name="adj" fmla="val 4000"/>
            </a:avLst>
          </a:prstGeom>
          <a:solidFill>
            <a:srgbClr val="1b22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1" name="TextBox 9"/>
          <p:cNvSpPr/>
          <p:nvPr/>
        </p:nvSpPr>
        <p:spPr>
          <a:xfrm>
            <a:off x="6556320" y="2359080"/>
            <a:ext cx="4672080" cy="208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from torch_geometric.loader import DataLoader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loader = DataLoader(dataset, batch_size=32)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batch = next(iter(loader))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batch.x           # вершины всех графов подряд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batch.edge_index  # номера вершин сдвинуты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0" lang="en-US" sz="1300" strike="noStrike" u="none">
                <a:solidFill>
                  <a:srgbClr val="e8ecf2"/>
                </a:solidFill>
                <a:effectLst/>
                <a:uFillTx/>
                <a:latin typeface="Courier New"/>
              </a:rPr>
              <a:t>batch.batch       # номер графа вершины</a:t>
            </a:r>
            <a:endParaRPr b="0" lang="ru-RU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3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47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24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225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БАТЧИНГ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6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Батч на картинке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7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8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9" name="TextBox 8"/>
          <p:cNvSpPr/>
          <p:nvPr/>
        </p:nvSpPr>
        <p:spPr>
          <a:xfrm>
            <a:off x="640080" y="16916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граф 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0" name="Connector 9"/>
          <p:cNvCxnSpPr/>
          <p:nvPr/>
        </p:nvCxnSpPr>
        <p:spPr>
          <a:xfrm flipH="1">
            <a:off x="912240" y="2297520"/>
            <a:ext cx="370080" cy="617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31" name="Connector 10"/>
          <p:cNvCxnSpPr/>
          <p:nvPr/>
        </p:nvCxnSpPr>
        <p:spPr>
          <a:xfrm>
            <a:off x="1460880" y="2297520"/>
            <a:ext cx="370080" cy="61704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32" name="Connector 11"/>
          <p:cNvCxnSpPr/>
          <p:nvPr/>
        </p:nvCxnSpPr>
        <p:spPr>
          <a:xfrm>
            <a:off x="996480" y="3063240"/>
            <a:ext cx="750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33" name="Oval 12"/>
          <p:cNvSpPr/>
          <p:nvPr/>
        </p:nvSpPr>
        <p:spPr>
          <a:xfrm>
            <a:off x="1197720" y="1974960"/>
            <a:ext cx="347040" cy="347040"/>
          </a:xfrm>
          <a:prstGeom prst="ellipse">
            <a:avLst/>
          </a:prstGeom>
          <a:solidFill>
            <a:srgbClr val="4aabab"/>
          </a:solidFill>
          <a:ln w="15240">
            <a:solidFill>
              <a:srgbClr val="4aab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0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4" name="Oval 13"/>
          <p:cNvSpPr/>
          <p:nvPr/>
        </p:nvSpPr>
        <p:spPr>
          <a:xfrm>
            <a:off x="649080" y="2889360"/>
            <a:ext cx="347040" cy="347040"/>
          </a:xfrm>
          <a:prstGeom prst="ellipse">
            <a:avLst/>
          </a:prstGeom>
          <a:solidFill>
            <a:srgbClr val="4aabab"/>
          </a:solidFill>
          <a:ln w="15240">
            <a:solidFill>
              <a:srgbClr val="4aab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5" name="Oval 14"/>
          <p:cNvSpPr/>
          <p:nvPr/>
        </p:nvSpPr>
        <p:spPr>
          <a:xfrm>
            <a:off x="1746360" y="2889360"/>
            <a:ext cx="347040" cy="347040"/>
          </a:xfrm>
          <a:prstGeom prst="ellipse">
            <a:avLst/>
          </a:prstGeom>
          <a:solidFill>
            <a:srgbClr val="4aabab"/>
          </a:solidFill>
          <a:ln w="15240">
            <a:solidFill>
              <a:srgbClr val="4aaba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6" name="TextBox 15"/>
          <p:cNvSpPr/>
          <p:nvPr/>
        </p:nvSpPr>
        <p:spPr>
          <a:xfrm>
            <a:off x="2240280" y="16916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граф 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37" name="Connector 16"/>
          <p:cNvCxnSpPr/>
          <p:nvPr/>
        </p:nvCxnSpPr>
        <p:spPr>
          <a:xfrm>
            <a:off x="2596680" y="2148840"/>
            <a:ext cx="750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38" name="Connector 17"/>
          <p:cNvCxnSpPr/>
          <p:nvPr/>
        </p:nvCxnSpPr>
        <p:spPr>
          <a:xfrm>
            <a:off x="3520440" y="2322360"/>
            <a:ext cx="360" cy="567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39" name="Connector 18"/>
          <p:cNvCxnSpPr/>
          <p:nvPr/>
        </p:nvCxnSpPr>
        <p:spPr>
          <a:xfrm flipH="1">
            <a:off x="2596680" y="3063240"/>
            <a:ext cx="750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cxnSp>
        <p:nvCxnSpPr>
          <p:cNvPr id="1240" name="Connector 19"/>
          <p:cNvCxnSpPr/>
          <p:nvPr/>
        </p:nvCxnSpPr>
        <p:spPr>
          <a:xfrm>
            <a:off x="2423160" y="2322360"/>
            <a:ext cx="360" cy="567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41" name="Oval 20"/>
          <p:cNvSpPr/>
          <p:nvPr/>
        </p:nvSpPr>
        <p:spPr>
          <a:xfrm>
            <a:off x="2249280" y="1974960"/>
            <a:ext cx="347040" cy="347040"/>
          </a:xfrm>
          <a:prstGeom prst="ellipse">
            <a:avLst/>
          </a:prstGeom>
          <a:solidFill>
            <a:srgbClr val="e89b6f"/>
          </a:solidFill>
          <a:ln w="15240">
            <a:solidFill>
              <a:srgbClr val="e89b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2" name="Oval 21"/>
          <p:cNvSpPr/>
          <p:nvPr/>
        </p:nvSpPr>
        <p:spPr>
          <a:xfrm>
            <a:off x="3346560" y="1974960"/>
            <a:ext cx="347040" cy="347040"/>
          </a:xfrm>
          <a:prstGeom prst="ellipse">
            <a:avLst/>
          </a:prstGeom>
          <a:solidFill>
            <a:srgbClr val="e89b6f"/>
          </a:solidFill>
          <a:ln w="15240">
            <a:solidFill>
              <a:srgbClr val="e89b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3" name="Oval 22"/>
          <p:cNvSpPr/>
          <p:nvPr/>
        </p:nvSpPr>
        <p:spPr>
          <a:xfrm>
            <a:off x="3346560" y="2889360"/>
            <a:ext cx="347040" cy="347040"/>
          </a:xfrm>
          <a:prstGeom prst="ellipse">
            <a:avLst/>
          </a:prstGeom>
          <a:solidFill>
            <a:srgbClr val="e89b6f"/>
          </a:solidFill>
          <a:ln w="15240">
            <a:solidFill>
              <a:srgbClr val="e89b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4" name="Oval 23"/>
          <p:cNvSpPr/>
          <p:nvPr/>
        </p:nvSpPr>
        <p:spPr>
          <a:xfrm>
            <a:off x="2249280" y="2889360"/>
            <a:ext cx="347040" cy="347040"/>
          </a:xfrm>
          <a:prstGeom prst="ellipse">
            <a:avLst/>
          </a:prstGeom>
          <a:solidFill>
            <a:srgbClr val="e89b6f"/>
          </a:solidFill>
          <a:ln w="15240">
            <a:solidFill>
              <a:srgbClr val="e89b6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5" name="TextBox 24"/>
          <p:cNvSpPr/>
          <p:nvPr/>
        </p:nvSpPr>
        <p:spPr>
          <a:xfrm>
            <a:off x="3840480" y="1691640"/>
            <a:ext cx="1462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граф 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6" name="Connector 25"/>
          <p:cNvCxnSpPr/>
          <p:nvPr/>
        </p:nvCxnSpPr>
        <p:spPr>
          <a:xfrm>
            <a:off x="4196880" y="2606040"/>
            <a:ext cx="750240" cy="360"/>
          </a:xfrm>
          <a:prstGeom prst="straightConnector1">
            <a:avLst/>
          </a:prstGeom>
          <a:ln w="19050">
            <a:solidFill>
              <a:srgbClr val="b6c1d1"/>
            </a:solidFill>
            <a:round/>
          </a:ln>
        </p:spPr>
      </p:cxnSp>
      <p:sp>
        <p:nvSpPr>
          <p:cNvPr id="1247" name="Oval 26"/>
          <p:cNvSpPr/>
          <p:nvPr/>
        </p:nvSpPr>
        <p:spPr>
          <a:xfrm>
            <a:off x="3849480" y="2432160"/>
            <a:ext cx="347040" cy="347040"/>
          </a:xfrm>
          <a:prstGeom prst="ellipse">
            <a:avLst/>
          </a:prstGeom>
          <a:solidFill>
            <a:srgbClr val="576b87"/>
          </a:solidFill>
          <a:ln w="15240">
            <a:solidFill>
              <a:srgbClr val="576b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8" name="Oval 27"/>
          <p:cNvSpPr/>
          <p:nvPr/>
        </p:nvSpPr>
        <p:spPr>
          <a:xfrm>
            <a:off x="4946760" y="2432160"/>
            <a:ext cx="347040" cy="347040"/>
          </a:xfrm>
          <a:prstGeom prst="ellipse">
            <a:avLst/>
          </a:prstGeom>
          <a:solidFill>
            <a:srgbClr val="576b87"/>
          </a:solidFill>
          <a:ln w="15240">
            <a:solidFill>
              <a:srgbClr val="576b8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endParaRPr b="0" lang="ru-RU" sz="1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9" name="TextBox 28"/>
          <p:cNvSpPr/>
          <p:nvPr/>
        </p:nvSpPr>
        <p:spPr>
          <a:xfrm>
            <a:off x="640080" y="329184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матрица смежности батча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0" name="TextBox 29"/>
          <p:cNvSpPr/>
          <p:nvPr/>
        </p:nvSpPr>
        <p:spPr>
          <a:xfrm>
            <a:off x="868680" y="365760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0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1" name="Rectangle 30"/>
          <p:cNvSpPr/>
          <p:nvPr/>
        </p:nvSpPr>
        <p:spPr>
          <a:xfrm>
            <a:off x="118872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2" name="Rectangle 31"/>
          <p:cNvSpPr/>
          <p:nvPr/>
        </p:nvSpPr>
        <p:spPr>
          <a:xfrm>
            <a:off x="1463040" y="365760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3" name="Rectangle 32"/>
          <p:cNvSpPr/>
          <p:nvPr/>
        </p:nvSpPr>
        <p:spPr>
          <a:xfrm>
            <a:off x="1737360" y="365760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4" name="Rectangle 33"/>
          <p:cNvSpPr/>
          <p:nvPr/>
        </p:nvSpPr>
        <p:spPr>
          <a:xfrm>
            <a:off x="201168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5" name="Rectangle 34"/>
          <p:cNvSpPr/>
          <p:nvPr/>
        </p:nvSpPr>
        <p:spPr>
          <a:xfrm>
            <a:off x="228600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6" name="Rectangle 35"/>
          <p:cNvSpPr/>
          <p:nvPr/>
        </p:nvSpPr>
        <p:spPr>
          <a:xfrm>
            <a:off x="256032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7" name="Rectangle 36"/>
          <p:cNvSpPr/>
          <p:nvPr/>
        </p:nvSpPr>
        <p:spPr>
          <a:xfrm>
            <a:off x="283464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8" name="Rectangle 37"/>
          <p:cNvSpPr/>
          <p:nvPr/>
        </p:nvSpPr>
        <p:spPr>
          <a:xfrm>
            <a:off x="310896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9" name="Rectangle 38"/>
          <p:cNvSpPr/>
          <p:nvPr/>
        </p:nvSpPr>
        <p:spPr>
          <a:xfrm>
            <a:off x="3383280" y="36576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0" name="TextBox 39"/>
          <p:cNvSpPr/>
          <p:nvPr/>
        </p:nvSpPr>
        <p:spPr>
          <a:xfrm>
            <a:off x="868680" y="393192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1" name="Rectangle 40"/>
          <p:cNvSpPr/>
          <p:nvPr/>
        </p:nvSpPr>
        <p:spPr>
          <a:xfrm>
            <a:off x="1188720" y="393192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2" name="Rectangle 41"/>
          <p:cNvSpPr/>
          <p:nvPr/>
        </p:nvSpPr>
        <p:spPr>
          <a:xfrm>
            <a:off x="146304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3" name="Rectangle 42"/>
          <p:cNvSpPr/>
          <p:nvPr/>
        </p:nvSpPr>
        <p:spPr>
          <a:xfrm>
            <a:off x="1737360" y="393192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4" name="Rectangle 43"/>
          <p:cNvSpPr/>
          <p:nvPr/>
        </p:nvSpPr>
        <p:spPr>
          <a:xfrm>
            <a:off x="201168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5" name="Rectangle 44"/>
          <p:cNvSpPr/>
          <p:nvPr/>
        </p:nvSpPr>
        <p:spPr>
          <a:xfrm>
            <a:off x="228600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6" name="Rectangle 45"/>
          <p:cNvSpPr/>
          <p:nvPr/>
        </p:nvSpPr>
        <p:spPr>
          <a:xfrm>
            <a:off x="256032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7" name="Rectangle 46"/>
          <p:cNvSpPr/>
          <p:nvPr/>
        </p:nvSpPr>
        <p:spPr>
          <a:xfrm>
            <a:off x="283464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8" name="Rectangle 47"/>
          <p:cNvSpPr/>
          <p:nvPr/>
        </p:nvSpPr>
        <p:spPr>
          <a:xfrm>
            <a:off x="310896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9" name="Rectangle 48"/>
          <p:cNvSpPr/>
          <p:nvPr/>
        </p:nvSpPr>
        <p:spPr>
          <a:xfrm>
            <a:off x="3383280" y="39319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0" name="TextBox 49"/>
          <p:cNvSpPr/>
          <p:nvPr/>
        </p:nvSpPr>
        <p:spPr>
          <a:xfrm>
            <a:off x="868680" y="420624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1" name="Rectangle 50"/>
          <p:cNvSpPr/>
          <p:nvPr/>
        </p:nvSpPr>
        <p:spPr>
          <a:xfrm>
            <a:off x="1188720" y="420624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2" name="Rectangle 51"/>
          <p:cNvSpPr/>
          <p:nvPr/>
        </p:nvSpPr>
        <p:spPr>
          <a:xfrm>
            <a:off x="1463040" y="420624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3" name="Rectangle 52"/>
          <p:cNvSpPr/>
          <p:nvPr/>
        </p:nvSpPr>
        <p:spPr>
          <a:xfrm>
            <a:off x="173736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4" name="Rectangle 53"/>
          <p:cNvSpPr/>
          <p:nvPr/>
        </p:nvSpPr>
        <p:spPr>
          <a:xfrm>
            <a:off x="201168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5" name="Rectangle 54"/>
          <p:cNvSpPr/>
          <p:nvPr/>
        </p:nvSpPr>
        <p:spPr>
          <a:xfrm>
            <a:off x="228600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6" name="Rectangle 55"/>
          <p:cNvSpPr/>
          <p:nvPr/>
        </p:nvSpPr>
        <p:spPr>
          <a:xfrm>
            <a:off x="256032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7" name="Rectangle 56"/>
          <p:cNvSpPr/>
          <p:nvPr/>
        </p:nvSpPr>
        <p:spPr>
          <a:xfrm>
            <a:off x="283464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8" name="Rectangle 57"/>
          <p:cNvSpPr/>
          <p:nvPr/>
        </p:nvSpPr>
        <p:spPr>
          <a:xfrm>
            <a:off x="310896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9" name="Rectangle 58"/>
          <p:cNvSpPr/>
          <p:nvPr/>
        </p:nvSpPr>
        <p:spPr>
          <a:xfrm>
            <a:off x="3383280" y="42062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0" name="TextBox 59"/>
          <p:cNvSpPr/>
          <p:nvPr/>
        </p:nvSpPr>
        <p:spPr>
          <a:xfrm>
            <a:off x="868680" y="448056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1" name="Rectangle 60"/>
          <p:cNvSpPr/>
          <p:nvPr/>
        </p:nvSpPr>
        <p:spPr>
          <a:xfrm>
            <a:off x="118872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2" name="Rectangle 61"/>
          <p:cNvSpPr/>
          <p:nvPr/>
        </p:nvSpPr>
        <p:spPr>
          <a:xfrm>
            <a:off x="146304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3" name="Rectangle 62"/>
          <p:cNvSpPr/>
          <p:nvPr/>
        </p:nvSpPr>
        <p:spPr>
          <a:xfrm>
            <a:off x="173736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4" name="Rectangle 63"/>
          <p:cNvSpPr/>
          <p:nvPr/>
        </p:nvSpPr>
        <p:spPr>
          <a:xfrm>
            <a:off x="201168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5" name="Rectangle 64"/>
          <p:cNvSpPr/>
          <p:nvPr/>
        </p:nvSpPr>
        <p:spPr>
          <a:xfrm>
            <a:off x="2286000" y="448056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6" name="Rectangle 65"/>
          <p:cNvSpPr/>
          <p:nvPr/>
        </p:nvSpPr>
        <p:spPr>
          <a:xfrm>
            <a:off x="256032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7" name="Rectangle 66"/>
          <p:cNvSpPr/>
          <p:nvPr/>
        </p:nvSpPr>
        <p:spPr>
          <a:xfrm>
            <a:off x="2834640" y="448056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8" name="Rectangle 67"/>
          <p:cNvSpPr/>
          <p:nvPr/>
        </p:nvSpPr>
        <p:spPr>
          <a:xfrm>
            <a:off x="310896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9" name="Rectangle 68"/>
          <p:cNvSpPr/>
          <p:nvPr/>
        </p:nvSpPr>
        <p:spPr>
          <a:xfrm>
            <a:off x="3383280" y="44805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0" name="TextBox 69"/>
          <p:cNvSpPr/>
          <p:nvPr/>
        </p:nvSpPr>
        <p:spPr>
          <a:xfrm>
            <a:off x="868680" y="475488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Rectangle 70"/>
          <p:cNvSpPr/>
          <p:nvPr/>
        </p:nvSpPr>
        <p:spPr>
          <a:xfrm>
            <a:off x="118872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2" name="Rectangle 71"/>
          <p:cNvSpPr/>
          <p:nvPr/>
        </p:nvSpPr>
        <p:spPr>
          <a:xfrm>
            <a:off x="146304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3" name="Rectangle 72"/>
          <p:cNvSpPr/>
          <p:nvPr/>
        </p:nvSpPr>
        <p:spPr>
          <a:xfrm>
            <a:off x="173736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4" name="Rectangle 73"/>
          <p:cNvSpPr/>
          <p:nvPr/>
        </p:nvSpPr>
        <p:spPr>
          <a:xfrm>
            <a:off x="2011680" y="475488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5" name="Rectangle 74"/>
          <p:cNvSpPr/>
          <p:nvPr/>
        </p:nvSpPr>
        <p:spPr>
          <a:xfrm>
            <a:off x="228600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6" name="Rectangle 75"/>
          <p:cNvSpPr/>
          <p:nvPr/>
        </p:nvSpPr>
        <p:spPr>
          <a:xfrm>
            <a:off x="2560320" y="475488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7" name="Rectangle 76"/>
          <p:cNvSpPr/>
          <p:nvPr/>
        </p:nvSpPr>
        <p:spPr>
          <a:xfrm>
            <a:off x="283464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8" name="Rectangle 77"/>
          <p:cNvSpPr/>
          <p:nvPr/>
        </p:nvSpPr>
        <p:spPr>
          <a:xfrm>
            <a:off x="310896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9" name="Rectangle 78"/>
          <p:cNvSpPr/>
          <p:nvPr/>
        </p:nvSpPr>
        <p:spPr>
          <a:xfrm>
            <a:off x="3383280" y="475488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0" name="TextBox 79"/>
          <p:cNvSpPr/>
          <p:nvPr/>
        </p:nvSpPr>
        <p:spPr>
          <a:xfrm>
            <a:off x="868680" y="502920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Rectangle 80"/>
          <p:cNvSpPr/>
          <p:nvPr/>
        </p:nvSpPr>
        <p:spPr>
          <a:xfrm>
            <a:off x="118872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2" name="Rectangle 81"/>
          <p:cNvSpPr/>
          <p:nvPr/>
        </p:nvSpPr>
        <p:spPr>
          <a:xfrm>
            <a:off x="146304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3" name="Rectangle 82"/>
          <p:cNvSpPr/>
          <p:nvPr/>
        </p:nvSpPr>
        <p:spPr>
          <a:xfrm>
            <a:off x="173736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4" name="Rectangle 83"/>
          <p:cNvSpPr/>
          <p:nvPr/>
        </p:nvSpPr>
        <p:spPr>
          <a:xfrm>
            <a:off x="201168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5" name="Rectangle 84"/>
          <p:cNvSpPr/>
          <p:nvPr/>
        </p:nvSpPr>
        <p:spPr>
          <a:xfrm>
            <a:off x="2286000" y="502920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6" name="Rectangle 85"/>
          <p:cNvSpPr/>
          <p:nvPr/>
        </p:nvSpPr>
        <p:spPr>
          <a:xfrm>
            <a:off x="256032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7" name="Rectangle 86"/>
          <p:cNvSpPr/>
          <p:nvPr/>
        </p:nvSpPr>
        <p:spPr>
          <a:xfrm>
            <a:off x="2834640" y="502920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8" name="Rectangle 87"/>
          <p:cNvSpPr/>
          <p:nvPr/>
        </p:nvSpPr>
        <p:spPr>
          <a:xfrm>
            <a:off x="310896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9" name="Rectangle 88"/>
          <p:cNvSpPr/>
          <p:nvPr/>
        </p:nvSpPr>
        <p:spPr>
          <a:xfrm>
            <a:off x="3383280" y="502920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0" name="TextBox 89"/>
          <p:cNvSpPr/>
          <p:nvPr/>
        </p:nvSpPr>
        <p:spPr>
          <a:xfrm>
            <a:off x="868680" y="530352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Rectangle 90"/>
          <p:cNvSpPr/>
          <p:nvPr/>
        </p:nvSpPr>
        <p:spPr>
          <a:xfrm>
            <a:off x="118872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2" name="Rectangle 91"/>
          <p:cNvSpPr/>
          <p:nvPr/>
        </p:nvSpPr>
        <p:spPr>
          <a:xfrm>
            <a:off x="146304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3" name="Rectangle 92"/>
          <p:cNvSpPr/>
          <p:nvPr/>
        </p:nvSpPr>
        <p:spPr>
          <a:xfrm>
            <a:off x="173736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4" name="Rectangle 93"/>
          <p:cNvSpPr/>
          <p:nvPr/>
        </p:nvSpPr>
        <p:spPr>
          <a:xfrm>
            <a:off x="2011680" y="530352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5" name="Rectangle 94"/>
          <p:cNvSpPr/>
          <p:nvPr/>
        </p:nvSpPr>
        <p:spPr>
          <a:xfrm>
            <a:off x="228600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6" name="Rectangle 95"/>
          <p:cNvSpPr/>
          <p:nvPr/>
        </p:nvSpPr>
        <p:spPr>
          <a:xfrm>
            <a:off x="2560320" y="530352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7" name="Rectangle 96"/>
          <p:cNvSpPr/>
          <p:nvPr/>
        </p:nvSpPr>
        <p:spPr>
          <a:xfrm>
            <a:off x="283464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8" name="Rectangle 97"/>
          <p:cNvSpPr/>
          <p:nvPr/>
        </p:nvSpPr>
        <p:spPr>
          <a:xfrm>
            <a:off x="310896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9" name="Rectangle 98"/>
          <p:cNvSpPr/>
          <p:nvPr/>
        </p:nvSpPr>
        <p:spPr>
          <a:xfrm>
            <a:off x="3383280" y="530352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0" name="TextBox 99"/>
          <p:cNvSpPr/>
          <p:nvPr/>
        </p:nvSpPr>
        <p:spPr>
          <a:xfrm>
            <a:off x="868680" y="557784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Rectangle 100"/>
          <p:cNvSpPr/>
          <p:nvPr/>
        </p:nvSpPr>
        <p:spPr>
          <a:xfrm>
            <a:off x="118872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2" name="Rectangle 101"/>
          <p:cNvSpPr/>
          <p:nvPr/>
        </p:nvSpPr>
        <p:spPr>
          <a:xfrm>
            <a:off x="146304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3" name="Rectangle 102"/>
          <p:cNvSpPr/>
          <p:nvPr/>
        </p:nvSpPr>
        <p:spPr>
          <a:xfrm>
            <a:off x="173736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4" name="Rectangle 103"/>
          <p:cNvSpPr/>
          <p:nvPr/>
        </p:nvSpPr>
        <p:spPr>
          <a:xfrm>
            <a:off x="201168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5" name="Rectangle 104"/>
          <p:cNvSpPr/>
          <p:nvPr/>
        </p:nvSpPr>
        <p:spPr>
          <a:xfrm>
            <a:off x="228600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6" name="Rectangle 105"/>
          <p:cNvSpPr/>
          <p:nvPr/>
        </p:nvSpPr>
        <p:spPr>
          <a:xfrm>
            <a:off x="256032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7" name="Rectangle 106"/>
          <p:cNvSpPr/>
          <p:nvPr/>
        </p:nvSpPr>
        <p:spPr>
          <a:xfrm>
            <a:off x="283464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8" name="Rectangle 107"/>
          <p:cNvSpPr/>
          <p:nvPr/>
        </p:nvSpPr>
        <p:spPr>
          <a:xfrm>
            <a:off x="3108960" y="557784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9" name="Rectangle 108"/>
          <p:cNvSpPr/>
          <p:nvPr/>
        </p:nvSpPr>
        <p:spPr>
          <a:xfrm>
            <a:off x="3383280" y="557784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0" name="TextBox 109"/>
          <p:cNvSpPr/>
          <p:nvPr/>
        </p:nvSpPr>
        <p:spPr>
          <a:xfrm>
            <a:off x="868680" y="5852160"/>
            <a:ext cx="1915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8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1" name="Rectangle 110"/>
          <p:cNvSpPr/>
          <p:nvPr/>
        </p:nvSpPr>
        <p:spPr>
          <a:xfrm>
            <a:off x="118872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2" name="Rectangle 111"/>
          <p:cNvSpPr/>
          <p:nvPr/>
        </p:nvSpPr>
        <p:spPr>
          <a:xfrm>
            <a:off x="146304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3" name="Rectangle 112"/>
          <p:cNvSpPr/>
          <p:nvPr/>
        </p:nvSpPr>
        <p:spPr>
          <a:xfrm>
            <a:off x="173736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4" name="Rectangle 113"/>
          <p:cNvSpPr/>
          <p:nvPr/>
        </p:nvSpPr>
        <p:spPr>
          <a:xfrm>
            <a:off x="201168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5" name="Rectangle 114"/>
          <p:cNvSpPr/>
          <p:nvPr/>
        </p:nvSpPr>
        <p:spPr>
          <a:xfrm>
            <a:off x="228600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6" name="Rectangle 115"/>
          <p:cNvSpPr/>
          <p:nvPr/>
        </p:nvSpPr>
        <p:spPr>
          <a:xfrm>
            <a:off x="256032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7" name="Rectangle 116"/>
          <p:cNvSpPr/>
          <p:nvPr/>
        </p:nvSpPr>
        <p:spPr>
          <a:xfrm>
            <a:off x="283464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8" name="Rectangle 117"/>
          <p:cNvSpPr/>
          <p:nvPr/>
        </p:nvSpPr>
        <p:spPr>
          <a:xfrm>
            <a:off x="3108960" y="5852160"/>
            <a:ext cx="273960" cy="273960"/>
          </a:xfrm>
          <a:prstGeom prst="rect">
            <a:avLst/>
          </a:prstGeom>
          <a:solidFill>
            <a:srgbClr val="6ebcbc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9" name="Rectangle 118"/>
          <p:cNvSpPr/>
          <p:nvPr/>
        </p:nvSpPr>
        <p:spPr>
          <a:xfrm>
            <a:off x="3383280" y="5852160"/>
            <a:ext cx="273960" cy="273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0" name="Rectangle 119"/>
          <p:cNvSpPr/>
          <p:nvPr/>
        </p:nvSpPr>
        <p:spPr>
          <a:xfrm>
            <a:off x="1161360" y="3630240"/>
            <a:ext cx="877320" cy="877320"/>
          </a:xfrm>
          <a:prstGeom prst="rect">
            <a:avLst/>
          </a:prstGeom>
          <a:noFill/>
          <a:ln w="25400">
            <a:solidFill>
              <a:srgbClr val="0e8f8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1" name="Rectangle 120"/>
          <p:cNvSpPr/>
          <p:nvPr/>
        </p:nvSpPr>
        <p:spPr>
          <a:xfrm>
            <a:off x="1984320" y="4453200"/>
            <a:ext cx="1151640" cy="1151640"/>
          </a:xfrm>
          <a:prstGeom prst="rect">
            <a:avLst/>
          </a:prstGeom>
          <a:noFill/>
          <a:ln w="25400">
            <a:solidFill>
              <a:srgbClr val="e07a3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2" name="Rectangle 121"/>
          <p:cNvSpPr/>
          <p:nvPr/>
        </p:nvSpPr>
        <p:spPr>
          <a:xfrm>
            <a:off x="3081600" y="5550480"/>
            <a:ext cx="603000" cy="603000"/>
          </a:xfrm>
          <a:prstGeom prst="rect">
            <a:avLst/>
          </a:prstGeom>
          <a:noFill/>
          <a:ln w="25400">
            <a:solidFill>
              <a:srgbClr val="1f3a5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43" name="TextBox 122"/>
          <p:cNvSpPr/>
          <p:nvPr/>
        </p:nvSpPr>
        <p:spPr>
          <a:xfrm>
            <a:off x="5669280" y="1691640"/>
            <a:ext cx="5851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batch — номер графа у каждой вершины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4" name="TextBox 123"/>
          <p:cNvSpPr/>
          <p:nvPr/>
        </p:nvSpPr>
        <p:spPr>
          <a:xfrm>
            <a:off x="608076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0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5" name="TextBox 124"/>
          <p:cNvSpPr/>
          <p:nvPr/>
        </p:nvSpPr>
        <p:spPr>
          <a:xfrm>
            <a:off x="658368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1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6" name="TextBox 125"/>
          <p:cNvSpPr/>
          <p:nvPr/>
        </p:nvSpPr>
        <p:spPr>
          <a:xfrm>
            <a:off x="708660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7" name="TextBox 126"/>
          <p:cNvSpPr/>
          <p:nvPr/>
        </p:nvSpPr>
        <p:spPr>
          <a:xfrm>
            <a:off x="758952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3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8" name="TextBox 127"/>
          <p:cNvSpPr/>
          <p:nvPr/>
        </p:nvSpPr>
        <p:spPr>
          <a:xfrm>
            <a:off x="809244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9" name="TextBox 128"/>
          <p:cNvSpPr/>
          <p:nvPr/>
        </p:nvSpPr>
        <p:spPr>
          <a:xfrm>
            <a:off x="859536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0" name="TextBox 129"/>
          <p:cNvSpPr/>
          <p:nvPr/>
        </p:nvSpPr>
        <p:spPr>
          <a:xfrm>
            <a:off x="909828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6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1" name="TextBox 130"/>
          <p:cNvSpPr/>
          <p:nvPr/>
        </p:nvSpPr>
        <p:spPr>
          <a:xfrm>
            <a:off x="960120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7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2" name="TextBox 131"/>
          <p:cNvSpPr/>
          <p:nvPr/>
        </p:nvSpPr>
        <p:spPr>
          <a:xfrm>
            <a:off x="10104120" y="2103120"/>
            <a:ext cx="50256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2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8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3" name="Rectangle 132"/>
          <p:cNvSpPr/>
          <p:nvPr/>
        </p:nvSpPr>
        <p:spPr>
          <a:xfrm>
            <a:off x="6080760" y="2377440"/>
            <a:ext cx="502560" cy="38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4" name="Rectangle 133"/>
          <p:cNvSpPr/>
          <p:nvPr/>
        </p:nvSpPr>
        <p:spPr>
          <a:xfrm>
            <a:off x="6583680" y="2377440"/>
            <a:ext cx="502560" cy="38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5" name="Rectangle 134"/>
          <p:cNvSpPr/>
          <p:nvPr/>
        </p:nvSpPr>
        <p:spPr>
          <a:xfrm>
            <a:off x="7086600" y="2377440"/>
            <a:ext cx="502560" cy="3837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0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6" name="Rectangle 135"/>
          <p:cNvSpPr/>
          <p:nvPr/>
        </p:nvSpPr>
        <p:spPr>
          <a:xfrm>
            <a:off x="7589520" y="2377440"/>
            <a:ext cx="502560" cy="38376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7" name="Rectangle 136"/>
          <p:cNvSpPr/>
          <p:nvPr/>
        </p:nvSpPr>
        <p:spPr>
          <a:xfrm>
            <a:off x="8092440" y="2377440"/>
            <a:ext cx="502560" cy="38376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8" name="Rectangle 137"/>
          <p:cNvSpPr/>
          <p:nvPr/>
        </p:nvSpPr>
        <p:spPr>
          <a:xfrm>
            <a:off x="8595360" y="2377440"/>
            <a:ext cx="502560" cy="38376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9" name="Rectangle 138"/>
          <p:cNvSpPr/>
          <p:nvPr/>
        </p:nvSpPr>
        <p:spPr>
          <a:xfrm>
            <a:off x="9098280" y="2377440"/>
            <a:ext cx="502560" cy="383760"/>
          </a:xfrm>
          <a:prstGeom prst="rect">
            <a:avLst/>
          </a:prstGeom>
          <a:solidFill>
            <a:srgbClr val="c5e4e4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1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0" name="Rectangle 139"/>
          <p:cNvSpPr/>
          <p:nvPr/>
        </p:nvSpPr>
        <p:spPr>
          <a:xfrm>
            <a:off x="9601200" y="2377440"/>
            <a:ext cx="502560" cy="38376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1" name="Rectangle 140"/>
          <p:cNvSpPr/>
          <p:nvPr/>
        </p:nvSpPr>
        <p:spPr>
          <a:xfrm>
            <a:off x="10104120" y="2377440"/>
            <a:ext cx="502560" cy="383760"/>
          </a:xfrm>
          <a:prstGeom prst="rect">
            <a:avLst/>
          </a:prstGeom>
          <a:solidFill>
            <a:srgbClr val="8bc9c9"/>
          </a:solidFill>
          <a:ln w="19050">
            <a:solidFill>
              <a:srgbClr val="ffffff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2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2" name="TextBox 141"/>
          <p:cNvSpPr/>
          <p:nvPr/>
        </p:nvSpPr>
        <p:spPr>
          <a:xfrm>
            <a:off x="5669280" y="3200400"/>
            <a:ext cx="58518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Вне цветных блоков одни нули: рёбер между графами нет, сообщения не перетекают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Номера вершин второго графа сдвинуты на размер первого — отсюда «пересчитанные индексы»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901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Пулинг: складываем векторы вершин с одинаковым номером в batch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4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48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5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66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ЦЕНА ВОПРОСА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7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Сколько это считается?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8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369" name="Table 7"/>
          <p:cNvGraphicFramePr/>
          <p:nvPr/>
        </p:nvGraphicFramePr>
        <p:xfrm>
          <a:off x="640080" y="1664280"/>
          <a:ext cx="10911240" cy="2102760"/>
        </p:xfrm>
        <a:graphic>
          <a:graphicData uri="http://schemas.openxmlformats.org/drawingml/2006/table">
            <a:tbl>
              <a:tblPr/>
              <a:tblGrid>
                <a:gridCol w="4676040"/>
                <a:gridCol w="2857680"/>
                <a:gridCol w="337716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Модель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Accuracy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500" strike="noStrike" u="non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</a:rPr>
                        <a:t>Время обучения, с</a:t>
                      </a:r>
                      <a:endParaRPr b="0" lang="ru-RU" sz="15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f3a5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MLP (граф не используется)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0.574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GCN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0.807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1.5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GraphSAGE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0.8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3.4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GAT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0.756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trike="noStrike" u="none">
                          <a:solidFill>
                            <a:srgbClr val="1a1d26"/>
                          </a:solidFill>
                          <a:effectLst/>
                          <a:uFillTx/>
                          <a:latin typeface="Arial"/>
                        </a:rPr>
                        <a:t>2.0</a:t>
                      </a:r>
                      <a:endParaRPr b="0" lang="ru-RU" sz="15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370" name="TextBox 8"/>
          <p:cNvSpPr/>
          <p:nvPr/>
        </p:nvSpPr>
        <p:spPr>
          <a:xfrm>
            <a:off x="640080" y="4023360"/>
            <a:ext cx="1091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200 эпох на процессоре ноутбука, Cora целиком. Вся лекция помещается в те секунды, что вы ждёте ячейку в Colab — поэтому все эксперименты курса реально повторить.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49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7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74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ТИПИЧНЫЕ ГРАБЛИ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5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5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Пять ошибок, которые делают все при первой реализации</a:t>
            </a:r>
            <a:endParaRPr b="0" lang="ru-RU" sz="2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6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7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Забыть добавить петли: вершина теряет собственные признаки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Нормировать на степень без петель — числа не сойдутся с PyG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Применить dropout к выходному слою: модель начнёт «мигать» на инференсе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Считать метрику на train_mask и радоваться 0.99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Подобрать число эпох по тесту — классическая утечка через гиперпараметры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50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81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ПАУЗА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2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Первое решение на каждой практике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3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84" name="Picture 7" descr="meme_baseline_mlp.png"/>
          <p:cNvPicPr/>
          <p:nvPr/>
        </p:nvPicPr>
        <p:blipFill>
          <a:blip r:embed="rId1"/>
          <a:stretch/>
        </p:blipFill>
        <p:spPr>
          <a:xfrm>
            <a:off x="4796640" y="1481400"/>
            <a:ext cx="2597760" cy="3931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5" name="TextBox 8"/>
          <p:cNvSpPr/>
          <p:nvPr/>
        </p:nvSpPr>
        <p:spPr>
          <a:xfrm>
            <a:off x="640080" y="5596200"/>
            <a:ext cx="109112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20000"/>
              </a:lnSpc>
            </a:pPr>
            <a:r>
              <a:rPr b="0" i="1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Правильный ответ — левая кнопка. MLP обучается двадцать секунд и сразу говорит, стоит ли вообще браться за граф.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51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8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8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4 · ДИСЦИПЛИНА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Чеклист честного эксперимента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2" name="TextBox 7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Зафиксирован сплит, и он тот же, что у тех, с кем сравниваетесь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Прогоны по нескольким сидам, в отчёте среднее и разброс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Есть не-графовый baseline: MLP на тех же признаках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Гиперпараметры подобраны на валидации, а не на тесте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Время обучения и память измерены — иначе «выигрыш» может стоить десятикратного замедления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5000"/>
              </a:lnSpc>
              <a:spcAft>
                <a:spcPts val="1001"/>
              </a:spcAft>
            </a:pPr>
            <a:r>
              <a:rPr b="1" lang="en-US" sz="13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7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Этот список — то, по чему будут проверяться ваши домашние задания и проект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4" name="TextBox 2"/>
          <p:cNvSpPr/>
          <p:nvPr/>
        </p:nvSpPr>
        <p:spPr>
          <a:xfrm>
            <a:off x="1280160" y="2743200"/>
            <a:ext cx="96008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Блок 5</a:t>
            </a:r>
            <a:endParaRPr b="0" lang="ru-RU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5" name="TextBox 3"/>
          <p:cNvSpPr/>
          <p:nvPr/>
        </p:nvSpPr>
        <p:spPr>
          <a:xfrm>
            <a:off x="1280160" y="3840480"/>
            <a:ext cx="9143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600" strike="noStrike" u="none">
                <a:solidFill>
                  <a:srgbClr val="b9c6d8"/>
                </a:solidFill>
                <a:effectLst/>
                <a:uFillTx/>
                <a:latin typeface="Arial"/>
              </a:rPr>
              <a:t>Что дальше?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7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98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399" name="TextBox 4"/>
          <p:cNvSpPr/>
          <p:nvPr/>
        </p:nvSpPr>
        <p:spPr>
          <a:xfrm>
            <a:off x="640080" y="384120"/>
            <a:ext cx="10911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БЛОК 5 · ПРАКТИКА</a:t>
            </a:r>
            <a:endParaRPr b="0" lang="ru-RU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TextBox 5"/>
          <p:cNvSpPr/>
          <p:nvPr/>
        </p:nvSpPr>
        <p:spPr>
          <a:xfrm>
            <a:off x="640080" y="65844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Практика 3: что напишем?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Rectangle 6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2" name="Rounded Rectangle 7"/>
          <p:cNvSpPr/>
          <p:nvPr/>
        </p:nvSpPr>
        <p:spPr>
          <a:xfrm>
            <a:off x="6400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3" name="TextBox 8"/>
          <p:cNvSpPr/>
          <p:nvPr/>
        </p:nvSpPr>
        <p:spPr>
          <a:xfrm>
            <a:off x="9144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Своими руками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TextBox 9"/>
          <p:cNvSpPr/>
          <p:nvPr/>
        </p:nvSpPr>
        <p:spPr>
          <a:xfrm>
            <a:off x="9144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Слой GCN через scatter-операции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Сверка с GCNConv из PyG до пятого знака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e07a3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Обучающий цикл с ранней остановкой по валидации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Rounded Rectangle 10"/>
          <p:cNvSpPr/>
          <p:nvPr/>
        </p:nvSpPr>
        <p:spPr>
          <a:xfrm>
            <a:off x="6324480" y="1481400"/>
            <a:ext cx="5226840" cy="4663080"/>
          </a:xfrm>
          <a:prstGeom prst="roundRect">
            <a:avLst>
              <a:gd name="adj" fmla="val 4000"/>
            </a:avLst>
          </a:prstGeom>
          <a:solidFill>
            <a:srgbClr val="f4f6f9"/>
          </a:solidFill>
          <a:ln>
            <a:solidFill>
              <a:srgbClr val="d8dee7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6" name="TextBox 11"/>
          <p:cNvSpPr/>
          <p:nvPr/>
        </p:nvSpPr>
        <p:spPr>
          <a:xfrm>
            <a:off x="6598800" y="1737360"/>
            <a:ext cx="4678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Эксперименты</a:t>
            </a:r>
            <a:endParaRPr b="0" lang="ru-RU" sz="1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TextBox 12"/>
          <p:cNvSpPr/>
          <p:nvPr/>
        </p:nvSpPr>
        <p:spPr>
          <a:xfrm>
            <a:off x="6598800" y="2258640"/>
            <a:ext cx="4678200" cy="36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MLP против GCN на Cora: воспроизводим числа из лекции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Глубина 2 / 4 / 8 / 16 и замер over-smoothing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20000"/>
              </a:lnSpc>
              <a:spcAft>
                <a:spcPts val="799"/>
              </a:spcAft>
            </a:pPr>
            <a:r>
              <a:rPr b="1" lang="en-US" sz="11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0" lang="en-US" sz="15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Residual-связи: помогают ли они на практике?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54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10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11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Что забрать с собой?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3" name="Oval 6"/>
          <p:cNvSpPr/>
          <p:nvPr/>
        </p:nvSpPr>
        <p:spPr>
          <a:xfrm>
            <a:off x="640080" y="166428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4" name="TextBox 7"/>
          <p:cNvSpPr/>
          <p:nvPr/>
        </p:nvSpPr>
        <p:spPr>
          <a:xfrm>
            <a:off x="1417320" y="168264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GNN — это инвариантная к перестановкам агрегация соседей, повторённая k раз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Oval 8"/>
          <p:cNvSpPr/>
          <p:nvPr/>
        </p:nvSpPr>
        <p:spPr>
          <a:xfrm>
            <a:off x="640080" y="262440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6" name="TextBox 9"/>
          <p:cNvSpPr/>
          <p:nvPr/>
        </p:nvSpPr>
        <p:spPr>
          <a:xfrm>
            <a:off x="1417320" y="264276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GCN, GraphSAGE и GAT отличаются только тем, как считается вклад соседа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Oval 10"/>
          <p:cNvSpPr/>
          <p:nvPr/>
        </p:nvSpPr>
        <p:spPr>
          <a:xfrm>
            <a:off x="640080" y="358452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8" name="TextBox 11"/>
          <p:cNvSpPr/>
          <p:nvPr/>
        </p:nvSpPr>
        <p:spPr>
          <a:xfrm>
            <a:off x="1417320" y="360288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Глубже не значит лучше: 16 слоёв на Cora дают точность случайного угадывания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Oval 12"/>
          <p:cNvSpPr/>
          <p:nvPr/>
        </p:nvSpPr>
        <p:spPr>
          <a:xfrm>
            <a:off x="640080" y="4544640"/>
            <a:ext cx="456840" cy="456840"/>
          </a:xfrm>
          <a:prstGeom prst="ellipse">
            <a:avLst/>
          </a:prstGeom>
          <a:solidFill>
            <a:srgbClr val="1f3a5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b="0" lang="ru-RU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0" name="TextBox 13"/>
          <p:cNvSpPr/>
          <p:nvPr/>
        </p:nvSpPr>
        <p:spPr>
          <a:xfrm>
            <a:off x="1417320" y="4563000"/>
            <a:ext cx="9996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20000"/>
              </a:lnSpc>
            </a:pPr>
            <a:r>
              <a:rPr b="0" lang="en-US" sz="18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Без не-графового baseline и фиксированного сплита любые числа ничего не значат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TextBox 1"/>
          <p:cNvSpPr/>
          <p:nvPr/>
        </p:nvSpPr>
        <p:spPr>
          <a:xfrm>
            <a:off x="640080" y="6327720"/>
            <a:ext cx="7314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Графовые нейронные сети · Лекция 3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TextBox 2"/>
          <p:cNvSpPr/>
          <p:nvPr/>
        </p:nvSpPr>
        <p:spPr>
          <a:xfrm>
            <a:off x="10454400" y="6327720"/>
            <a:ext cx="10969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55</a:t>
            </a:r>
            <a:endParaRPr b="0" lang="ru-RU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423" name="Connector 3"/>
          <p:cNvCxnSpPr/>
          <p:nvPr/>
        </p:nvCxnSpPr>
        <p:spPr>
          <a:xfrm>
            <a:off x="640080" y="6263640"/>
            <a:ext cx="10911600" cy="360"/>
          </a:xfrm>
          <a:prstGeom prst="straightConnector1">
            <a:avLst/>
          </a:prstGeom>
          <a:ln w="9525">
            <a:solidFill>
              <a:srgbClr val="d8dee7"/>
            </a:solidFill>
            <a:round/>
          </a:ln>
        </p:spPr>
      </p:cxnSp>
      <p:sp>
        <p:nvSpPr>
          <p:cNvPr id="1424" name="TextBox 4"/>
          <p:cNvSpPr/>
          <p:nvPr/>
        </p:nvSpPr>
        <p:spPr>
          <a:xfrm>
            <a:off x="640080" y="384120"/>
            <a:ext cx="109112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5000"/>
              </a:lnSpc>
            </a:pPr>
            <a:r>
              <a:rPr b="1" lang="en-US" sz="2800" strike="noStrike" u="none">
                <a:solidFill>
                  <a:srgbClr val="1f3a5f"/>
                </a:solidFill>
                <a:effectLst/>
                <a:uFillTx/>
                <a:latin typeface="Arial"/>
              </a:rPr>
              <a:t>Литература</a:t>
            </a:r>
            <a:endParaRPr b="0" lang="ru-R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Rectangle 5"/>
          <p:cNvSpPr/>
          <p:nvPr/>
        </p:nvSpPr>
        <p:spPr>
          <a:xfrm>
            <a:off x="640080" y="1261800"/>
            <a:ext cx="1371240" cy="37800"/>
          </a:xfrm>
          <a:prstGeom prst="rect">
            <a:avLst/>
          </a:prstGeom>
          <a:solidFill>
            <a:srgbClr val="e07a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6840" bIns="-6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6" name="TextBox 6"/>
          <p:cNvSpPr/>
          <p:nvPr/>
        </p:nvSpPr>
        <p:spPr>
          <a:xfrm>
            <a:off x="640080" y="1481400"/>
            <a:ext cx="10911240" cy="46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Kipf &amp; Welling, 2017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Semi-Supervised Classification with Graph Convolutional Networks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Hamilton et al., 2017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Inductive Representation Learning on Large Graphs (GraphSAGE)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Veličković et al., 2018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Graph Attention Networks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Gilmer et al., 2017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Neural Message Passing for Quantum Chemistry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00"/>
              </a:spcAft>
            </a:pPr>
            <a:r>
              <a:rPr b="1" lang="en-US" sz="1300" strike="noStrike" u="none">
                <a:solidFill>
                  <a:srgbClr val="0e8f8f"/>
                </a:solidFill>
                <a:effectLst/>
                <a:uFillTx/>
                <a:latin typeface="Arial"/>
              </a:rPr>
              <a:t>■   </a:t>
            </a:r>
            <a:r>
              <a:rPr b="1" lang="en-US" sz="1600" strike="noStrike" u="none">
                <a:solidFill>
                  <a:srgbClr val="1a1d26"/>
                </a:solidFill>
                <a:effectLst/>
                <a:uFillTx/>
                <a:latin typeface="Arial"/>
              </a:rPr>
              <a:t>Shchur et al., 2018</a:t>
            </a:r>
            <a:r>
              <a:rPr b="0" lang="en-US" sz="1600" strike="noStrike" u="none">
                <a:solidFill>
                  <a:srgbClr val="6b7280"/>
                </a:solidFill>
                <a:effectLst/>
                <a:uFillTx/>
                <a:latin typeface="Arial"/>
              </a:rPr>
              <a:t>  — Pitfalls of Graph Neural Network Evaluation</a:t>
            </a:r>
            <a:endParaRPr b="0" lang="ru-RU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LibreOffice/25.8.3.2$MacOSX_AARCH64 LibreOffice_project/8ca8d55c161d602844f5428fa4b58097424e324e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