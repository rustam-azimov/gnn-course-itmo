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35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_rels/slide37.xml.rels" ContentType="application/vnd.openxmlformats-package.relationships+xml"/>
  <Override PartName="/ppt/slides/_rels/slide42.xml.rels" ContentType="application/vnd.openxmlformats-package.relationships+xml"/>
  <Override PartName="/ppt/slides/_rels/slide27.xml.rels" ContentType="application/vnd.openxmlformats-package.relationships+xml"/>
  <Override PartName="/ppt/slides/_rels/slide44.xml.rels" ContentType="application/vnd.openxmlformats-package.relationships+xml"/>
  <Override PartName="/ppt/slides/_rels/slide38.xml.rels" ContentType="application/vnd.openxmlformats-package.relationships+xml"/>
  <Override PartName="/ppt/slides/_rels/slide41.xml.rels" ContentType="application/vnd.openxmlformats-package.relationships+xml"/>
  <Override PartName="/ppt/slides/_rels/slide29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39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8.xml.rels" ContentType="application/vnd.openxmlformats-package.relationships+xml"/>
  <Override PartName="/ppt/slides/_rels/slide35.xml.rels" ContentType="application/vnd.openxmlformats-package.relationships+xml"/>
  <Override PartName="/ppt/slides/_rels/slide32.xml.rels" ContentType="application/vnd.openxmlformats-package.relationships+xml"/>
  <Override PartName="/ppt/slides/_rels/slide40.xml.rels" ContentType="application/vnd.openxmlformats-package.relationships+xml"/>
  <Override PartName="/ppt/slides/_rels/slide7.xml.rels" ContentType="application/vnd.openxmlformats-package.relationships+xml"/>
  <Override PartName="/ppt/slides/_rels/slide16.xml.rels" ContentType="application/vnd.openxmlformats-package.relationships+xml"/>
  <Override PartName="/ppt/slides/_rels/slide23.xml.rels" ContentType="application/vnd.openxmlformats-package.relationships+xml"/>
  <Override PartName="/ppt/slides/_rels/slide22.xml.rels" ContentType="application/vnd.openxmlformats-package.relationships+xml"/>
  <Override PartName="/ppt/slides/_rels/slide12.xml.rels" ContentType="application/vnd.openxmlformats-package.relationships+xml"/>
  <Override PartName="/ppt/slides/_rels/slide31.xml.rels" ContentType="application/vnd.openxmlformats-package.relationships+xml"/>
  <Override PartName="/ppt/slides/_rels/slide11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43.xml.rels" ContentType="application/vnd.openxmlformats-package.relationships+xml"/>
  <Override PartName="/ppt/slides/_rels/slide1.xml.rels" ContentType="application/vnd.openxmlformats-package.relationships+xml"/>
  <Override PartName="/ppt/slides/_rels/slide25.xml.rels" ContentType="application/vnd.openxmlformats-package.relationships+xml"/>
  <Override PartName="/ppt/slides/_rels/slide24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6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28.xml.rels" ContentType="application/vnd.openxmlformats-package.relationships+xml"/>
  <Override PartName="/ppt/slides/_rels/slide10.xml.rels" ContentType="application/vnd.openxmlformats-package.relationships+xml"/>
  <Override PartName="/ppt/slides/_rels/slide21.xml.rels" ContentType="application/vnd.openxmlformats-package.relationships+xml"/>
  <Override PartName="/ppt/slides/_rels/slide20.xml.rels" ContentType="application/vnd.openxmlformats-package.relationships+xml"/>
  <Override PartName="/ppt/slides/_rels/slide36.xml.rels" ContentType="application/vnd.openxmlformats-package.relationships+xml"/>
  <Override PartName="/ppt/slides/_rels/slide30.xml.rels" ContentType="application/vnd.openxmlformats-package.relationships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24.xml" ContentType="application/vnd.openxmlformats-officedocument.presentationml.slide+xml"/>
  <Override PartName="/ppt/slides/slide44.xml" ContentType="application/vnd.openxmlformats-officedocument.presentationml.slide+xml"/>
  <Override PartName="/ppt/slides/slide41.xml" ContentType="application/vnd.openxmlformats-officedocument.presentationml.slide+xml"/>
  <Override PartName="/ppt/slides/slide34.xml" ContentType="application/vnd.openxmlformats-officedocument.presentationml.slide+xml"/>
  <Override PartName="/ppt/slides/slide10.xml" ContentType="application/vnd.openxmlformats-officedocument.presentationml.slide+xml"/>
  <Override PartName="/ppt/slides/slide36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26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s/slide31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.xml.rels" ContentType="application/vnd.openxmlformats-package.relationships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1.png" ContentType="image/png"/>
  <Override PartName="/ppt/media/image4.png" ContentType="image/png"/>
  <Override PartName="/ppt/media/image2.png" ContentType="image/png"/>
  <Override PartName="/ppt/media/image3.png" ContentType="image/png"/>
  <Override PartName="/ppt/media/image5.png" ContentType="image/png"/>
  <Override PartName="/ppt/media/image6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05F9A05-9E1D-4512-B04F-6FB7121A5FD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3731EAA-E24D-46A8-9362-AF56B2D270E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71EFB8B-E4FB-4A84-BAEF-BE762CC04DC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3127B91-E3F1-4D1F-9961-0907E5C4589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7DE5AEB-2E0E-44F7-B112-3A13158BC3B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78BBF4-A2A5-4CDE-A146-DC55C03B34E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7ED4F7-FDF5-4728-97F1-101ECFE2C0F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2ED1F55-E301-4328-B700-603D489DE92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4DD4E25-D98A-495A-BCC0-B531B96CCEE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8403AC1-FE1D-4C9E-AE0D-7E834DEDB97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C4458F1-B0F3-440C-B422-BF946AD6A14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005840" y="205740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ЛЕКЦИЯ 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005840" y="2606040"/>
            <a:ext cx="100580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4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Эмбеддинги вершин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4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 предсказание связей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005840" y="411480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DeepWalk, node2vec и честный link prediction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" name="Connector 5"/>
          <p:cNvCxnSpPr/>
          <p:nvPr/>
        </p:nvCxnSpPr>
        <p:spPr>
          <a:xfrm>
            <a:off x="1005840" y="4892040"/>
            <a:ext cx="2743200" cy="360"/>
          </a:xfrm>
          <a:prstGeom prst="straightConnector1">
            <a:avLst/>
          </a:prstGeom>
          <a:ln w="12700">
            <a:solidFill>
              <a:srgbClr val="d8dee7"/>
            </a:solidFill>
            <a:round/>
          </a:ln>
        </p:spPr>
      </p:cxnSp>
      <p:sp>
        <p:nvSpPr>
          <p:cNvPr id="66" name="TextBox 6"/>
          <p:cNvSpPr/>
          <p:nvPr/>
        </p:nvSpPr>
        <p:spPr>
          <a:xfrm>
            <a:off x="1005840" y="507492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НАПОМИНАНИЕ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было в прошлый раз?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Разобрали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Задачи на уровне вершины, ребра и графа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Хранение графа: edge_index вместо матрицы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Классические признаки и WL-kernel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Упёрлись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Центральности на клубе карате дали accuracy 0.5 — ровно монетка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Помогли расстояния до лидеров: 0.938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Но признак пришлось угадать руками, и для другого графа он не подойдёт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ПАУЗА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Чем мы занимались в прошлый раз?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5" name="Picture 7" descr="meme_learned_features.png"/>
          <p:cNvPicPr/>
          <p:nvPr/>
        </p:nvPicPr>
        <p:blipFill>
          <a:blip r:embed="rId1"/>
          <a:stretch/>
        </p:blipFill>
        <p:spPr>
          <a:xfrm>
            <a:off x="4129920" y="1481400"/>
            <a:ext cx="3931560" cy="393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Box 8"/>
          <p:cNvSpPr/>
          <p:nvPr/>
        </p:nvSpPr>
        <p:spPr>
          <a:xfrm>
            <a:off x="640080" y="5596200"/>
            <a:ext cx="1091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2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Сегодня переходим ко второму варианту.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9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ПЛАН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План лекции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Что такое эмбеддинг вершины и зачем он нужен?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Случайные блуждания: DeepWalk и node2vec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Как это обучается? Skip-gram и negative sampling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Предсказание связей: сплиты, метрики и способы сравнить две вершины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Почему shallow-эмбеддингов не хватает и что будет дальше?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1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От придуманных признаков к выученным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0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ПОСТАНОВКА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такое эмбеддинг вершины?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640080" y="1481400"/>
            <a:ext cx="60346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Вектор в R^d, который описывает вершину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Мы его не придумываем, а обучаем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Требование одно: похожие вершины — близкие векторы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вектор идёт в любой обычный классификатор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Вопрос на миллион: что значит «похожие»?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Picture 8" descr="l02_embeddings.png"/>
          <p:cNvPicPr/>
          <p:nvPr/>
        </p:nvPicPr>
        <p:blipFill>
          <a:blip r:embed="rId1"/>
          <a:stretch/>
        </p:blipFill>
        <p:spPr>
          <a:xfrm>
            <a:off x="7132320" y="1737360"/>
            <a:ext cx="5024520" cy="356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Box 9"/>
          <p:cNvSpPr/>
          <p:nvPr/>
        </p:nvSpPr>
        <p:spPr>
          <a:xfrm>
            <a:off x="6949440" y="55321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Эмбеддинги клуба карате, обученные на случайных блужданиях и сжатые в 2D. Цвет — реальное деление клуба, модель о нём ничего не знала.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0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ФРЕЙМВОРК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Encoder и decoder: общая рамка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113" name="Connector 8"/>
          <p:cNvCxnSpPr/>
          <p:nvPr/>
        </p:nvCxnSpPr>
        <p:spPr>
          <a:xfrm flipH="1">
            <a:off x="1110600" y="2864160"/>
            <a:ext cx="136080" cy="215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14" name="Connector 9"/>
          <p:cNvCxnSpPr/>
          <p:nvPr/>
        </p:nvCxnSpPr>
        <p:spPr>
          <a:xfrm>
            <a:off x="1528560" y="2854800"/>
            <a:ext cx="170640" cy="2340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15" name="Connector 10"/>
          <p:cNvCxnSpPr/>
          <p:nvPr/>
        </p:nvCxnSpPr>
        <p:spPr>
          <a:xfrm flipH="1" flipV="1">
            <a:off x="1110600" y="3504240"/>
            <a:ext cx="136080" cy="215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16" name="Connector 11"/>
          <p:cNvCxnSpPr/>
          <p:nvPr/>
        </p:nvCxnSpPr>
        <p:spPr>
          <a:xfrm flipV="1">
            <a:off x="1528560" y="3494880"/>
            <a:ext cx="170640" cy="2340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17" name="Oval 12"/>
          <p:cNvSpPr/>
          <p:nvPr/>
        </p:nvSpPr>
        <p:spPr>
          <a:xfrm>
            <a:off x="1129320" y="2400480"/>
            <a:ext cx="502560" cy="5025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Oval 13"/>
          <p:cNvSpPr/>
          <p:nvPr/>
        </p:nvSpPr>
        <p:spPr>
          <a:xfrm>
            <a:off x="1129320" y="3680640"/>
            <a:ext cx="502560" cy="5025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Oval 14"/>
          <p:cNvSpPr/>
          <p:nvPr/>
        </p:nvSpPr>
        <p:spPr>
          <a:xfrm>
            <a:off x="725040" y="3040560"/>
            <a:ext cx="502560" cy="5025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Oval 15"/>
          <p:cNvSpPr/>
          <p:nvPr/>
        </p:nvSpPr>
        <p:spPr>
          <a:xfrm>
            <a:off x="1595520" y="3040560"/>
            <a:ext cx="502560" cy="5025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16"/>
          <p:cNvSpPr/>
          <p:nvPr/>
        </p:nvSpPr>
        <p:spPr>
          <a:xfrm>
            <a:off x="914400" y="475488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7"/>
          <p:cNvSpPr/>
          <p:nvPr/>
        </p:nvSpPr>
        <p:spPr>
          <a:xfrm>
            <a:off x="4297680" y="301752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ENC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18"/>
          <p:cNvSpPr/>
          <p:nvPr/>
        </p:nvSpPr>
        <p:spPr>
          <a:xfrm>
            <a:off x="4297680" y="329184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→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ounded Rectangle 19"/>
          <p:cNvSpPr/>
          <p:nvPr/>
        </p:nvSpPr>
        <p:spPr>
          <a:xfrm>
            <a:off x="5852160" y="2194560"/>
            <a:ext cx="5668920" cy="2339640"/>
          </a:xfrm>
          <a:prstGeom prst="roundRect">
            <a:avLst>
              <a:gd name="adj" fmla="val 4000"/>
            </a:avLst>
          </a:prstGeom>
          <a:solidFill>
            <a:srgbClr val="1b22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20"/>
          <p:cNvSpPr/>
          <p:nvPr/>
        </p:nvSpPr>
        <p:spPr>
          <a:xfrm>
            <a:off x="6144840" y="2450520"/>
            <a:ext cx="5083560" cy="18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z_u = ENC(u)        # вектор вершины u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z_v = ENC(v)        # вектор вершины v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score = DEC(z_u, z_v)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учим так, чтобы score был близок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к «похожести» u и v в графе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21"/>
          <p:cNvSpPr/>
          <p:nvPr/>
        </p:nvSpPr>
        <p:spPr>
          <a:xfrm>
            <a:off x="640080" y="525780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Shallow-эмбеддинги: ENC — это просто таблица, строка на вершину. Всё, что мы обучаем, — сама таблица.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3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ТАБЛИЦА Z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именно обучается в shallow-эмбеддинге?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134" name="Connector 8"/>
          <p:cNvCxnSpPr/>
          <p:nvPr/>
        </p:nvCxnSpPr>
        <p:spPr>
          <a:xfrm>
            <a:off x="886680" y="2955240"/>
            <a:ext cx="360" cy="947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35" name="Connector 9"/>
          <p:cNvCxnSpPr/>
          <p:nvPr/>
        </p:nvCxnSpPr>
        <p:spPr>
          <a:xfrm>
            <a:off x="1047240" y="2889360"/>
            <a:ext cx="370800" cy="3769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36" name="Connector 10"/>
          <p:cNvCxnSpPr/>
          <p:nvPr/>
        </p:nvCxnSpPr>
        <p:spPr>
          <a:xfrm flipV="1">
            <a:off x="1047240" y="3591720"/>
            <a:ext cx="370800" cy="3769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37" name="Connector 11"/>
          <p:cNvCxnSpPr/>
          <p:nvPr/>
        </p:nvCxnSpPr>
        <p:spPr>
          <a:xfrm flipV="1">
            <a:off x="2331000" y="2889360"/>
            <a:ext cx="370800" cy="3769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38" name="Connector 12"/>
          <p:cNvCxnSpPr/>
          <p:nvPr/>
        </p:nvCxnSpPr>
        <p:spPr>
          <a:xfrm>
            <a:off x="2331000" y="3591720"/>
            <a:ext cx="370800" cy="3769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39" name="Connector 13"/>
          <p:cNvCxnSpPr/>
          <p:nvPr/>
        </p:nvCxnSpPr>
        <p:spPr>
          <a:xfrm>
            <a:off x="2862000" y="2955240"/>
            <a:ext cx="360" cy="947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40" name="Connector 14"/>
          <p:cNvCxnSpPr/>
          <p:nvPr/>
        </p:nvCxnSpPr>
        <p:spPr>
          <a:xfrm>
            <a:off x="1806840" y="3429000"/>
            <a:ext cx="13536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41" name="Oval 15"/>
          <p:cNvSpPr/>
          <p:nvPr/>
        </p:nvSpPr>
        <p:spPr>
          <a:xfrm>
            <a:off x="658440" y="2498040"/>
            <a:ext cx="456840" cy="456840"/>
          </a:xfrm>
          <a:prstGeom prst="ellipse">
            <a:avLst/>
          </a:prstGeom>
          <a:solidFill>
            <a:srgbClr val="1f3a5f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Oval 16"/>
          <p:cNvSpPr/>
          <p:nvPr/>
        </p:nvSpPr>
        <p:spPr>
          <a:xfrm>
            <a:off x="658440" y="39027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Oval 17"/>
          <p:cNvSpPr/>
          <p:nvPr/>
        </p:nvSpPr>
        <p:spPr>
          <a:xfrm>
            <a:off x="1349640" y="32004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Oval 18"/>
          <p:cNvSpPr/>
          <p:nvPr/>
        </p:nvSpPr>
        <p:spPr>
          <a:xfrm>
            <a:off x="1942200" y="32004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Oval 19"/>
          <p:cNvSpPr/>
          <p:nvPr/>
        </p:nvSpPr>
        <p:spPr>
          <a:xfrm>
            <a:off x="2633400" y="24980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Oval 20"/>
          <p:cNvSpPr/>
          <p:nvPr/>
        </p:nvSpPr>
        <p:spPr>
          <a:xfrm>
            <a:off x="2633400" y="39027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21"/>
          <p:cNvSpPr/>
          <p:nvPr/>
        </p:nvSpPr>
        <p:spPr>
          <a:xfrm>
            <a:off x="640080" y="4846320"/>
            <a:ext cx="2468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граф: 6 вершин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22"/>
          <p:cNvSpPr/>
          <p:nvPr/>
        </p:nvSpPr>
        <p:spPr>
          <a:xfrm>
            <a:off x="3502080" y="169164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старт: случайные числа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23"/>
          <p:cNvSpPr/>
          <p:nvPr/>
        </p:nvSpPr>
        <p:spPr>
          <a:xfrm>
            <a:off x="3886200" y="2103120"/>
            <a:ext cx="5666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24"/>
          <p:cNvSpPr/>
          <p:nvPr/>
        </p:nvSpPr>
        <p:spPr>
          <a:xfrm>
            <a:off x="4453200" y="2103120"/>
            <a:ext cx="5666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25"/>
          <p:cNvSpPr/>
          <p:nvPr/>
        </p:nvSpPr>
        <p:spPr>
          <a:xfrm>
            <a:off x="5020200" y="2103120"/>
            <a:ext cx="5666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26"/>
          <p:cNvSpPr/>
          <p:nvPr/>
        </p:nvSpPr>
        <p:spPr>
          <a:xfrm>
            <a:off x="5586840" y="2103120"/>
            <a:ext cx="5666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27"/>
          <p:cNvSpPr/>
          <p:nvPr/>
        </p:nvSpPr>
        <p:spPr>
          <a:xfrm>
            <a:off x="3502080" y="2377440"/>
            <a:ext cx="255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28"/>
          <p:cNvSpPr/>
          <p:nvPr/>
        </p:nvSpPr>
        <p:spPr>
          <a:xfrm>
            <a:off x="3886200" y="2377440"/>
            <a:ext cx="566640" cy="402120"/>
          </a:xfrm>
          <a:prstGeom prst="rect">
            <a:avLst/>
          </a:prstGeom>
          <a:solidFill>
            <a:srgbClr val="f1f8f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ectangle 29"/>
          <p:cNvSpPr/>
          <p:nvPr/>
        </p:nvSpPr>
        <p:spPr>
          <a:xfrm>
            <a:off x="4453200" y="2377440"/>
            <a:ext cx="566640" cy="402120"/>
          </a:xfrm>
          <a:prstGeom prst="rect">
            <a:avLst/>
          </a:prstGeom>
          <a:solidFill>
            <a:srgbClr val="fdf7f3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ectangle 30"/>
          <p:cNvSpPr/>
          <p:nvPr/>
        </p:nvSpPr>
        <p:spPr>
          <a:xfrm>
            <a:off x="5020200" y="2377440"/>
            <a:ext cx="566640" cy="402120"/>
          </a:xfrm>
          <a:prstGeom prst="rect">
            <a:avLst/>
          </a:prstGeom>
          <a:solidFill>
            <a:srgbClr val="d4ebeb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31"/>
          <p:cNvSpPr/>
          <p:nvPr/>
        </p:nvSpPr>
        <p:spPr>
          <a:xfrm>
            <a:off x="5586840" y="2377440"/>
            <a:ext cx="566640" cy="402120"/>
          </a:xfrm>
          <a:prstGeom prst="rect">
            <a:avLst/>
          </a:prstGeom>
          <a:solidFill>
            <a:srgbClr val="f1f8f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32"/>
          <p:cNvSpPr/>
          <p:nvPr/>
        </p:nvSpPr>
        <p:spPr>
          <a:xfrm>
            <a:off x="3502080" y="2779920"/>
            <a:ext cx="255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ectangle 33"/>
          <p:cNvSpPr/>
          <p:nvPr/>
        </p:nvSpPr>
        <p:spPr>
          <a:xfrm>
            <a:off x="3886200" y="2779920"/>
            <a:ext cx="566640" cy="402120"/>
          </a:xfrm>
          <a:prstGeom prst="rect">
            <a:avLst/>
          </a:prstGeom>
          <a:solidFill>
            <a:srgbClr val="f9e7d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ectangle 34"/>
          <p:cNvSpPr/>
          <p:nvPr/>
        </p:nvSpPr>
        <p:spPr>
          <a:xfrm>
            <a:off x="4453200" y="2779920"/>
            <a:ext cx="566640" cy="40212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ectangle 35"/>
          <p:cNvSpPr/>
          <p:nvPr/>
        </p:nvSpPr>
        <p:spPr>
          <a:xfrm>
            <a:off x="5020200" y="2779920"/>
            <a:ext cx="566640" cy="402120"/>
          </a:xfrm>
          <a:prstGeom prst="rect">
            <a:avLst/>
          </a:prstGeom>
          <a:solidFill>
            <a:srgbClr val="9ad0d0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0.7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ectangle 36"/>
          <p:cNvSpPr/>
          <p:nvPr/>
        </p:nvSpPr>
        <p:spPr>
          <a:xfrm>
            <a:off x="5586840" y="2779920"/>
            <a:ext cx="566640" cy="40212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0.5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37"/>
          <p:cNvSpPr/>
          <p:nvPr/>
        </p:nvSpPr>
        <p:spPr>
          <a:xfrm>
            <a:off x="3502080" y="3182040"/>
            <a:ext cx="255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ectangle 38"/>
          <p:cNvSpPr/>
          <p:nvPr/>
        </p:nvSpPr>
        <p:spPr>
          <a:xfrm>
            <a:off x="3886200" y="3182040"/>
            <a:ext cx="566640" cy="402120"/>
          </a:xfrm>
          <a:prstGeom prst="rect">
            <a:avLst/>
          </a:prstGeom>
          <a:solidFill>
            <a:srgbClr val="f8dfd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−0.4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ectangle 39"/>
          <p:cNvSpPr/>
          <p:nvPr/>
        </p:nvSpPr>
        <p:spPr>
          <a:xfrm>
            <a:off x="4453200" y="3182040"/>
            <a:ext cx="566640" cy="402120"/>
          </a:xfrm>
          <a:prstGeom prst="rect">
            <a:avLst/>
          </a:prstGeom>
          <a:solidFill>
            <a:srgbClr val="f4cfba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−0.6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Rectangle 40"/>
          <p:cNvSpPr/>
          <p:nvPr/>
        </p:nvSpPr>
        <p:spPr>
          <a:xfrm>
            <a:off x="5020200" y="3182040"/>
            <a:ext cx="566640" cy="402120"/>
          </a:xfrm>
          <a:prstGeom prst="rect">
            <a:avLst/>
          </a:prstGeom>
          <a:solidFill>
            <a:srgbClr val="f9e7d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 41"/>
          <p:cNvSpPr/>
          <p:nvPr/>
        </p:nvSpPr>
        <p:spPr>
          <a:xfrm>
            <a:off x="5586840" y="3182040"/>
            <a:ext cx="566640" cy="40212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42"/>
          <p:cNvSpPr/>
          <p:nvPr/>
        </p:nvSpPr>
        <p:spPr>
          <a:xfrm>
            <a:off x="3502080" y="3584520"/>
            <a:ext cx="255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43"/>
          <p:cNvSpPr/>
          <p:nvPr/>
        </p:nvSpPr>
        <p:spPr>
          <a:xfrm>
            <a:off x="3886200" y="3584520"/>
            <a:ext cx="566640" cy="402120"/>
          </a:xfrm>
          <a:prstGeom prst="rect">
            <a:avLst/>
          </a:prstGeom>
          <a:solidFill>
            <a:srgbClr val="ecaf8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−1.2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44"/>
          <p:cNvSpPr/>
          <p:nvPr/>
        </p:nvSpPr>
        <p:spPr>
          <a:xfrm>
            <a:off x="4453200" y="3584520"/>
            <a:ext cx="566640" cy="402120"/>
          </a:xfrm>
          <a:prstGeom prst="rect">
            <a:avLst/>
          </a:prstGeom>
          <a:solidFill>
            <a:srgbClr val="fdf7f3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45"/>
          <p:cNvSpPr/>
          <p:nvPr/>
        </p:nvSpPr>
        <p:spPr>
          <a:xfrm>
            <a:off x="5020200" y="3584520"/>
            <a:ext cx="566640" cy="402120"/>
          </a:xfrm>
          <a:prstGeom prst="rect">
            <a:avLst/>
          </a:prstGeom>
          <a:solidFill>
            <a:srgbClr val="f4cfba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−0.6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ectangle 46"/>
          <p:cNvSpPr/>
          <p:nvPr/>
        </p:nvSpPr>
        <p:spPr>
          <a:xfrm>
            <a:off x="5586840" y="3584520"/>
            <a:ext cx="566640" cy="402120"/>
          </a:xfrm>
          <a:prstGeom prst="rect">
            <a:avLst/>
          </a:prstGeom>
          <a:solidFill>
            <a:srgbClr val="f8dfd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−0.4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47"/>
          <p:cNvSpPr/>
          <p:nvPr/>
        </p:nvSpPr>
        <p:spPr>
          <a:xfrm>
            <a:off x="3502080" y="3986640"/>
            <a:ext cx="255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ectangle 48"/>
          <p:cNvSpPr/>
          <p:nvPr/>
        </p:nvSpPr>
        <p:spPr>
          <a:xfrm>
            <a:off x="3886200" y="3986640"/>
            <a:ext cx="566640" cy="402120"/>
          </a:xfrm>
          <a:prstGeom prst="rect">
            <a:avLst/>
          </a:prstGeom>
          <a:solidFill>
            <a:srgbClr val="f9e7d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ectangle 49"/>
          <p:cNvSpPr/>
          <p:nvPr/>
        </p:nvSpPr>
        <p:spPr>
          <a:xfrm>
            <a:off x="4453200" y="3986640"/>
            <a:ext cx="566640" cy="402120"/>
          </a:xfrm>
          <a:prstGeom prst="rect">
            <a:avLst/>
          </a:prstGeom>
          <a:solidFill>
            <a:srgbClr val="fbefe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ectangle 50"/>
          <p:cNvSpPr/>
          <p:nvPr/>
        </p:nvSpPr>
        <p:spPr>
          <a:xfrm>
            <a:off x="5020200" y="3986640"/>
            <a:ext cx="566640" cy="40212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51"/>
          <p:cNvSpPr/>
          <p:nvPr/>
        </p:nvSpPr>
        <p:spPr>
          <a:xfrm>
            <a:off x="5586840" y="3986640"/>
            <a:ext cx="566640" cy="40212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0.5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52"/>
          <p:cNvSpPr/>
          <p:nvPr/>
        </p:nvSpPr>
        <p:spPr>
          <a:xfrm>
            <a:off x="3502080" y="4389120"/>
            <a:ext cx="255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53"/>
          <p:cNvSpPr/>
          <p:nvPr/>
        </p:nvSpPr>
        <p:spPr>
          <a:xfrm>
            <a:off x="3886200" y="4389120"/>
            <a:ext cx="566640" cy="402120"/>
          </a:xfrm>
          <a:prstGeom prst="rect">
            <a:avLst/>
          </a:prstGeom>
          <a:solidFill>
            <a:srgbClr val="fdf7f3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ectangle 54"/>
          <p:cNvSpPr/>
          <p:nvPr/>
        </p:nvSpPr>
        <p:spPr>
          <a:xfrm>
            <a:off x="4453200" y="4389120"/>
            <a:ext cx="566640" cy="402120"/>
          </a:xfrm>
          <a:prstGeom prst="rect">
            <a:avLst/>
          </a:prstGeom>
          <a:solidFill>
            <a:srgbClr val="9ad0d0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0.7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ectangle 55"/>
          <p:cNvSpPr/>
          <p:nvPr/>
        </p:nvSpPr>
        <p:spPr>
          <a:xfrm>
            <a:off x="5020200" y="4389120"/>
            <a:ext cx="566640" cy="402120"/>
          </a:xfrm>
          <a:prstGeom prst="rect">
            <a:avLst/>
          </a:prstGeom>
          <a:solidFill>
            <a:srgbClr val="f9e7d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ectangle 56"/>
          <p:cNvSpPr/>
          <p:nvPr/>
        </p:nvSpPr>
        <p:spPr>
          <a:xfrm>
            <a:off x="5586840" y="4389120"/>
            <a:ext cx="566640" cy="40212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57"/>
          <p:cNvSpPr/>
          <p:nvPr/>
        </p:nvSpPr>
        <p:spPr>
          <a:xfrm>
            <a:off x="3849480" y="2340720"/>
            <a:ext cx="2340360" cy="475200"/>
          </a:xfrm>
          <a:prstGeom prst="rect">
            <a:avLst/>
          </a:prstGeom>
          <a:noFill/>
          <a:ln w="3175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58"/>
          <p:cNvSpPr/>
          <p:nvPr/>
        </p:nvSpPr>
        <p:spPr>
          <a:xfrm>
            <a:off x="6263640" y="324612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обучение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59"/>
          <p:cNvSpPr/>
          <p:nvPr/>
        </p:nvSpPr>
        <p:spPr>
          <a:xfrm>
            <a:off x="6263640" y="352044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→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60"/>
          <p:cNvSpPr/>
          <p:nvPr/>
        </p:nvSpPr>
        <p:spPr>
          <a:xfrm>
            <a:off x="7571160" y="169164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после обучения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61"/>
          <p:cNvSpPr/>
          <p:nvPr/>
        </p:nvSpPr>
        <p:spPr>
          <a:xfrm>
            <a:off x="7955280" y="2103120"/>
            <a:ext cx="5666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62"/>
          <p:cNvSpPr/>
          <p:nvPr/>
        </p:nvSpPr>
        <p:spPr>
          <a:xfrm>
            <a:off x="8522280" y="2103120"/>
            <a:ext cx="5666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63"/>
          <p:cNvSpPr/>
          <p:nvPr/>
        </p:nvSpPr>
        <p:spPr>
          <a:xfrm>
            <a:off x="9089280" y="2103120"/>
            <a:ext cx="5666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64"/>
          <p:cNvSpPr/>
          <p:nvPr/>
        </p:nvSpPr>
        <p:spPr>
          <a:xfrm>
            <a:off x="9655920" y="2103120"/>
            <a:ext cx="5666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65"/>
          <p:cNvSpPr/>
          <p:nvPr/>
        </p:nvSpPr>
        <p:spPr>
          <a:xfrm>
            <a:off x="7571160" y="2377440"/>
            <a:ext cx="255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66"/>
          <p:cNvSpPr/>
          <p:nvPr/>
        </p:nvSpPr>
        <p:spPr>
          <a:xfrm>
            <a:off x="7955280" y="2377440"/>
            <a:ext cx="566640" cy="402120"/>
          </a:xfrm>
          <a:prstGeom prst="rect">
            <a:avLst/>
          </a:prstGeom>
          <a:solidFill>
            <a:srgbClr val="f8dfd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−0.4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67"/>
          <p:cNvSpPr/>
          <p:nvPr/>
        </p:nvSpPr>
        <p:spPr>
          <a:xfrm>
            <a:off x="8522280" y="2377440"/>
            <a:ext cx="566640" cy="402120"/>
          </a:xfrm>
          <a:prstGeom prst="rect">
            <a:avLst/>
          </a:prstGeom>
          <a:solidFill>
            <a:srgbClr val="f6d7c5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−0.5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Rectangle 68"/>
          <p:cNvSpPr/>
          <p:nvPr/>
        </p:nvSpPr>
        <p:spPr>
          <a:xfrm>
            <a:off x="9089280" y="2377440"/>
            <a:ext cx="566640" cy="40212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0.5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Rectangle 69"/>
          <p:cNvSpPr/>
          <p:nvPr/>
        </p:nvSpPr>
        <p:spPr>
          <a:xfrm>
            <a:off x="9655920" y="2377440"/>
            <a:ext cx="566640" cy="40212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70"/>
          <p:cNvSpPr/>
          <p:nvPr/>
        </p:nvSpPr>
        <p:spPr>
          <a:xfrm>
            <a:off x="7571160" y="2779920"/>
            <a:ext cx="255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71"/>
          <p:cNvSpPr/>
          <p:nvPr/>
        </p:nvSpPr>
        <p:spPr>
          <a:xfrm>
            <a:off x="7955280" y="2779920"/>
            <a:ext cx="566640" cy="402120"/>
          </a:xfrm>
          <a:prstGeom prst="rect">
            <a:avLst/>
          </a:prstGeom>
          <a:solidFill>
            <a:srgbClr val="f8dfd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−0.4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Rectangle 72"/>
          <p:cNvSpPr/>
          <p:nvPr/>
        </p:nvSpPr>
        <p:spPr>
          <a:xfrm>
            <a:off x="8522280" y="2779920"/>
            <a:ext cx="566640" cy="402120"/>
          </a:xfrm>
          <a:prstGeom prst="rect">
            <a:avLst/>
          </a:prstGeom>
          <a:solidFill>
            <a:srgbClr val="f6d7c5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−0.5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Rectangle 73"/>
          <p:cNvSpPr/>
          <p:nvPr/>
        </p:nvSpPr>
        <p:spPr>
          <a:xfrm>
            <a:off x="9089280" y="2779920"/>
            <a:ext cx="566640" cy="40212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0.5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74"/>
          <p:cNvSpPr/>
          <p:nvPr/>
        </p:nvSpPr>
        <p:spPr>
          <a:xfrm>
            <a:off x="9655920" y="2779920"/>
            <a:ext cx="566640" cy="40212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75"/>
          <p:cNvSpPr/>
          <p:nvPr/>
        </p:nvSpPr>
        <p:spPr>
          <a:xfrm>
            <a:off x="7571160" y="3182040"/>
            <a:ext cx="255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Rectangle 76"/>
          <p:cNvSpPr/>
          <p:nvPr/>
        </p:nvSpPr>
        <p:spPr>
          <a:xfrm>
            <a:off x="7955280" y="3182040"/>
            <a:ext cx="566640" cy="402120"/>
          </a:xfrm>
          <a:prstGeom prst="rect">
            <a:avLst/>
          </a:prstGeom>
          <a:solidFill>
            <a:srgbClr val="f2c7ae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−0.7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ectangle 77"/>
          <p:cNvSpPr/>
          <p:nvPr/>
        </p:nvSpPr>
        <p:spPr>
          <a:xfrm>
            <a:off x="8522280" y="3182040"/>
            <a:ext cx="566640" cy="402120"/>
          </a:xfrm>
          <a:prstGeom prst="rect">
            <a:avLst/>
          </a:prstGeom>
          <a:solidFill>
            <a:srgbClr val="f8dfd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−0.4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Rectangle 78"/>
          <p:cNvSpPr/>
          <p:nvPr/>
        </p:nvSpPr>
        <p:spPr>
          <a:xfrm>
            <a:off x="9089280" y="3182040"/>
            <a:ext cx="566640" cy="402120"/>
          </a:xfrm>
          <a:prstGeom prst="rect">
            <a:avLst/>
          </a:prstGeom>
          <a:solidFill>
            <a:srgbClr val="d4ebeb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79"/>
          <p:cNvSpPr/>
          <p:nvPr/>
        </p:nvSpPr>
        <p:spPr>
          <a:xfrm>
            <a:off x="9655920" y="3182040"/>
            <a:ext cx="566640" cy="402120"/>
          </a:xfrm>
          <a:prstGeom prst="rect">
            <a:avLst/>
          </a:prstGeom>
          <a:solidFill>
            <a:srgbClr val="d4ebeb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80"/>
          <p:cNvSpPr/>
          <p:nvPr/>
        </p:nvSpPr>
        <p:spPr>
          <a:xfrm>
            <a:off x="7571160" y="3584520"/>
            <a:ext cx="255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ectangle 81"/>
          <p:cNvSpPr/>
          <p:nvPr/>
        </p:nvSpPr>
        <p:spPr>
          <a:xfrm>
            <a:off x="7955280" y="3584520"/>
            <a:ext cx="566640" cy="402120"/>
          </a:xfrm>
          <a:prstGeom prst="rect">
            <a:avLst/>
          </a:prstGeom>
          <a:solidFill>
            <a:srgbClr val="f0bfa3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−0.8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Rectangle 82"/>
          <p:cNvSpPr/>
          <p:nvPr/>
        </p:nvSpPr>
        <p:spPr>
          <a:xfrm>
            <a:off x="8522280" y="3584520"/>
            <a:ext cx="566640" cy="402120"/>
          </a:xfrm>
          <a:prstGeom prst="rect">
            <a:avLst/>
          </a:prstGeom>
          <a:solidFill>
            <a:srgbClr val="f1f8f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83"/>
          <p:cNvSpPr/>
          <p:nvPr/>
        </p:nvSpPr>
        <p:spPr>
          <a:xfrm>
            <a:off x="9089280" y="3584520"/>
            <a:ext cx="566640" cy="402120"/>
          </a:xfrm>
          <a:prstGeom prst="rect">
            <a:avLst/>
          </a:prstGeom>
          <a:solidFill>
            <a:srgbClr val="f9e7d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ectangle 84"/>
          <p:cNvSpPr/>
          <p:nvPr/>
        </p:nvSpPr>
        <p:spPr>
          <a:xfrm>
            <a:off x="9655920" y="3584520"/>
            <a:ext cx="566640" cy="402120"/>
          </a:xfrm>
          <a:prstGeom prst="rect">
            <a:avLst/>
          </a:prstGeom>
          <a:solidFill>
            <a:srgbClr val="d4ebeb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85"/>
          <p:cNvSpPr/>
          <p:nvPr/>
        </p:nvSpPr>
        <p:spPr>
          <a:xfrm>
            <a:off x="7571160" y="3986640"/>
            <a:ext cx="255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86"/>
          <p:cNvSpPr/>
          <p:nvPr/>
        </p:nvSpPr>
        <p:spPr>
          <a:xfrm>
            <a:off x="7955280" y="3986640"/>
            <a:ext cx="566640" cy="402120"/>
          </a:xfrm>
          <a:prstGeom prst="rect">
            <a:avLst/>
          </a:prstGeom>
          <a:solidFill>
            <a:srgbClr val="f4cfba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−0.6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ectangle 87"/>
          <p:cNvSpPr/>
          <p:nvPr/>
        </p:nvSpPr>
        <p:spPr>
          <a:xfrm>
            <a:off x="8522280" y="3986640"/>
            <a:ext cx="566640" cy="402120"/>
          </a:xfrm>
          <a:prstGeom prst="rect">
            <a:avLst/>
          </a:prstGeom>
          <a:solidFill>
            <a:srgbClr val="d4ebeb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Rectangle 88"/>
          <p:cNvSpPr/>
          <p:nvPr/>
        </p:nvSpPr>
        <p:spPr>
          <a:xfrm>
            <a:off x="9089280" y="3986640"/>
            <a:ext cx="566640" cy="402120"/>
          </a:xfrm>
          <a:prstGeom prst="rect">
            <a:avLst/>
          </a:prstGeom>
          <a:solidFill>
            <a:srgbClr val="f6d7c5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−0.5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ectangle 89"/>
          <p:cNvSpPr/>
          <p:nvPr/>
        </p:nvSpPr>
        <p:spPr>
          <a:xfrm>
            <a:off x="9655920" y="3986640"/>
            <a:ext cx="566640" cy="40212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90"/>
          <p:cNvSpPr/>
          <p:nvPr/>
        </p:nvSpPr>
        <p:spPr>
          <a:xfrm>
            <a:off x="7571160" y="4389120"/>
            <a:ext cx="255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ectangle 91"/>
          <p:cNvSpPr/>
          <p:nvPr/>
        </p:nvSpPr>
        <p:spPr>
          <a:xfrm>
            <a:off x="7955280" y="4389120"/>
            <a:ext cx="566640" cy="402120"/>
          </a:xfrm>
          <a:prstGeom prst="rect">
            <a:avLst/>
          </a:prstGeom>
          <a:solidFill>
            <a:srgbClr val="f4cfba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−0.6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92"/>
          <p:cNvSpPr/>
          <p:nvPr/>
        </p:nvSpPr>
        <p:spPr>
          <a:xfrm>
            <a:off x="8522280" y="4389120"/>
            <a:ext cx="566640" cy="402120"/>
          </a:xfrm>
          <a:prstGeom prst="rect">
            <a:avLst/>
          </a:prstGeom>
          <a:solidFill>
            <a:srgbClr val="d4ebeb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Rectangle 93"/>
          <p:cNvSpPr/>
          <p:nvPr/>
        </p:nvSpPr>
        <p:spPr>
          <a:xfrm>
            <a:off x="9089280" y="4389120"/>
            <a:ext cx="566640" cy="402120"/>
          </a:xfrm>
          <a:prstGeom prst="rect">
            <a:avLst/>
          </a:prstGeom>
          <a:solidFill>
            <a:srgbClr val="f6d7c5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−0.5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Rectangle 94"/>
          <p:cNvSpPr/>
          <p:nvPr/>
        </p:nvSpPr>
        <p:spPr>
          <a:xfrm>
            <a:off x="9655920" y="4389120"/>
            <a:ext cx="566640" cy="40212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Rectangle 95"/>
          <p:cNvSpPr/>
          <p:nvPr/>
        </p:nvSpPr>
        <p:spPr>
          <a:xfrm>
            <a:off x="7918560" y="2340720"/>
            <a:ext cx="2340360" cy="475200"/>
          </a:xfrm>
          <a:prstGeom prst="rect">
            <a:avLst/>
          </a:prstGeom>
          <a:noFill/>
          <a:ln w="3175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TextBox 96"/>
          <p:cNvSpPr/>
          <p:nvPr/>
        </p:nvSpPr>
        <p:spPr>
          <a:xfrm>
            <a:off x="10351080" y="241416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← ENC(A)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Box 97"/>
          <p:cNvSpPr/>
          <p:nvPr/>
        </p:nvSpPr>
        <p:spPr>
          <a:xfrm>
            <a:off x="7315200" y="48920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строка — вершина, d = 4 столбца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98"/>
          <p:cNvSpPr/>
          <p:nvPr/>
        </p:nvSpPr>
        <p:spPr>
          <a:xfrm>
            <a:off x="640080" y="530352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Вся модель — эта таблица: 6 × 4 = 24 чисел, других весов нет. ENC(A) ничего не вычисляет, просто достаёт строку A.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99"/>
          <p:cNvSpPr/>
          <p:nvPr/>
        </p:nvSpPr>
        <p:spPr>
          <a:xfrm>
            <a:off x="640080" y="56235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Обучение двигает числа, чтобы z_u · z_v повторял рёбра (loss 18.5 → 5.2). У соседей A и B строки совпали, у треугольников во 2-м и 3-м столбцах разошлись знаки.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2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КЛЮЧЕВОЙ ВЫБОР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считать похожестью вершин?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2" name="Table 7"/>
          <p:cNvGraphicFramePr/>
          <p:nvPr/>
        </p:nvGraphicFramePr>
        <p:xfrm>
          <a:off x="640080" y="1664280"/>
          <a:ext cx="10911240" cy="2200680"/>
        </p:xfrm>
        <a:graphic>
          <a:graphicData uri="http://schemas.openxmlformats.org/drawingml/2006/table">
            <a:tbl>
              <a:tblPr/>
              <a:tblGrid>
                <a:gridCol w="3637080"/>
                <a:gridCol w="3637080"/>
                <a:gridCol w="36370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Определение похожести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получится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Чем плохо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Есть ребро между u и v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восстановление матрицы смежности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 видит дальше одного шага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Много общих соседей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эвристики вроде Adamic–Adar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 работает там, где общих соседей нет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Близки в графе (мало шагов)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матричные разложения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дорого на больших графах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Встречаются в одном случайном блуждании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DeepWalk, node2vec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сегодняшняя тема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2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Случайные блуждания: DeepWalk и node2vec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3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ИНТУИЦИЯ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Идея случайного блуждания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"/>
          <p:cNvSpPr/>
          <p:nvPr/>
        </p:nvSpPr>
        <p:spPr>
          <a:xfrm>
            <a:off x="640080" y="1481400"/>
            <a:ext cx="585180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Стартуем в вершине и много раз шагаем к случайному соседу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Записываем последовательность вершин — это «предложение»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Вершины, часто встречающиеся рядом в блужданиях, считаем похожими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применяем word2vec: вершина — слово, блуждание — предложение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3" name="Connector 8"/>
          <p:cNvCxnSpPr/>
          <p:nvPr/>
        </p:nvCxnSpPr>
        <p:spPr>
          <a:xfrm>
            <a:off x="8458200" y="2212560"/>
            <a:ext cx="10062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44" name="Isosceles Triangle 9"/>
          <p:cNvSpPr/>
          <p:nvPr/>
        </p:nvSpPr>
        <p:spPr>
          <a:xfrm rot="5400000">
            <a:off x="9391320" y="21398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45" name="Connector 10"/>
          <p:cNvCxnSpPr/>
          <p:nvPr/>
        </p:nvCxnSpPr>
        <p:spPr>
          <a:xfrm flipH="1">
            <a:off x="8458200" y="2212560"/>
            <a:ext cx="10062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46" name="Isosceles Triangle 11"/>
          <p:cNvSpPr/>
          <p:nvPr/>
        </p:nvSpPr>
        <p:spPr>
          <a:xfrm rot="16200000">
            <a:off x="8385120" y="2140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47" name="Connector 12"/>
          <p:cNvCxnSpPr/>
          <p:nvPr/>
        </p:nvCxnSpPr>
        <p:spPr>
          <a:xfrm>
            <a:off x="8458200" y="2212560"/>
            <a:ext cx="24692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48" name="Isosceles Triangle 13"/>
          <p:cNvSpPr/>
          <p:nvPr/>
        </p:nvSpPr>
        <p:spPr>
          <a:xfrm rot="5400000">
            <a:off x="10854360" y="21398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49" name="Connector 14"/>
          <p:cNvCxnSpPr/>
          <p:nvPr/>
        </p:nvCxnSpPr>
        <p:spPr>
          <a:xfrm flipH="1">
            <a:off x="8458200" y="2212560"/>
            <a:ext cx="24692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50" name="Isosceles Triangle 15"/>
          <p:cNvSpPr/>
          <p:nvPr/>
        </p:nvSpPr>
        <p:spPr>
          <a:xfrm rot="16200000">
            <a:off x="8385120" y="2140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51" name="Connector 16"/>
          <p:cNvCxnSpPr/>
          <p:nvPr/>
        </p:nvCxnSpPr>
        <p:spPr>
          <a:xfrm>
            <a:off x="8458200" y="2212560"/>
            <a:ext cx="10062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52" name="Isosceles Triangle 17"/>
          <p:cNvSpPr/>
          <p:nvPr/>
        </p:nvSpPr>
        <p:spPr>
          <a:xfrm rot="5400000">
            <a:off x="9391320" y="21398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53" name="Connector 18"/>
          <p:cNvCxnSpPr/>
          <p:nvPr/>
        </p:nvCxnSpPr>
        <p:spPr>
          <a:xfrm flipH="1">
            <a:off x="8407800" y="2355480"/>
            <a:ext cx="1106640" cy="885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54" name="Isosceles Triangle 19"/>
          <p:cNvSpPr/>
          <p:nvPr/>
        </p:nvSpPr>
        <p:spPr>
          <a:xfrm rot="13880400">
            <a:off x="8335080" y="31676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55" name="Connector 20"/>
          <p:cNvCxnSpPr/>
          <p:nvPr/>
        </p:nvCxnSpPr>
        <p:spPr>
          <a:xfrm>
            <a:off x="8458200" y="3383280"/>
            <a:ext cx="10062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56" name="Isosceles Triangle 21"/>
          <p:cNvSpPr/>
          <p:nvPr/>
        </p:nvSpPr>
        <p:spPr>
          <a:xfrm rot="5400000">
            <a:off x="9391320" y="3310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7" name="Oval 22"/>
          <p:cNvSpPr/>
          <p:nvPr/>
        </p:nvSpPr>
        <p:spPr>
          <a:xfrm>
            <a:off x="8001000" y="19843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Oval 23"/>
          <p:cNvSpPr/>
          <p:nvPr/>
        </p:nvSpPr>
        <p:spPr>
          <a:xfrm>
            <a:off x="9464040" y="19843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19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Oval 24"/>
          <p:cNvSpPr/>
          <p:nvPr/>
        </p:nvSpPr>
        <p:spPr>
          <a:xfrm>
            <a:off x="10927080" y="19843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25"/>
          <p:cNvSpPr/>
          <p:nvPr/>
        </p:nvSpPr>
        <p:spPr>
          <a:xfrm>
            <a:off x="8001000" y="3154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33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Oval 26"/>
          <p:cNvSpPr/>
          <p:nvPr/>
        </p:nvSpPr>
        <p:spPr>
          <a:xfrm>
            <a:off x="9464040" y="3154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26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27"/>
          <p:cNvSpPr/>
          <p:nvPr/>
        </p:nvSpPr>
        <p:spPr>
          <a:xfrm>
            <a:off x="640080" y="525780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Реальное блуждание длины 8 из вершины 0: 0 → 19 → 0 → 1 → 0 → 19 → 33 → 26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6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ОБУЧАЮЩАЯ ВЫБОРКА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От блуждания к парам: скользящее окно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TextBox 7"/>
          <p:cNvSpPr/>
          <p:nvPr/>
        </p:nvSpPr>
        <p:spPr>
          <a:xfrm>
            <a:off x="640080" y="1481400"/>
            <a:ext cx="51202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Каждая вершина блуждания по очереди — центр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Окно ±2: соседи по блужданию, а не по графу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Пара (центр, сосед по окну) = «эти двое похожи»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Сдвинули окно на шаг — получили новые пары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Модель видит только пары, не блуждания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 клубе карате так выходит 65 280 пар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Rounded Rectangle 8"/>
          <p:cNvSpPr/>
          <p:nvPr/>
        </p:nvSpPr>
        <p:spPr>
          <a:xfrm>
            <a:off x="5980320" y="1819800"/>
            <a:ext cx="4534920" cy="65808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71" name="Connector 9"/>
          <p:cNvCxnSpPr/>
          <p:nvPr/>
        </p:nvCxnSpPr>
        <p:spPr>
          <a:xfrm>
            <a:off x="6519600" y="2148840"/>
            <a:ext cx="5490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72" name="Isosceles Triangle 10"/>
          <p:cNvSpPr/>
          <p:nvPr/>
        </p:nvSpPr>
        <p:spPr>
          <a:xfrm rot="5400000">
            <a:off x="6995520" y="2075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73" name="Connector 11"/>
          <p:cNvCxnSpPr/>
          <p:nvPr/>
        </p:nvCxnSpPr>
        <p:spPr>
          <a:xfrm>
            <a:off x="7488720" y="2148840"/>
            <a:ext cx="5490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74" name="Isosceles Triangle 12"/>
          <p:cNvSpPr/>
          <p:nvPr/>
        </p:nvSpPr>
        <p:spPr>
          <a:xfrm rot="5400000">
            <a:off x="7965000" y="2075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75" name="Connector 13"/>
          <p:cNvCxnSpPr/>
          <p:nvPr/>
        </p:nvCxnSpPr>
        <p:spPr>
          <a:xfrm>
            <a:off x="8458200" y="2148840"/>
            <a:ext cx="5490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76" name="Isosceles Triangle 14"/>
          <p:cNvSpPr/>
          <p:nvPr/>
        </p:nvSpPr>
        <p:spPr>
          <a:xfrm rot="5400000">
            <a:off x="8934120" y="2075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77" name="Connector 15"/>
          <p:cNvCxnSpPr/>
          <p:nvPr/>
        </p:nvCxnSpPr>
        <p:spPr>
          <a:xfrm>
            <a:off x="9427320" y="2148840"/>
            <a:ext cx="5490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78" name="Isosceles Triangle 16"/>
          <p:cNvSpPr/>
          <p:nvPr/>
        </p:nvSpPr>
        <p:spPr>
          <a:xfrm rot="5400000">
            <a:off x="9903600" y="2075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79" name="Connector 17"/>
          <p:cNvCxnSpPr/>
          <p:nvPr/>
        </p:nvCxnSpPr>
        <p:spPr>
          <a:xfrm>
            <a:off x="10396440" y="2148840"/>
            <a:ext cx="5490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80" name="Isosceles Triangle 18"/>
          <p:cNvSpPr/>
          <p:nvPr/>
        </p:nvSpPr>
        <p:spPr>
          <a:xfrm rot="5400000">
            <a:off x="10872720" y="2075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Oval 19"/>
          <p:cNvSpPr/>
          <p:nvPr/>
        </p:nvSpPr>
        <p:spPr>
          <a:xfrm>
            <a:off x="6099120" y="19386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20"/>
          <p:cNvSpPr/>
          <p:nvPr/>
        </p:nvSpPr>
        <p:spPr>
          <a:xfrm>
            <a:off x="7068240" y="19386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Oval 21"/>
          <p:cNvSpPr/>
          <p:nvPr/>
        </p:nvSpPr>
        <p:spPr>
          <a:xfrm>
            <a:off x="8037720" y="1938600"/>
            <a:ext cx="420120" cy="42012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Oval 22"/>
          <p:cNvSpPr/>
          <p:nvPr/>
        </p:nvSpPr>
        <p:spPr>
          <a:xfrm>
            <a:off x="9006840" y="19386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Oval 23"/>
          <p:cNvSpPr/>
          <p:nvPr/>
        </p:nvSpPr>
        <p:spPr>
          <a:xfrm>
            <a:off x="9975960" y="19386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Oval 24"/>
          <p:cNvSpPr/>
          <p:nvPr/>
        </p:nvSpPr>
        <p:spPr>
          <a:xfrm>
            <a:off x="10945440" y="19386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25"/>
          <p:cNvSpPr/>
          <p:nvPr/>
        </p:nvSpPr>
        <p:spPr>
          <a:xfrm>
            <a:off x="5943600" y="2606040"/>
            <a:ext cx="5668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центр C:  (C, A)  (C, B)  (C, D)  (C, E)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ounded Rectangle 26"/>
          <p:cNvSpPr/>
          <p:nvPr/>
        </p:nvSpPr>
        <p:spPr>
          <a:xfrm>
            <a:off x="6949440" y="3420000"/>
            <a:ext cx="4534920" cy="65808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89" name="Connector 27"/>
          <p:cNvCxnSpPr/>
          <p:nvPr/>
        </p:nvCxnSpPr>
        <p:spPr>
          <a:xfrm>
            <a:off x="6519600" y="3749040"/>
            <a:ext cx="5490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90" name="Isosceles Triangle 28"/>
          <p:cNvSpPr/>
          <p:nvPr/>
        </p:nvSpPr>
        <p:spPr>
          <a:xfrm rot="5400000">
            <a:off x="6995520" y="36759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91" name="Connector 29"/>
          <p:cNvCxnSpPr/>
          <p:nvPr/>
        </p:nvCxnSpPr>
        <p:spPr>
          <a:xfrm>
            <a:off x="7488720" y="3749040"/>
            <a:ext cx="5490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92" name="Isosceles Triangle 30"/>
          <p:cNvSpPr/>
          <p:nvPr/>
        </p:nvSpPr>
        <p:spPr>
          <a:xfrm rot="5400000">
            <a:off x="7965000" y="36759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93" name="Connector 31"/>
          <p:cNvCxnSpPr/>
          <p:nvPr/>
        </p:nvCxnSpPr>
        <p:spPr>
          <a:xfrm>
            <a:off x="8458200" y="3749040"/>
            <a:ext cx="5490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94" name="Isosceles Triangle 32"/>
          <p:cNvSpPr/>
          <p:nvPr/>
        </p:nvSpPr>
        <p:spPr>
          <a:xfrm rot="5400000">
            <a:off x="8934120" y="36759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95" name="Connector 33"/>
          <p:cNvCxnSpPr/>
          <p:nvPr/>
        </p:nvCxnSpPr>
        <p:spPr>
          <a:xfrm>
            <a:off x="9427320" y="3749040"/>
            <a:ext cx="5490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96" name="Isosceles Triangle 34"/>
          <p:cNvSpPr/>
          <p:nvPr/>
        </p:nvSpPr>
        <p:spPr>
          <a:xfrm rot="5400000">
            <a:off x="9903600" y="36759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97" name="Connector 35"/>
          <p:cNvCxnSpPr/>
          <p:nvPr/>
        </p:nvCxnSpPr>
        <p:spPr>
          <a:xfrm>
            <a:off x="10396440" y="3749040"/>
            <a:ext cx="5490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98" name="Isosceles Triangle 36"/>
          <p:cNvSpPr/>
          <p:nvPr/>
        </p:nvSpPr>
        <p:spPr>
          <a:xfrm rot="5400000">
            <a:off x="10872720" y="36759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b6c1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9" name="Oval 37"/>
          <p:cNvSpPr/>
          <p:nvPr/>
        </p:nvSpPr>
        <p:spPr>
          <a:xfrm>
            <a:off x="6099120" y="35388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38"/>
          <p:cNvSpPr/>
          <p:nvPr/>
        </p:nvSpPr>
        <p:spPr>
          <a:xfrm>
            <a:off x="7068240" y="35388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Oval 39"/>
          <p:cNvSpPr/>
          <p:nvPr/>
        </p:nvSpPr>
        <p:spPr>
          <a:xfrm>
            <a:off x="8037720" y="35388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Oval 40"/>
          <p:cNvSpPr/>
          <p:nvPr/>
        </p:nvSpPr>
        <p:spPr>
          <a:xfrm>
            <a:off x="9006840" y="3538800"/>
            <a:ext cx="420120" cy="42012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41"/>
          <p:cNvSpPr/>
          <p:nvPr/>
        </p:nvSpPr>
        <p:spPr>
          <a:xfrm>
            <a:off x="9975960" y="35388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Oval 42"/>
          <p:cNvSpPr/>
          <p:nvPr/>
        </p:nvSpPr>
        <p:spPr>
          <a:xfrm>
            <a:off x="10945440" y="35388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43"/>
          <p:cNvSpPr/>
          <p:nvPr/>
        </p:nvSpPr>
        <p:spPr>
          <a:xfrm>
            <a:off x="5943600" y="4206240"/>
            <a:ext cx="5668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центр D:  (D, B)  (D, C)  (D, E)  (D, F)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44"/>
          <p:cNvSpPr/>
          <p:nvPr/>
        </p:nvSpPr>
        <p:spPr>
          <a:xfrm>
            <a:off x="640080" y="534924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Бирюзовая рамка — окно вокруг центра. В пары попадают и вершины в двух шагах: A и C могут быть не связаны ребром, но в блуждании они рядом.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1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МОДЕЛЬ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Skip-gram простыми словами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Box 7"/>
          <p:cNvSpPr/>
          <p:nvPr/>
        </p:nvSpPr>
        <p:spPr>
          <a:xfrm>
            <a:off x="640080" y="1481400"/>
            <a:ext cx="51202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Задача: угадать соседей вершины по блужданию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Название — из word2vec, где угадывают слова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У вершины два вектора: z — в центре, z′ — в окне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Скор пары — скалярное произведение z и z′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Обучение: для пар из окна скор растёт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Эмбеддинг вершины — её строка z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8"/>
          <p:cNvSpPr/>
          <p:nvPr/>
        </p:nvSpPr>
        <p:spPr>
          <a:xfrm>
            <a:off x="6126480" y="1737360"/>
            <a:ext cx="2559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Z — вершина в центре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9"/>
          <p:cNvSpPr/>
          <p:nvPr/>
        </p:nvSpPr>
        <p:spPr>
          <a:xfrm>
            <a:off x="6199560" y="2377440"/>
            <a:ext cx="25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Rectangle 10"/>
          <p:cNvSpPr/>
          <p:nvPr/>
        </p:nvSpPr>
        <p:spPr>
          <a:xfrm>
            <a:off x="6583680" y="23774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Rectangle 11"/>
          <p:cNvSpPr/>
          <p:nvPr/>
        </p:nvSpPr>
        <p:spPr>
          <a:xfrm>
            <a:off x="7022520" y="23774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8" name="Rectangle 12"/>
          <p:cNvSpPr/>
          <p:nvPr/>
        </p:nvSpPr>
        <p:spPr>
          <a:xfrm>
            <a:off x="7461360" y="23774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9" name="Rectangle 13"/>
          <p:cNvSpPr/>
          <p:nvPr/>
        </p:nvSpPr>
        <p:spPr>
          <a:xfrm>
            <a:off x="7900560" y="23774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Box 14"/>
          <p:cNvSpPr/>
          <p:nvPr/>
        </p:nvSpPr>
        <p:spPr>
          <a:xfrm>
            <a:off x="6199560" y="2743200"/>
            <a:ext cx="25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Rectangle 15"/>
          <p:cNvSpPr/>
          <p:nvPr/>
        </p:nvSpPr>
        <p:spPr>
          <a:xfrm>
            <a:off x="6583680" y="274320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Rectangle 16"/>
          <p:cNvSpPr/>
          <p:nvPr/>
        </p:nvSpPr>
        <p:spPr>
          <a:xfrm>
            <a:off x="7022520" y="274320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3" name="Rectangle 17"/>
          <p:cNvSpPr/>
          <p:nvPr/>
        </p:nvSpPr>
        <p:spPr>
          <a:xfrm>
            <a:off x="7461360" y="274320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Rectangle 18"/>
          <p:cNvSpPr/>
          <p:nvPr/>
        </p:nvSpPr>
        <p:spPr>
          <a:xfrm>
            <a:off x="7900560" y="274320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19"/>
          <p:cNvSpPr/>
          <p:nvPr/>
        </p:nvSpPr>
        <p:spPr>
          <a:xfrm>
            <a:off x="6199560" y="3108960"/>
            <a:ext cx="25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Rectangle 20"/>
          <p:cNvSpPr/>
          <p:nvPr/>
        </p:nvSpPr>
        <p:spPr>
          <a:xfrm>
            <a:off x="6583680" y="310896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7" name="Rectangle 21"/>
          <p:cNvSpPr/>
          <p:nvPr/>
        </p:nvSpPr>
        <p:spPr>
          <a:xfrm>
            <a:off x="7022520" y="310896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8" name="Rectangle 22"/>
          <p:cNvSpPr/>
          <p:nvPr/>
        </p:nvSpPr>
        <p:spPr>
          <a:xfrm>
            <a:off x="7461360" y="310896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9" name="Rectangle 23"/>
          <p:cNvSpPr/>
          <p:nvPr/>
        </p:nvSpPr>
        <p:spPr>
          <a:xfrm>
            <a:off x="7900560" y="310896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Box 24"/>
          <p:cNvSpPr/>
          <p:nvPr/>
        </p:nvSpPr>
        <p:spPr>
          <a:xfrm>
            <a:off x="6199560" y="3474720"/>
            <a:ext cx="25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Rectangle 25"/>
          <p:cNvSpPr/>
          <p:nvPr/>
        </p:nvSpPr>
        <p:spPr>
          <a:xfrm>
            <a:off x="6583680" y="347472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2" name="Rectangle 26"/>
          <p:cNvSpPr/>
          <p:nvPr/>
        </p:nvSpPr>
        <p:spPr>
          <a:xfrm>
            <a:off x="7022520" y="347472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3" name="Rectangle 27"/>
          <p:cNvSpPr/>
          <p:nvPr/>
        </p:nvSpPr>
        <p:spPr>
          <a:xfrm>
            <a:off x="7461360" y="347472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4" name="Rectangle 28"/>
          <p:cNvSpPr/>
          <p:nvPr/>
        </p:nvSpPr>
        <p:spPr>
          <a:xfrm>
            <a:off x="7900560" y="347472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Box 29"/>
          <p:cNvSpPr/>
          <p:nvPr/>
        </p:nvSpPr>
        <p:spPr>
          <a:xfrm>
            <a:off x="6199560" y="3840480"/>
            <a:ext cx="25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Rectangle 30"/>
          <p:cNvSpPr/>
          <p:nvPr/>
        </p:nvSpPr>
        <p:spPr>
          <a:xfrm>
            <a:off x="6583680" y="384048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7" name="Rectangle 31"/>
          <p:cNvSpPr/>
          <p:nvPr/>
        </p:nvSpPr>
        <p:spPr>
          <a:xfrm>
            <a:off x="7022520" y="384048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8" name="Rectangle 32"/>
          <p:cNvSpPr/>
          <p:nvPr/>
        </p:nvSpPr>
        <p:spPr>
          <a:xfrm>
            <a:off x="7461360" y="384048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Rectangle 33"/>
          <p:cNvSpPr/>
          <p:nvPr/>
        </p:nvSpPr>
        <p:spPr>
          <a:xfrm>
            <a:off x="7900560" y="384048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Box 34"/>
          <p:cNvSpPr/>
          <p:nvPr/>
        </p:nvSpPr>
        <p:spPr>
          <a:xfrm>
            <a:off x="6199560" y="4206240"/>
            <a:ext cx="25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Rectangle 35"/>
          <p:cNvSpPr/>
          <p:nvPr/>
        </p:nvSpPr>
        <p:spPr>
          <a:xfrm>
            <a:off x="6583680" y="42062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2" name="Rectangle 36"/>
          <p:cNvSpPr/>
          <p:nvPr/>
        </p:nvSpPr>
        <p:spPr>
          <a:xfrm>
            <a:off x="7022520" y="42062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Rectangle 37"/>
          <p:cNvSpPr/>
          <p:nvPr/>
        </p:nvSpPr>
        <p:spPr>
          <a:xfrm>
            <a:off x="7461360" y="42062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Rectangle 38"/>
          <p:cNvSpPr/>
          <p:nvPr/>
        </p:nvSpPr>
        <p:spPr>
          <a:xfrm>
            <a:off x="7900560" y="42062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Rectangle 39"/>
          <p:cNvSpPr/>
          <p:nvPr/>
        </p:nvSpPr>
        <p:spPr>
          <a:xfrm>
            <a:off x="6546960" y="3072240"/>
            <a:ext cx="1828440" cy="438480"/>
          </a:xfrm>
          <a:prstGeom prst="rect">
            <a:avLst/>
          </a:prstGeom>
          <a:noFill/>
          <a:ln w="3175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6" name="TextBox 40"/>
          <p:cNvSpPr/>
          <p:nvPr/>
        </p:nvSpPr>
        <p:spPr>
          <a:xfrm>
            <a:off x="6583680" y="2084760"/>
            <a:ext cx="1755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d столбцов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Box 41"/>
          <p:cNvSpPr/>
          <p:nvPr/>
        </p:nvSpPr>
        <p:spPr>
          <a:xfrm>
            <a:off x="8869680" y="1737360"/>
            <a:ext cx="2559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Z′ — вершина в окне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42"/>
          <p:cNvSpPr/>
          <p:nvPr/>
        </p:nvSpPr>
        <p:spPr>
          <a:xfrm>
            <a:off x="8942760" y="2377440"/>
            <a:ext cx="25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Rectangle 43"/>
          <p:cNvSpPr/>
          <p:nvPr/>
        </p:nvSpPr>
        <p:spPr>
          <a:xfrm>
            <a:off x="9326880" y="23774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0" name="Rectangle 44"/>
          <p:cNvSpPr/>
          <p:nvPr/>
        </p:nvSpPr>
        <p:spPr>
          <a:xfrm>
            <a:off x="9765720" y="23774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1" name="Rectangle 45"/>
          <p:cNvSpPr/>
          <p:nvPr/>
        </p:nvSpPr>
        <p:spPr>
          <a:xfrm>
            <a:off x="10204560" y="23774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2" name="Rectangle 46"/>
          <p:cNvSpPr/>
          <p:nvPr/>
        </p:nvSpPr>
        <p:spPr>
          <a:xfrm>
            <a:off x="10643760" y="23774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Box 47"/>
          <p:cNvSpPr/>
          <p:nvPr/>
        </p:nvSpPr>
        <p:spPr>
          <a:xfrm>
            <a:off x="8942760" y="2743200"/>
            <a:ext cx="25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Rectangle 48"/>
          <p:cNvSpPr/>
          <p:nvPr/>
        </p:nvSpPr>
        <p:spPr>
          <a:xfrm>
            <a:off x="9326880" y="274320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5" name="Rectangle 49"/>
          <p:cNvSpPr/>
          <p:nvPr/>
        </p:nvSpPr>
        <p:spPr>
          <a:xfrm>
            <a:off x="9765720" y="274320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6" name="Rectangle 50"/>
          <p:cNvSpPr/>
          <p:nvPr/>
        </p:nvSpPr>
        <p:spPr>
          <a:xfrm>
            <a:off x="10204560" y="274320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7" name="Rectangle 51"/>
          <p:cNvSpPr/>
          <p:nvPr/>
        </p:nvSpPr>
        <p:spPr>
          <a:xfrm>
            <a:off x="10643760" y="274320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8" name="TextBox 52"/>
          <p:cNvSpPr/>
          <p:nvPr/>
        </p:nvSpPr>
        <p:spPr>
          <a:xfrm>
            <a:off x="8942760" y="3108960"/>
            <a:ext cx="25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Rectangle 53"/>
          <p:cNvSpPr/>
          <p:nvPr/>
        </p:nvSpPr>
        <p:spPr>
          <a:xfrm>
            <a:off x="9326880" y="310896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0" name="Rectangle 54"/>
          <p:cNvSpPr/>
          <p:nvPr/>
        </p:nvSpPr>
        <p:spPr>
          <a:xfrm>
            <a:off x="9765720" y="310896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1" name="Rectangle 55"/>
          <p:cNvSpPr/>
          <p:nvPr/>
        </p:nvSpPr>
        <p:spPr>
          <a:xfrm>
            <a:off x="10204560" y="310896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2" name="Rectangle 56"/>
          <p:cNvSpPr/>
          <p:nvPr/>
        </p:nvSpPr>
        <p:spPr>
          <a:xfrm>
            <a:off x="10643760" y="310896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3" name="TextBox 57"/>
          <p:cNvSpPr/>
          <p:nvPr/>
        </p:nvSpPr>
        <p:spPr>
          <a:xfrm>
            <a:off x="8942760" y="3474720"/>
            <a:ext cx="25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ectangle 58"/>
          <p:cNvSpPr/>
          <p:nvPr/>
        </p:nvSpPr>
        <p:spPr>
          <a:xfrm>
            <a:off x="9326880" y="347472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5" name="Rectangle 59"/>
          <p:cNvSpPr/>
          <p:nvPr/>
        </p:nvSpPr>
        <p:spPr>
          <a:xfrm>
            <a:off x="9765720" y="347472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6" name="Rectangle 60"/>
          <p:cNvSpPr/>
          <p:nvPr/>
        </p:nvSpPr>
        <p:spPr>
          <a:xfrm>
            <a:off x="10204560" y="347472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Rectangle 61"/>
          <p:cNvSpPr/>
          <p:nvPr/>
        </p:nvSpPr>
        <p:spPr>
          <a:xfrm>
            <a:off x="10643760" y="347472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TextBox 62"/>
          <p:cNvSpPr/>
          <p:nvPr/>
        </p:nvSpPr>
        <p:spPr>
          <a:xfrm>
            <a:off x="8942760" y="3840480"/>
            <a:ext cx="25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Rectangle 63"/>
          <p:cNvSpPr/>
          <p:nvPr/>
        </p:nvSpPr>
        <p:spPr>
          <a:xfrm>
            <a:off x="9326880" y="384048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0" name="Rectangle 64"/>
          <p:cNvSpPr/>
          <p:nvPr/>
        </p:nvSpPr>
        <p:spPr>
          <a:xfrm>
            <a:off x="9765720" y="384048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Rectangle 65"/>
          <p:cNvSpPr/>
          <p:nvPr/>
        </p:nvSpPr>
        <p:spPr>
          <a:xfrm>
            <a:off x="10204560" y="384048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2" name="Rectangle 66"/>
          <p:cNvSpPr/>
          <p:nvPr/>
        </p:nvSpPr>
        <p:spPr>
          <a:xfrm>
            <a:off x="10643760" y="384048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3" name="TextBox 67"/>
          <p:cNvSpPr/>
          <p:nvPr/>
        </p:nvSpPr>
        <p:spPr>
          <a:xfrm>
            <a:off x="8942760" y="4206240"/>
            <a:ext cx="25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Rectangle 68"/>
          <p:cNvSpPr/>
          <p:nvPr/>
        </p:nvSpPr>
        <p:spPr>
          <a:xfrm>
            <a:off x="9326880" y="42062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5" name="Rectangle 69"/>
          <p:cNvSpPr/>
          <p:nvPr/>
        </p:nvSpPr>
        <p:spPr>
          <a:xfrm>
            <a:off x="9765720" y="42062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6" name="Rectangle 70"/>
          <p:cNvSpPr/>
          <p:nvPr/>
        </p:nvSpPr>
        <p:spPr>
          <a:xfrm>
            <a:off x="10204560" y="42062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7" name="Rectangle 71"/>
          <p:cNvSpPr/>
          <p:nvPr/>
        </p:nvSpPr>
        <p:spPr>
          <a:xfrm>
            <a:off x="10643760" y="4206240"/>
            <a:ext cx="438480" cy="365400"/>
          </a:xfrm>
          <a:prstGeom prst="rect">
            <a:avLst/>
          </a:prstGeom>
          <a:solidFill>
            <a:srgbClr val="d8dee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Rectangle 72"/>
          <p:cNvSpPr/>
          <p:nvPr/>
        </p:nvSpPr>
        <p:spPr>
          <a:xfrm>
            <a:off x="9290160" y="2340720"/>
            <a:ext cx="1828440" cy="438480"/>
          </a:xfrm>
          <a:prstGeom prst="rect">
            <a:avLst/>
          </a:prstGeom>
          <a:noFill/>
          <a:ln w="3175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9" name="TextBox 73"/>
          <p:cNvSpPr/>
          <p:nvPr/>
        </p:nvSpPr>
        <p:spPr>
          <a:xfrm>
            <a:off x="9326880" y="2084760"/>
            <a:ext cx="1755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d столбцов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Box 74"/>
          <p:cNvSpPr/>
          <p:nvPr/>
        </p:nvSpPr>
        <p:spPr>
          <a:xfrm>
            <a:off x="6126480" y="4754880"/>
            <a:ext cx="5394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скор пары (C, A) = z_C · z′_A — его и растим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Box 75"/>
          <p:cNvSpPr/>
          <p:nvPr/>
        </p:nvSpPr>
        <p:spPr>
          <a:xfrm>
            <a:off x="640080" y="534924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Все обучаемые веса DeepWalk — эти две таблицы, по |V| × d чисел в каждой. Как с таблицей Z из блока 1, только вершина в роли соседа берётся из второй таблицы.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8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ФОРМУЛИРОВКА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именно оптимизирует skip-gram?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8" name="Rounded Rectangle 7"/>
          <p:cNvSpPr/>
          <p:nvPr/>
        </p:nvSpPr>
        <p:spPr>
          <a:xfrm>
            <a:off x="640080" y="1801440"/>
            <a:ext cx="10911240" cy="1965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89" name="Picture 8" descr="f_softmax.png"/>
          <p:cNvPicPr/>
          <p:nvPr/>
        </p:nvPicPr>
        <p:blipFill>
          <a:blip r:embed="rId1"/>
          <a:stretch/>
        </p:blipFill>
        <p:spPr>
          <a:xfrm>
            <a:off x="4176360" y="2258640"/>
            <a:ext cx="3838680" cy="10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TextBox 9"/>
          <p:cNvSpPr/>
          <p:nvPr/>
        </p:nvSpPr>
        <p:spPr>
          <a:xfrm>
            <a:off x="640080" y="39960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Хотим, чтобы вершины, встречающиеся в одном блуждании, получали высокую вероятность. Беда в знаменателе: сумма по всем вершинам графа. Для миллиона вершин это миллион экспонент на каждую пару — нереально.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9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ПРОБЛЕМА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Зачем негативы?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Если только притягивать пары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Проще всего сделать все векторы одинаковыми и длинными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Тогда скор любой пары огромный, а ошибка — ноль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Клуб карате без негативов: loss 0.0, вероятность связи 1.00 у соседей и 1.00 у пар без ребра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Модель считает соседями всех подряд — эмбеддинги бесполезны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1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Значит, надо ещё и расталкивать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Softmax честно расталкивает вершину со всеми остальными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Но на ogbn-arxiv это 169 343 скалярных произведений на каждую пару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Negative sampling: берём 5 случайных вершин и расталкиваем только их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 5 негативами: 0.40 у соседей против 0.08 у пар без ребра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Случайная вершина почти никогда не сосед, так что 5 штук работают почти как все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0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КЛЮЧЕВОЙ ТРЮК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Negative sampling: вместо всех вершин берём пять случайных</a:t>
            </a:r>
            <a:endParaRPr b="0" lang="ru-RU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9" name="Rounded Rectangle 7"/>
          <p:cNvSpPr/>
          <p:nvPr/>
        </p:nvSpPr>
        <p:spPr>
          <a:xfrm>
            <a:off x="640080" y="1801440"/>
            <a:ext cx="10911240" cy="1828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10" name="Picture 8" descr="f_negsample.png"/>
          <p:cNvPicPr/>
          <p:nvPr/>
        </p:nvPicPr>
        <p:blipFill>
          <a:blip r:embed="rId1"/>
          <a:stretch/>
        </p:blipFill>
        <p:spPr>
          <a:xfrm>
            <a:off x="3288960" y="2258640"/>
            <a:ext cx="561384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Box 9"/>
          <p:cNvSpPr/>
          <p:nvPr/>
        </p:nvSpPr>
        <p:spPr>
          <a:xfrm>
            <a:off x="640080" y="385884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Первое слагаемое притягивает вершины, которые встретились вместе. Второе отталкивает K случайных вершин — обычно K от 5 до 20. Негативы берут не равномерно, а пропорционально степени в степени 0.75: хабы должны попадаться чаще, но не подавлять всё.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1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ВНУТРИ SGD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происходит за один шаг обучения?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8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419" name="Table 8"/>
          <p:cNvGraphicFramePr/>
          <p:nvPr/>
        </p:nvGraphicFramePr>
        <p:xfrm>
          <a:off x="822960" y="2103120"/>
          <a:ext cx="5486040" cy="135972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endParaRPr b="0" lang="ru-RU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До обучения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После 20 шагов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Скалярное произведение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0.012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3.256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Вероятность связи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0.503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0.963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420" name="TextBox 9"/>
          <p:cNvSpPr/>
          <p:nvPr/>
        </p:nvSpPr>
        <p:spPr>
          <a:xfrm>
            <a:off x="6766560" y="2103120"/>
            <a:ext cx="475452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Взяли одну пару вершин из блуждания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Векторы стартовали случайными: скор около нуля, вероятность 0.5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Градиент тянет векторы навстречу друг другу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Негативы в это же время растаскивают несвязанные вершины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Так пара за парой и собирается вся геометрия графа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Box 10"/>
          <p:cNvSpPr/>
          <p:nvPr/>
        </p:nvSpPr>
        <p:spPr>
          <a:xfrm>
            <a:off x="640080" y="530352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Это реальный прогон градиентного спуска на паре случайных векторов, шаг 0.5.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2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2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ОБУЧЕНИЕ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выглядит обучение вблизи?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28" name="Picture 7" descr="l02_loss.png"/>
          <p:cNvPicPr/>
          <p:nvPr/>
        </p:nvPicPr>
        <p:blipFill>
          <a:blip r:embed="rId1"/>
          <a:stretch/>
        </p:blipFill>
        <p:spPr>
          <a:xfrm>
            <a:off x="3078360" y="1481400"/>
            <a:ext cx="6034680" cy="301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9" name="TextBox 8"/>
          <p:cNvSpPr/>
          <p:nvPr/>
        </p:nvSpPr>
        <p:spPr>
          <a:xfrm>
            <a:off x="640080" y="47275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Loss падает за первую эпоху и дальше почти не меняется: граф крошечный, информации в нём мало. На Cora или большом графе кривая будет спускаться дольше.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3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3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ИТОГ · PEROZZI ET AL., 2014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DeepWalk целиком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6" name="Rounded Rectangle 7"/>
          <p:cNvSpPr/>
          <p:nvPr/>
        </p:nvSpPr>
        <p:spPr>
          <a:xfrm>
            <a:off x="640080" y="1481400"/>
            <a:ext cx="10911240" cy="3855240"/>
          </a:xfrm>
          <a:prstGeom prst="roundRect">
            <a:avLst>
              <a:gd name="adj" fmla="val 4000"/>
            </a:avLst>
          </a:prstGeom>
          <a:solidFill>
            <a:srgbClr val="1b22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7" name="TextBox 8"/>
          <p:cNvSpPr/>
          <p:nvPr/>
        </p:nvSpPr>
        <p:spPr>
          <a:xfrm>
            <a:off x="932760" y="1737360"/>
            <a:ext cx="10325880" cy="334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4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for each вершина v:                      # 1. собираем блуждания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4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for i in range(walks_per_node):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4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walk = random_walk(graph, start=v, length=10)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4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corpus.append(walk)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4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for walk in corpus:                      # 2. режем на пары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4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for center, context in sliding_window(walk, size=3):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4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pairs.append((center, context))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4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for center, context in pairs:            # 3. учим skip-gram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4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negatives = sample(5, p ~ degree ** 0.75)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4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update(z_center, z_context, negatives)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Box 9"/>
          <p:cNvSpPr/>
          <p:nvPr/>
        </p:nvSpPr>
        <p:spPr>
          <a:xfrm>
            <a:off x="640080" y="556560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Ровно это вы напишете на практике 2 — библиотеки не понадобятся.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4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4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GROVER &amp; LESKOVEC, 2016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node2vec: блуждание можно сделать управляемым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TextBox 8"/>
          <p:cNvSpPr/>
          <p:nvPr/>
        </p:nvSpPr>
        <p:spPr>
          <a:xfrm>
            <a:off x="640080" y="1645920"/>
            <a:ext cx="3382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Пришли из t в v. Куда дальше?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47" name="Connector 9"/>
          <p:cNvCxnSpPr/>
          <p:nvPr/>
        </p:nvCxnSpPr>
        <p:spPr>
          <a:xfrm>
            <a:off x="1121040" y="3255120"/>
            <a:ext cx="729720" cy="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48" name="Connector 10"/>
          <p:cNvCxnSpPr/>
          <p:nvPr/>
        </p:nvCxnSpPr>
        <p:spPr>
          <a:xfrm flipV="1">
            <a:off x="1023480" y="2527200"/>
            <a:ext cx="349920" cy="5508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49" name="Connector 11"/>
          <p:cNvCxnSpPr/>
          <p:nvPr/>
        </p:nvCxnSpPr>
        <p:spPr>
          <a:xfrm flipH="1" flipV="1">
            <a:off x="1598400" y="2527200"/>
            <a:ext cx="349920" cy="5508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50" name="Connector 12"/>
          <p:cNvCxnSpPr/>
          <p:nvPr/>
        </p:nvCxnSpPr>
        <p:spPr>
          <a:xfrm flipV="1">
            <a:off x="2220840" y="2526480"/>
            <a:ext cx="695160" cy="592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51" name="Connector 13"/>
          <p:cNvCxnSpPr/>
          <p:nvPr/>
        </p:nvCxnSpPr>
        <p:spPr>
          <a:xfrm>
            <a:off x="2233800" y="3375000"/>
            <a:ext cx="669600" cy="464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452" name="Oval 14"/>
          <p:cNvSpPr/>
          <p:nvPr/>
        </p:nvSpPr>
        <p:spPr>
          <a:xfrm>
            <a:off x="700560" y="304488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Oval 15"/>
          <p:cNvSpPr/>
          <p:nvPr/>
        </p:nvSpPr>
        <p:spPr>
          <a:xfrm>
            <a:off x="1850760" y="3044880"/>
            <a:ext cx="420120" cy="42012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Oval 16"/>
          <p:cNvSpPr/>
          <p:nvPr/>
        </p:nvSpPr>
        <p:spPr>
          <a:xfrm>
            <a:off x="1275480" y="213984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5" name="Oval 17"/>
          <p:cNvSpPr/>
          <p:nvPr/>
        </p:nvSpPr>
        <p:spPr>
          <a:xfrm>
            <a:off x="2865600" y="21798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6" name="Oval 18"/>
          <p:cNvSpPr/>
          <p:nvPr/>
        </p:nvSpPr>
        <p:spPr>
          <a:xfrm>
            <a:off x="2865600" y="374904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7" name="TextBox 19"/>
          <p:cNvSpPr/>
          <p:nvPr/>
        </p:nvSpPr>
        <p:spPr>
          <a:xfrm>
            <a:off x="636480" y="3502080"/>
            <a:ext cx="548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1/p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20"/>
          <p:cNvSpPr/>
          <p:nvPr/>
        </p:nvSpPr>
        <p:spPr>
          <a:xfrm>
            <a:off x="919080" y="2221920"/>
            <a:ext cx="548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1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Box 21"/>
          <p:cNvSpPr/>
          <p:nvPr/>
        </p:nvSpPr>
        <p:spPr>
          <a:xfrm>
            <a:off x="3332160" y="2262240"/>
            <a:ext cx="548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1/q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Box 22"/>
          <p:cNvSpPr/>
          <p:nvPr/>
        </p:nvSpPr>
        <p:spPr>
          <a:xfrm>
            <a:off x="3332160" y="3831480"/>
            <a:ext cx="548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1/q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Box 23"/>
          <p:cNvSpPr/>
          <p:nvPr/>
        </p:nvSpPr>
        <p:spPr>
          <a:xfrm>
            <a:off x="640080" y="4343400"/>
            <a:ext cx="338292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9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1/p — вернуться в t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9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 — к соседу t, остаться рядом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9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1/q — уйти дальше от t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Box 24"/>
          <p:cNvSpPr/>
          <p:nvPr/>
        </p:nvSpPr>
        <p:spPr>
          <a:xfrm>
            <a:off x="4389120" y="1645920"/>
            <a:ext cx="3382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q = 4: крутимся рядом, как BFS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63" name="Connector 25"/>
          <p:cNvCxnSpPr/>
          <p:nvPr/>
        </p:nvCxnSpPr>
        <p:spPr>
          <a:xfrm flipH="1" flipV="1">
            <a:off x="4625640" y="2559960"/>
            <a:ext cx="169560" cy="4251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64" name="Connector 26"/>
          <p:cNvCxnSpPr/>
          <p:nvPr/>
        </p:nvCxnSpPr>
        <p:spPr>
          <a:xfrm flipH="1">
            <a:off x="4625640" y="3324240"/>
            <a:ext cx="169560" cy="425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65" name="Connector 27"/>
          <p:cNvCxnSpPr/>
          <p:nvPr/>
        </p:nvCxnSpPr>
        <p:spPr>
          <a:xfrm flipV="1">
            <a:off x="4982400" y="2588760"/>
            <a:ext cx="370080" cy="42768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66" name="Connector 28"/>
          <p:cNvCxnSpPr/>
          <p:nvPr/>
        </p:nvCxnSpPr>
        <p:spPr>
          <a:xfrm>
            <a:off x="4982400" y="3292920"/>
            <a:ext cx="370080" cy="42768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67" name="Connector 29"/>
          <p:cNvCxnSpPr/>
          <p:nvPr/>
        </p:nvCxnSpPr>
        <p:spPr>
          <a:xfrm>
            <a:off x="4740480" y="2402280"/>
            <a:ext cx="549000" cy="36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68" name="Connector 30"/>
          <p:cNvCxnSpPr/>
          <p:nvPr/>
        </p:nvCxnSpPr>
        <p:spPr>
          <a:xfrm flipV="1">
            <a:off x="4740480" y="3870720"/>
            <a:ext cx="549000" cy="36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69" name="Connector 31"/>
          <p:cNvCxnSpPr/>
          <p:nvPr/>
        </p:nvCxnSpPr>
        <p:spPr>
          <a:xfrm>
            <a:off x="5635440" y="2531520"/>
            <a:ext cx="281520" cy="139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70" name="Connector 32"/>
          <p:cNvCxnSpPr/>
          <p:nvPr/>
        </p:nvCxnSpPr>
        <p:spPr>
          <a:xfrm>
            <a:off x="6198120" y="2892240"/>
            <a:ext cx="306360" cy="363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71" name="Connector 33"/>
          <p:cNvCxnSpPr/>
          <p:nvPr/>
        </p:nvCxnSpPr>
        <p:spPr>
          <a:xfrm flipV="1">
            <a:off x="6725880" y="2862360"/>
            <a:ext cx="266040" cy="383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72" name="Connector 34"/>
          <p:cNvCxnSpPr/>
          <p:nvPr/>
        </p:nvCxnSpPr>
        <p:spPr>
          <a:xfrm>
            <a:off x="7199640" y="2862360"/>
            <a:ext cx="265680" cy="383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473" name="Oval 35"/>
          <p:cNvSpPr/>
          <p:nvPr/>
        </p:nvSpPr>
        <p:spPr>
          <a:xfrm>
            <a:off x="4680000" y="297180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Oval 36"/>
          <p:cNvSpPr/>
          <p:nvPr/>
        </p:nvSpPr>
        <p:spPr>
          <a:xfrm>
            <a:off x="4375440" y="220752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5" name="Oval 37"/>
          <p:cNvSpPr/>
          <p:nvPr/>
        </p:nvSpPr>
        <p:spPr>
          <a:xfrm>
            <a:off x="4375440" y="373608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6" name="Oval 38"/>
          <p:cNvSpPr/>
          <p:nvPr/>
        </p:nvSpPr>
        <p:spPr>
          <a:xfrm>
            <a:off x="5288760" y="226764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7" name="Oval 39"/>
          <p:cNvSpPr/>
          <p:nvPr/>
        </p:nvSpPr>
        <p:spPr>
          <a:xfrm>
            <a:off x="5288760" y="367596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8" name="Oval 40"/>
          <p:cNvSpPr/>
          <p:nvPr/>
        </p:nvSpPr>
        <p:spPr>
          <a:xfrm>
            <a:off x="5897880" y="256932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9" name="Oval 41"/>
          <p:cNvSpPr/>
          <p:nvPr/>
        </p:nvSpPr>
        <p:spPr>
          <a:xfrm>
            <a:off x="6439320" y="321336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0" name="Oval 42"/>
          <p:cNvSpPr/>
          <p:nvPr/>
        </p:nvSpPr>
        <p:spPr>
          <a:xfrm>
            <a:off x="6912720" y="252936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1" name="Oval 43"/>
          <p:cNvSpPr/>
          <p:nvPr/>
        </p:nvSpPr>
        <p:spPr>
          <a:xfrm>
            <a:off x="7386480" y="321336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2" name="TextBox 44"/>
          <p:cNvSpPr/>
          <p:nvPr/>
        </p:nvSpPr>
        <p:spPr>
          <a:xfrm>
            <a:off x="4389120" y="4343400"/>
            <a:ext cx="338292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9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Шаг вдаль весит 1/q = 0.25 — редкий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9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Видим ближнюю окрестность старта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9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Ловит роль вершины: хаб, мост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Box 45"/>
          <p:cNvSpPr/>
          <p:nvPr/>
        </p:nvSpPr>
        <p:spPr>
          <a:xfrm>
            <a:off x="8138160" y="1645920"/>
            <a:ext cx="3382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q = 0.25: уходим вглубь, как DFS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84" name="Connector 46"/>
          <p:cNvCxnSpPr/>
          <p:nvPr/>
        </p:nvCxnSpPr>
        <p:spPr>
          <a:xfrm flipH="1" flipV="1">
            <a:off x="8374680" y="2559960"/>
            <a:ext cx="169560" cy="425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85" name="Connector 47"/>
          <p:cNvCxnSpPr/>
          <p:nvPr/>
        </p:nvCxnSpPr>
        <p:spPr>
          <a:xfrm flipH="1">
            <a:off x="8374680" y="3324240"/>
            <a:ext cx="169560" cy="425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86" name="Connector 48"/>
          <p:cNvCxnSpPr/>
          <p:nvPr/>
        </p:nvCxnSpPr>
        <p:spPr>
          <a:xfrm flipV="1">
            <a:off x="8731440" y="2588760"/>
            <a:ext cx="370080" cy="42768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87" name="Connector 49"/>
          <p:cNvCxnSpPr/>
          <p:nvPr/>
        </p:nvCxnSpPr>
        <p:spPr>
          <a:xfrm>
            <a:off x="8731440" y="3292920"/>
            <a:ext cx="370080" cy="427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88" name="Connector 50"/>
          <p:cNvCxnSpPr/>
          <p:nvPr/>
        </p:nvCxnSpPr>
        <p:spPr>
          <a:xfrm>
            <a:off x="8489520" y="2402280"/>
            <a:ext cx="549000" cy="36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89" name="Connector 51"/>
          <p:cNvCxnSpPr/>
          <p:nvPr/>
        </p:nvCxnSpPr>
        <p:spPr>
          <a:xfrm flipV="1">
            <a:off x="8489520" y="3870720"/>
            <a:ext cx="549000" cy="36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90" name="Connector 52"/>
          <p:cNvCxnSpPr/>
          <p:nvPr/>
        </p:nvCxnSpPr>
        <p:spPr>
          <a:xfrm>
            <a:off x="9384480" y="2531520"/>
            <a:ext cx="281520" cy="13968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91" name="Connector 53"/>
          <p:cNvCxnSpPr/>
          <p:nvPr/>
        </p:nvCxnSpPr>
        <p:spPr>
          <a:xfrm>
            <a:off x="9947160" y="2892240"/>
            <a:ext cx="306360" cy="3639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92" name="Connector 54"/>
          <p:cNvCxnSpPr/>
          <p:nvPr/>
        </p:nvCxnSpPr>
        <p:spPr>
          <a:xfrm flipV="1">
            <a:off x="10474920" y="2862360"/>
            <a:ext cx="266040" cy="38340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93" name="Connector 55"/>
          <p:cNvCxnSpPr/>
          <p:nvPr/>
        </p:nvCxnSpPr>
        <p:spPr>
          <a:xfrm>
            <a:off x="10948680" y="2862360"/>
            <a:ext cx="265680" cy="38340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494" name="Oval 56"/>
          <p:cNvSpPr/>
          <p:nvPr/>
        </p:nvSpPr>
        <p:spPr>
          <a:xfrm>
            <a:off x="8429040" y="297180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Oval 57"/>
          <p:cNvSpPr/>
          <p:nvPr/>
        </p:nvSpPr>
        <p:spPr>
          <a:xfrm>
            <a:off x="8124480" y="220752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Oval 58"/>
          <p:cNvSpPr/>
          <p:nvPr/>
        </p:nvSpPr>
        <p:spPr>
          <a:xfrm>
            <a:off x="8124480" y="373608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7" name="Oval 59"/>
          <p:cNvSpPr/>
          <p:nvPr/>
        </p:nvSpPr>
        <p:spPr>
          <a:xfrm>
            <a:off x="9037800" y="226764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8" name="Oval 60"/>
          <p:cNvSpPr/>
          <p:nvPr/>
        </p:nvSpPr>
        <p:spPr>
          <a:xfrm>
            <a:off x="9037800" y="367596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9" name="Oval 61"/>
          <p:cNvSpPr/>
          <p:nvPr/>
        </p:nvSpPr>
        <p:spPr>
          <a:xfrm>
            <a:off x="9646920" y="256932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0" name="Oval 62"/>
          <p:cNvSpPr/>
          <p:nvPr/>
        </p:nvSpPr>
        <p:spPr>
          <a:xfrm>
            <a:off x="10188360" y="321336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1" name="Oval 63"/>
          <p:cNvSpPr/>
          <p:nvPr/>
        </p:nvSpPr>
        <p:spPr>
          <a:xfrm>
            <a:off x="10661760" y="252936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2" name="Oval 64"/>
          <p:cNvSpPr/>
          <p:nvPr/>
        </p:nvSpPr>
        <p:spPr>
          <a:xfrm>
            <a:off x="11135520" y="321336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TextBox 65"/>
          <p:cNvSpPr/>
          <p:nvPr/>
        </p:nvSpPr>
        <p:spPr>
          <a:xfrm>
            <a:off x="8138160" y="4343400"/>
            <a:ext cx="338292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9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Шаг вдаль весит 1/q = 4 — частый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9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Видим, куда ведут пути из вершины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9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Ловит сообщество вершины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Box 66"/>
          <p:cNvSpPr/>
          <p:nvPr/>
        </p:nvSpPr>
        <p:spPr>
          <a:xfrm>
            <a:off x="640080" y="548640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Клуб карате, блуждания по 10 шагов, p = 1: при q = 4 блуждание посещает 6.1 разных вершин и отходит от старта на 2.1 ребра, при q = 0.25 — 7.8 вершин и 2.7 ребра. DeepWalk — частный случай p = q = 1.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0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0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Три блуждания из одной вершины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11" name="Table 7"/>
          <p:cNvGraphicFramePr/>
          <p:nvPr/>
        </p:nvGraphicFramePr>
        <p:xfrm>
          <a:off x="640080" y="1664280"/>
          <a:ext cx="10911240" cy="1682280"/>
        </p:xfrm>
        <a:graphic>
          <a:graphicData uri="http://schemas.openxmlformats.org/drawingml/2006/table">
            <a:tbl>
              <a:tblPr/>
              <a:tblGrid>
                <a:gridCol w="2836800"/>
                <a:gridCol w="1963800"/>
                <a:gridCol w="61102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Режим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Параметры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Реальное блуждание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Равномерное (DeepWalk)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p = 1, q = 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 → 19 → 0 → 1 → 0 → 19 → 33 → 26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Ближе к BFS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p = 1, q = 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 → 12 → 3 → 7 → 3 → 7 → 0 → 17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Ближе к DFS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p = 1, q = 0.25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 → 10 → 5 → 6 → 16 → 6 → 0 → 10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2" name="TextBox 8"/>
          <p:cNvSpPr/>
          <p:nvPr/>
        </p:nvSpPr>
        <p:spPr>
          <a:xfrm>
            <a:off x="640080" y="420624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Все три стартуют из вершины 0 клуба карате. Обратите внимание, как часто блуждания возвращаются в уже посещённые вершины: это нормально и даже полезно.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1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ЧЕСТНЫЙ ЗАМЕР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будет, если крутить гиперпараметры?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19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2909520"/>
                <a:gridCol w="3152160"/>
                <a:gridCol w="484956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Гиперпараметр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Значения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Accuracy на клубе карате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Размерность d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/ 8 / 16 / 64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0.91 / 0.938 / 0.938 / 0.881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Окно контекста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 / 3 / 5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0.8 / 0.876 / 0.91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Число негативов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 / 5 / 15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0.938 / 0.848 / 0.705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Длина блуждания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 / 10 / 20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0.91 / 0.938 / 0.91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20" name="TextBox 8"/>
          <p:cNvSpPr/>
          <p:nvPr/>
        </p:nvSpPr>
        <p:spPr>
          <a:xfrm>
            <a:off x="640080" y="429768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Один запуск, один сид, 34 вершины. Выводы из такой таблицы делать НЕЛЬЗЯ: разброс между фолдами здесь больше, чем разница между строками. Правильный способ — усреднение по нескольким сидам с доверительными интервалами; именно это вы будете делать в домашнем задании 2.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2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ПРОВЕРЬ СЕБЯ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Вопрос аудитории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7" name="TextBox 7"/>
          <p:cNvSpPr/>
          <p:nvPr/>
        </p:nvSpPr>
        <p:spPr>
          <a:xfrm>
            <a:off x="640080" y="1481400"/>
            <a:ext cx="10911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22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Вы обучили node2vec на графе соцсети и хотите найти вершины с похожей структурной ролью (например, всех «мостиков» между сообществами). Как настроить блуждания?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Rounded Rectangle 8"/>
          <p:cNvSpPr/>
          <p:nvPr/>
        </p:nvSpPr>
        <p:spPr>
          <a:xfrm>
            <a:off x="640080" y="340164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9" name="TextBox 9"/>
          <p:cNvSpPr/>
          <p:nvPr/>
        </p:nvSpPr>
        <p:spPr>
          <a:xfrm>
            <a:off x="914400" y="35478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Взять маленькое q: блуждания уходят далеко от старта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Rounded Rectangle 10"/>
          <p:cNvSpPr/>
          <p:nvPr/>
        </p:nvSpPr>
        <p:spPr>
          <a:xfrm>
            <a:off x="640080" y="408744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Box 11"/>
          <p:cNvSpPr/>
          <p:nvPr/>
        </p:nvSpPr>
        <p:spPr>
          <a:xfrm>
            <a:off x="914400" y="42336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Взять большое q: блуждания крутятся в локальной окрестности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Rounded Rectangle 12"/>
          <p:cNvSpPr/>
          <p:nvPr/>
        </p:nvSpPr>
        <p:spPr>
          <a:xfrm>
            <a:off x="640080" y="477324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3" name="TextBox 13"/>
          <p:cNvSpPr/>
          <p:nvPr/>
        </p:nvSpPr>
        <p:spPr>
          <a:xfrm>
            <a:off x="914400" y="49194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Настройки не влияют, важна только размерность эмбеддинга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Rounded Rectangle 14"/>
          <p:cNvSpPr/>
          <p:nvPr/>
        </p:nvSpPr>
        <p:spPr>
          <a:xfrm>
            <a:off x="640080" y="545904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5" name="TextBox 15"/>
          <p:cNvSpPr/>
          <p:nvPr/>
        </p:nvSpPr>
        <p:spPr>
          <a:xfrm>
            <a:off x="914400" y="5605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Нужно увеличить длину блуждания до размера графа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3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ОТВЕТ НА ВОПРОС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Разбор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2" name="TextBox 7"/>
          <p:cNvSpPr/>
          <p:nvPr/>
        </p:nvSpPr>
        <p:spPr>
          <a:xfrm>
            <a:off x="640080" y="1481400"/>
            <a:ext cx="109112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Вы обучили node2vec на графе соцсети и хотите найти вершины с похожей структурной ролью (например, всех «мостиков» между сообществами). Как настроить блуждания?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Rounded Rectangle 8"/>
          <p:cNvSpPr/>
          <p:nvPr/>
        </p:nvSpPr>
        <p:spPr>
          <a:xfrm>
            <a:off x="640080" y="237744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4" name="TextBox 9"/>
          <p:cNvSpPr/>
          <p:nvPr/>
        </p:nvSpPr>
        <p:spPr>
          <a:xfrm>
            <a:off x="914400" y="248724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Взять маленькое q: блуждания уходят далеко от старта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Rounded Rectangle 10"/>
          <p:cNvSpPr/>
          <p:nvPr/>
        </p:nvSpPr>
        <p:spPr>
          <a:xfrm>
            <a:off x="640080" y="294444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cf0e6"/>
          </a:solidFill>
          <a:ln w="2540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6" name="TextBox 11"/>
          <p:cNvSpPr/>
          <p:nvPr/>
        </p:nvSpPr>
        <p:spPr>
          <a:xfrm>
            <a:off x="914400" y="305424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1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Взять большое q: блуждания крутятся в локальной окрестности</a:t>
            </a: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     ✓ правильный ответ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Rounded Rectangle 12"/>
          <p:cNvSpPr/>
          <p:nvPr/>
        </p:nvSpPr>
        <p:spPr>
          <a:xfrm>
            <a:off x="640080" y="351144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8" name="TextBox 13"/>
          <p:cNvSpPr/>
          <p:nvPr/>
        </p:nvSpPr>
        <p:spPr>
          <a:xfrm>
            <a:off x="914400" y="36208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Настройки не влияют, важна только размерность эмбеддинга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Rounded Rectangle 14"/>
          <p:cNvSpPr/>
          <p:nvPr/>
        </p:nvSpPr>
        <p:spPr>
          <a:xfrm>
            <a:off x="640080" y="407808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0" name="TextBox 15"/>
          <p:cNvSpPr/>
          <p:nvPr/>
        </p:nvSpPr>
        <p:spPr>
          <a:xfrm>
            <a:off x="914400" y="41878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Нужно увеличить длину блуждания до размера графа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Rounded Rectangle 16"/>
          <p:cNvSpPr/>
          <p:nvPr/>
        </p:nvSpPr>
        <p:spPr>
          <a:xfrm>
            <a:off x="640080" y="4782240"/>
            <a:ext cx="10911240" cy="1252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2" name="TextBox 17"/>
          <p:cNvSpPr/>
          <p:nvPr/>
        </p:nvSpPr>
        <p:spPr>
          <a:xfrm>
            <a:off x="960120" y="4992480"/>
            <a:ext cx="10271160" cy="95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Почему: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Структурная роль — это свойство ближайшей окрестности: сколько у вершины соседей, как они связаны между собой. Большое q заставляет блуждание топтаться рядом со стартом, и в контекст попадают именно локальные соседи. Маленькое q, наоборот, уводит вглубь — так ловится принадлежность к сообществу, а не роль.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4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3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Предсказание связей: как не обмануть себя?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5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ЗАДАЧА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Постановка задачи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Дан граф. Нужно предсказать, какие рёбра появятся или какие мы не увидели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Примеры: рекомендация друзей, предсказание взаимодействия белков, товар-рекомендации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Формально: для пары вершин выдать скор, насколько вероятна связь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Главная сложность не в модели, а в том, как построить выборку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6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СПЛИТ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строить обучающую выборку?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9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Box 8"/>
          <p:cNvSpPr/>
          <p:nvPr/>
        </p:nvSpPr>
        <p:spPr>
          <a:xfrm>
            <a:off x="914400" y="173736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исходный граф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1" name="Connector 9"/>
          <p:cNvCxnSpPr/>
          <p:nvPr/>
        </p:nvCxnSpPr>
        <p:spPr>
          <a:xfrm flipV="1">
            <a:off x="1883160" y="2425320"/>
            <a:ext cx="1902960" cy="1098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72" name="Connector 10"/>
          <p:cNvCxnSpPr/>
          <p:nvPr/>
        </p:nvCxnSpPr>
        <p:spPr>
          <a:xfrm>
            <a:off x="1840320" y="2671200"/>
            <a:ext cx="1028520" cy="8118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73" name="Connector 11"/>
          <p:cNvCxnSpPr/>
          <p:nvPr/>
        </p:nvCxnSpPr>
        <p:spPr>
          <a:xfrm>
            <a:off x="4033800" y="2609280"/>
            <a:ext cx="290160" cy="12006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74" name="Connector 12"/>
          <p:cNvCxnSpPr/>
          <p:nvPr/>
        </p:nvCxnSpPr>
        <p:spPr>
          <a:xfrm flipV="1">
            <a:off x="1498680" y="3622680"/>
            <a:ext cx="1327680" cy="1018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75" name="Connector 13"/>
          <p:cNvCxnSpPr/>
          <p:nvPr/>
        </p:nvCxnSpPr>
        <p:spPr>
          <a:xfrm>
            <a:off x="3219480" y="3664080"/>
            <a:ext cx="958680" cy="284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76" name="Connector 14"/>
          <p:cNvCxnSpPr/>
          <p:nvPr/>
        </p:nvCxnSpPr>
        <p:spPr>
          <a:xfrm flipH="1">
            <a:off x="2376360" y="3769920"/>
            <a:ext cx="532440" cy="7354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577" name="Oval 15"/>
          <p:cNvSpPr/>
          <p:nvPr/>
        </p:nvSpPr>
        <p:spPr>
          <a:xfrm>
            <a:off x="1481400" y="23454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Oval 16"/>
          <p:cNvSpPr/>
          <p:nvPr/>
        </p:nvSpPr>
        <p:spPr>
          <a:xfrm>
            <a:off x="3785760" y="221292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Oval 17"/>
          <p:cNvSpPr/>
          <p:nvPr/>
        </p:nvSpPr>
        <p:spPr>
          <a:xfrm>
            <a:off x="1097280" y="35388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Oval 18"/>
          <p:cNvSpPr/>
          <p:nvPr/>
        </p:nvSpPr>
        <p:spPr>
          <a:xfrm>
            <a:off x="2825640" y="340632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Oval 19"/>
          <p:cNvSpPr/>
          <p:nvPr/>
        </p:nvSpPr>
        <p:spPr>
          <a:xfrm>
            <a:off x="4169520" y="380376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Oval 20"/>
          <p:cNvSpPr/>
          <p:nvPr/>
        </p:nvSpPr>
        <p:spPr>
          <a:xfrm>
            <a:off x="2057400" y="44668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Box 21"/>
          <p:cNvSpPr/>
          <p:nvPr/>
        </p:nvSpPr>
        <p:spPr>
          <a:xfrm>
            <a:off x="6400800" y="1737360"/>
            <a:ext cx="4388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обучаемся на этом, предсказываем скрытые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4" name="Connector 22"/>
          <p:cNvCxnSpPr/>
          <p:nvPr/>
        </p:nvCxnSpPr>
        <p:spPr>
          <a:xfrm flipV="1">
            <a:off x="7479360" y="2423880"/>
            <a:ext cx="2232000" cy="112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85" name="Connector 23"/>
          <p:cNvCxnSpPr/>
          <p:nvPr/>
        </p:nvCxnSpPr>
        <p:spPr>
          <a:xfrm>
            <a:off x="9965520" y="2607840"/>
            <a:ext cx="332280" cy="12034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86" name="Connector 24"/>
          <p:cNvCxnSpPr/>
          <p:nvPr/>
        </p:nvCxnSpPr>
        <p:spPr>
          <a:xfrm flipV="1">
            <a:off x="7040160" y="3620520"/>
            <a:ext cx="1574280" cy="1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87" name="Connector 25"/>
          <p:cNvCxnSpPr/>
          <p:nvPr/>
        </p:nvCxnSpPr>
        <p:spPr>
          <a:xfrm flipH="1">
            <a:off x="8065080" y="3762000"/>
            <a:ext cx="621720" cy="7513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588" name="Oval 26"/>
          <p:cNvSpPr/>
          <p:nvPr/>
        </p:nvSpPr>
        <p:spPr>
          <a:xfrm>
            <a:off x="7077600" y="23454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Oval 27"/>
          <p:cNvSpPr/>
          <p:nvPr/>
        </p:nvSpPr>
        <p:spPr>
          <a:xfrm>
            <a:off x="9711000" y="221292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Oval 28"/>
          <p:cNvSpPr/>
          <p:nvPr/>
        </p:nvSpPr>
        <p:spPr>
          <a:xfrm>
            <a:off x="6638400" y="35388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Oval 29"/>
          <p:cNvSpPr/>
          <p:nvPr/>
        </p:nvSpPr>
        <p:spPr>
          <a:xfrm>
            <a:off x="8613720" y="340632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Oval 30"/>
          <p:cNvSpPr/>
          <p:nvPr/>
        </p:nvSpPr>
        <p:spPr>
          <a:xfrm>
            <a:off x="10149840" y="380376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Oval 31"/>
          <p:cNvSpPr/>
          <p:nvPr/>
        </p:nvSpPr>
        <p:spPr>
          <a:xfrm>
            <a:off x="7735680" y="44668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Box 32"/>
          <p:cNvSpPr/>
          <p:nvPr/>
        </p:nvSpPr>
        <p:spPr>
          <a:xfrm>
            <a:off x="640080" y="502920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Часть рёбер прячем — это позитивные примеры теста. Столько же несуществующих пар берём как негативные. Модель видит только левый граф без спрятанных рёбер.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9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УТЕЧКИ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Три способа испортить себе метрику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Оставить спрятанные рёбра в графе, по которому считаются признаки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классика: посчитали Adamic–Adar по полному графу — получили почти единицу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Взять негативы неправдоподобно лёгкими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случайная пара из миллиона вершин почти наверняка не связана — задача становится тривиальной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Игнорировать время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если граф растёт во времени, случайный сплит даёт заглядывание в будущее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0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0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МЕТРИКИ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Чем измеряют качество?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608" name="Table 7"/>
          <p:cNvGraphicFramePr/>
          <p:nvPr/>
        </p:nvGraphicFramePr>
        <p:xfrm>
          <a:off x="640080" y="1664280"/>
          <a:ext cx="10911240" cy="2170440"/>
        </p:xfrm>
        <a:graphic>
          <a:graphicData uri="http://schemas.openxmlformats.org/drawingml/2006/table">
            <a:tbl>
              <a:tblPr/>
              <a:tblGrid>
                <a:gridCol w="2181960"/>
                <a:gridCol w="4364280"/>
                <a:gridCol w="43642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Метрика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показывает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Когда использовать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ROC-AUC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вероятность, что реальное ребро получит скор выше случайной пары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сбалансированная задача, быстрый ориентир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Average Precision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площадь под precision-recall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когда позитивов сильно меньше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Hits@k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доля случаев, где верный ответ попал в топ-k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рекомендации, KG completion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MRR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средний обратный ранг верного ответа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когда важно место в топе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1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СКОР РЕБРА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из двух векторов получить скор ребра?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Скор ребра (u, v) — скалярное произведение векторов двух вершин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z_u · z_v = |z_u| · |z_v| · cos θ: длины векторов на косинус угла между ними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Косинус — то же сравнение без длин: смотрит только на направление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6" name="Picture 8" descr="l02_cosine.png"/>
          <p:cNvPicPr/>
          <p:nvPr/>
        </p:nvPicPr>
        <p:blipFill>
          <a:blip r:embed="rId1"/>
          <a:stretch/>
        </p:blipFill>
        <p:spPr>
          <a:xfrm>
            <a:off x="1737360" y="3063240"/>
            <a:ext cx="8686440" cy="2977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2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ЧЕСТНЫЙ ЗАМЕР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Эвристика против эмбеддингов: ROC-AUC на трёх графах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623" name="Table 7"/>
          <p:cNvGraphicFramePr/>
          <p:nvPr/>
        </p:nvGraphicFramePr>
        <p:xfrm>
          <a:off x="640080" y="1664280"/>
          <a:ext cx="10911240" cy="1682280"/>
        </p:xfrm>
        <a:graphic>
          <a:graphicData uri="http://schemas.openxmlformats.org/drawingml/2006/table">
            <a:tbl>
              <a:tblPr/>
              <a:tblGrid>
                <a:gridCol w="3083400"/>
                <a:gridCol w="2372040"/>
                <a:gridCol w="3320640"/>
                <a:gridCol w="21348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Граф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Adamic–Adar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Скалярное произведение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Косинус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Karate club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0.809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0.844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0.831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Les Miserables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0.955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0.912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0.855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Davis southern women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0.294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0.709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0.647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4" name="TextBox 8"/>
          <p:cNvSpPr/>
          <p:nvPr/>
        </p:nvSpPr>
        <p:spPr>
          <a:xfrm>
            <a:off x="640080" y="420624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Скалярное произведение и косинус считаются по одним и тем же векторам. Скалярное произведение на всех трёх графах чуть лучше: длины векторов тоже добавляют сигнал. Adamic–Adar выигрывает на плотном Les Misérables и проваливается на двудольном графе — почему, разберём дальше.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2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РАЗБОР РЕЗУЛЬТАТОВ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Где эвристика бьёт эмбеддинги, а где проваливается?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1" name="TextBox 7"/>
          <p:cNvSpPr/>
          <p:nvPr/>
        </p:nvSpPr>
        <p:spPr>
          <a:xfrm>
            <a:off x="640080" y="1481400"/>
            <a:ext cx="69490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Les Misérables: Adamic–Adar 0.955 против 0.912 у эмбеддингов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плотный граф, у связанных героев много общих знакомых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Клуб карате: 0.809 против 0.844 — почти ничья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Двудольный граф «женщины и мероприятия»: 0.294 против 0.709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эвристика проваливается ниже случайного угадывания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Почему? В двудольном графе у связанных вершин общих соседей не бывает по определению: женщина и мероприятие никогда не соседи друг другу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2" name="Connector 8"/>
          <p:cNvCxnSpPr/>
          <p:nvPr/>
        </p:nvCxnSpPr>
        <p:spPr>
          <a:xfrm>
            <a:off x="9375840" y="2334960"/>
            <a:ext cx="1365120" cy="313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3" name="Connector 9"/>
          <p:cNvCxnSpPr/>
          <p:nvPr/>
        </p:nvCxnSpPr>
        <p:spPr>
          <a:xfrm flipV="1">
            <a:off x="9367200" y="2775600"/>
            <a:ext cx="1382400" cy="529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4" name="Connector 10"/>
          <p:cNvCxnSpPr/>
          <p:nvPr/>
        </p:nvCxnSpPr>
        <p:spPr>
          <a:xfrm>
            <a:off x="9367200" y="3461400"/>
            <a:ext cx="1382400" cy="529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5" name="Connector 11"/>
          <p:cNvCxnSpPr/>
          <p:nvPr/>
        </p:nvCxnSpPr>
        <p:spPr>
          <a:xfrm flipV="1">
            <a:off x="9375840" y="4118040"/>
            <a:ext cx="1365120" cy="313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36" name="Oval 12"/>
          <p:cNvSpPr/>
          <p:nvPr/>
        </p:nvSpPr>
        <p:spPr>
          <a:xfrm>
            <a:off x="8942760" y="2066400"/>
            <a:ext cx="438480" cy="4384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ж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Oval 13"/>
          <p:cNvSpPr/>
          <p:nvPr/>
        </p:nvSpPr>
        <p:spPr>
          <a:xfrm>
            <a:off x="8942760" y="3163680"/>
            <a:ext cx="438480" cy="4384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ж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Oval 14"/>
          <p:cNvSpPr/>
          <p:nvPr/>
        </p:nvSpPr>
        <p:spPr>
          <a:xfrm>
            <a:off x="8942760" y="4260960"/>
            <a:ext cx="438480" cy="4384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ж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Oval 15"/>
          <p:cNvSpPr/>
          <p:nvPr/>
        </p:nvSpPr>
        <p:spPr>
          <a:xfrm>
            <a:off x="10735200" y="2477880"/>
            <a:ext cx="438480" cy="4384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М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Oval 16"/>
          <p:cNvSpPr/>
          <p:nvPr/>
        </p:nvSpPr>
        <p:spPr>
          <a:xfrm>
            <a:off x="10735200" y="3849480"/>
            <a:ext cx="438480" cy="4384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М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4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ИТОГ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Вывод блока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7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Сначала baseline из эвристик — он часто силён и стоит пять минут работы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Эмбеддинги выигрывают там, где эвристики слепы: двудольные графы, разреженные связи, длинные зависимости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9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4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Чего не умеют shallow-эмбеддинги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5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ОГРАНИЧЕНИЯ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Проблема первая: новая вершина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7" name="TextBox 7"/>
          <p:cNvSpPr/>
          <p:nvPr/>
        </p:nvSpPr>
        <p:spPr>
          <a:xfrm>
            <a:off x="640080" y="1481400"/>
            <a:ext cx="621756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Эмбеддинг — это строка в таблице, обученная под конкретную вершину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Пришёл новый пользователь — строки для него нет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Единственный выход: дообучать модель заново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проде новые вершины появляются каждую секунду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и есть transductive-режим из лекции 1. Нужен inductive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8" name="Connector 8"/>
          <p:cNvCxnSpPr/>
          <p:nvPr/>
        </p:nvCxnSpPr>
        <p:spPr>
          <a:xfrm flipV="1">
            <a:off x="8983080" y="2406240"/>
            <a:ext cx="1327680" cy="116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59" name="Connector 9"/>
          <p:cNvCxnSpPr/>
          <p:nvPr/>
        </p:nvCxnSpPr>
        <p:spPr>
          <a:xfrm flipH="1">
            <a:off x="8602920" y="2769120"/>
            <a:ext cx="126720" cy="1100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0" name="Connector 10"/>
          <p:cNvCxnSpPr/>
          <p:nvPr/>
        </p:nvCxnSpPr>
        <p:spPr>
          <a:xfrm flipH="1">
            <a:off x="10386000" y="2613600"/>
            <a:ext cx="126720" cy="1100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1" name="Connector 11"/>
          <p:cNvCxnSpPr/>
          <p:nvPr/>
        </p:nvCxnSpPr>
        <p:spPr>
          <a:xfrm flipV="1">
            <a:off x="8804520" y="3960720"/>
            <a:ext cx="1328040" cy="116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2" name="Connector 12"/>
          <p:cNvCxnSpPr/>
          <p:nvPr/>
        </p:nvCxnSpPr>
        <p:spPr>
          <a:xfrm>
            <a:off x="10517760" y="4106160"/>
            <a:ext cx="576000" cy="602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63" name="Oval 13"/>
          <p:cNvSpPr/>
          <p:nvPr/>
        </p:nvSpPr>
        <p:spPr>
          <a:xfrm>
            <a:off x="8526960" y="23133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4" name="Oval 14"/>
          <p:cNvSpPr/>
          <p:nvPr/>
        </p:nvSpPr>
        <p:spPr>
          <a:xfrm>
            <a:off x="10310040" y="2157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5" name="Oval 15"/>
          <p:cNvSpPr/>
          <p:nvPr/>
        </p:nvSpPr>
        <p:spPr>
          <a:xfrm>
            <a:off x="8348400" y="3867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6" name="Oval 16"/>
          <p:cNvSpPr/>
          <p:nvPr/>
        </p:nvSpPr>
        <p:spPr>
          <a:xfrm>
            <a:off x="10131480" y="37123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7" name="Oval 17"/>
          <p:cNvSpPr/>
          <p:nvPr/>
        </p:nvSpPr>
        <p:spPr>
          <a:xfrm>
            <a:off x="11023200" y="464508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?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Box 18"/>
          <p:cNvSpPr/>
          <p:nvPr/>
        </p:nvSpPr>
        <p:spPr>
          <a:xfrm>
            <a:off x="7863840" y="52120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Для оранжевой вершины таблица эмбеддингов ничего не знает.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7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МАСШТАБ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Сколько весит таблица эмбеддингов?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675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3637080"/>
                <a:gridCol w="3152160"/>
                <a:gridCol w="41220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Граф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Таблица при d = 128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Cora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2 708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1.39 МБ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ogbn-arxiv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169 343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86.7 МБ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ogbn-products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2 449 029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 ГБ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соцсеть на 1 млрд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1 000 000 000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512 ГБ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76" name="TextBox 8"/>
          <p:cNvSpPr/>
          <p:nvPr/>
        </p:nvSpPr>
        <p:spPr>
          <a:xfrm>
            <a:off x="640080" y="420624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И это только параметры модели, без графа и признаков. Для сравнения: у графовой сети из лекции 3 число параметров не зависит от количества вершин вообще.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8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ИТОГ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Четыре ограничения, из которых выросли графовые сети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683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3637080"/>
                <a:gridCol w="727416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Ограничение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это значит на практике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Transductive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новая вершина требует переобучения всей модели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Число параметров O(|V| · d)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миллион вершин × 128 чисел — это сотни мегабайт только на таблицу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Признаки вершин не используются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возраст аккаунта, текст статьи, тип атома — всё игнорируется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 общих весов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каждая вершина учится сама по себе, знания между ними не переносятся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8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8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ПРОВЕРЬ СЕБЯ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Вопрос аудитории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0" name="TextBox 7"/>
          <p:cNvSpPr/>
          <p:nvPr/>
        </p:nvSpPr>
        <p:spPr>
          <a:xfrm>
            <a:off x="640080" y="14814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22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Какой из этих признаков shallow-эмбеддинги использовать не могут в принципе?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Rounded Rectangle 8"/>
          <p:cNvSpPr/>
          <p:nvPr/>
        </p:nvSpPr>
        <p:spPr>
          <a:xfrm>
            <a:off x="640080" y="28987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2" name="TextBox 9"/>
          <p:cNvSpPr/>
          <p:nvPr/>
        </p:nvSpPr>
        <p:spPr>
          <a:xfrm>
            <a:off x="914400" y="30448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Степень вершины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Rounded Rectangle 10"/>
          <p:cNvSpPr/>
          <p:nvPr/>
        </p:nvSpPr>
        <p:spPr>
          <a:xfrm>
            <a:off x="640080" y="35845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Box 11"/>
          <p:cNvSpPr/>
          <p:nvPr/>
        </p:nvSpPr>
        <p:spPr>
          <a:xfrm>
            <a:off x="914400" y="37306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Принадлежность к плотному сообществу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Rounded Rectangle 12"/>
          <p:cNvSpPr/>
          <p:nvPr/>
        </p:nvSpPr>
        <p:spPr>
          <a:xfrm>
            <a:off x="640080" y="42703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6" name="TextBox 13"/>
          <p:cNvSpPr/>
          <p:nvPr/>
        </p:nvSpPr>
        <p:spPr>
          <a:xfrm>
            <a:off x="914400" y="44164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Текст статьи, которую представляет вершина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Rounded Rectangle 14"/>
          <p:cNvSpPr/>
          <p:nvPr/>
        </p:nvSpPr>
        <p:spPr>
          <a:xfrm>
            <a:off x="640080" y="49561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8" name="TextBox 15"/>
          <p:cNvSpPr/>
          <p:nvPr/>
        </p:nvSpPr>
        <p:spPr>
          <a:xfrm>
            <a:off x="914400" y="51022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Расстояние до конкретной вершины-хаба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0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ОТВЕТ НА ВОПРОС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Разбор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5" name="TextBox 7"/>
          <p:cNvSpPr/>
          <p:nvPr/>
        </p:nvSpPr>
        <p:spPr>
          <a:xfrm>
            <a:off x="640080" y="1481400"/>
            <a:ext cx="10911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Какой из этих признаков shallow-эмбеддинги использовать не могут в принципе?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Rounded Rectangle 8"/>
          <p:cNvSpPr/>
          <p:nvPr/>
        </p:nvSpPr>
        <p:spPr>
          <a:xfrm>
            <a:off x="640080" y="2066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7" name="TextBox 9"/>
          <p:cNvSpPr/>
          <p:nvPr/>
        </p:nvSpPr>
        <p:spPr>
          <a:xfrm>
            <a:off x="914400" y="2176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Степень вершины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Rounded Rectangle 10"/>
          <p:cNvSpPr/>
          <p:nvPr/>
        </p:nvSpPr>
        <p:spPr>
          <a:xfrm>
            <a:off x="640080" y="2633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9" name="TextBox 11"/>
          <p:cNvSpPr/>
          <p:nvPr/>
        </p:nvSpPr>
        <p:spPr>
          <a:xfrm>
            <a:off x="914400" y="2743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Принадлежность к плотному сообществу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Rounded Rectangle 12"/>
          <p:cNvSpPr/>
          <p:nvPr/>
        </p:nvSpPr>
        <p:spPr>
          <a:xfrm>
            <a:off x="640080" y="3200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cf0e6"/>
          </a:solidFill>
          <a:ln w="2540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1" name="TextBox 13"/>
          <p:cNvSpPr/>
          <p:nvPr/>
        </p:nvSpPr>
        <p:spPr>
          <a:xfrm>
            <a:off x="914400" y="3310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1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Текст статьи, которую представляет вершина</a:t>
            </a: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     ✓ правильный ответ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Rounded Rectangle 14"/>
          <p:cNvSpPr/>
          <p:nvPr/>
        </p:nvSpPr>
        <p:spPr>
          <a:xfrm>
            <a:off x="640080" y="3767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3" name="TextBox 15"/>
          <p:cNvSpPr/>
          <p:nvPr/>
        </p:nvSpPr>
        <p:spPr>
          <a:xfrm>
            <a:off x="914400" y="3877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Расстояние до конкретной вершины-хаба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Rounded Rectangle 16"/>
          <p:cNvSpPr/>
          <p:nvPr/>
        </p:nvSpPr>
        <p:spPr>
          <a:xfrm>
            <a:off x="640080" y="4471560"/>
            <a:ext cx="10911240" cy="15631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5" name="TextBox 17"/>
          <p:cNvSpPr/>
          <p:nvPr/>
        </p:nvSpPr>
        <p:spPr>
          <a:xfrm>
            <a:off x="960120" y="4681800"/>
            <a:ext cx="10271160" cy="12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Почему: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Первые два и четвёртый — чисто структурные свойства, они так или иначе отражаются в блужданиях. А вот признаки самой вершины (текст, возраст аккаунта, тип атома) в модель не попадают вовсе: на входе у неё только идентификатор вершины и структура связей. Именно это ограничение снимут графовые нейросети.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1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МОСТИК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если сделать энкодер функцией, а не таблицей?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Пусть вектор вершины считается из её признаков и признаков соседей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Тогда новая вершина получит эмбеддинг сразу, без дообучения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Веса общие для всех вершин — их число не зависит от размера графа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вершин используются по построению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ровно определение graph neural network. Лекция 3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4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5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Что дальше?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2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5 · ПРАКТИКА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Практика 2: что напишем?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2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3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Своими руками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Случайные блуждания, включая node2vec с параметрами p и q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Skip-gram с negative sampling на numpy — без gensim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Обучение эмбеддингов на Cora и клубе карате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6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Проверим на деле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Визуализация эмбеддингов в 2D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Link prediction с честным сплитом рёбер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Скалярное произведение против косинуса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Сравнение с Adamic–Adar: кто кого и почему?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41" name="TextBox 4"/>
          <p:cNvSpPr/>
          <p:nvPr/>
        </p:nvSpPr>
        <p:spPr>
          <a:xfrm>
            <a:off x="640080" y="3841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забрать с собой?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Rectangle 5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3" name="Oval 6"/>
          <p:cNvSpPr/>
          <p:nvPr/>
        </p:nvSpPr>
        <p:spPr>
          <a:xfrm>
            <a:off x="640080" y="166428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Box 7"/>
          <p:cNvSpPr/>
          <p:nvPr/>
        </p:nvSpPr>
        <p:spPr>
          <a:xfrm>
            <a:off x="1417320" y="168264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Эмбеддинг — обученный вектор вершины; всё решает выбор того, что считать похожестью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Oval 8"/>
          <p:cNvSpPr/>
          <p:nvPr/>
        </p:nvSpPr>
        <p:spPr>
          <a:xfrm>
            <a:off x="640080" y="262440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Box 9"/>
          <p:cNvSpPr/>
          <p:nvPr/>
        </p:nvSpPr>
        <p:spPr>
          <a:xfrm>
            <a:off x="1417320" y="264276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DeepWalk и node2vec сводят граф к «предложениям» и учат skip-gram с negative sampling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Oval 10"/>
          <p:cNvSpPr/>
          <p:nvPr/>
        </p:nvSpPr>
        <p:spPr>
          <a:xfrm>
            <a:off x="640080" y="358452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Box 11"/>
          <p:cNvSpPr/>
          <p:nvPr/>
        </p:nvSpPr>
        <p:spPr>
          <a:xfrm>
            <a:off x="1417320" y="360288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link prediction сплит и негативы важнее модели: утечка даёт красивую и бессмысленную метрику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Oval 12"/>
          <p:cNvSpPr/>
          <p:nvPr/>
        </p:nvSpPr>
        <p:spPr>
          <a:xfrm>
            <a:off x="640080" y="454464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Box 13"/>
          <p:cNvSpPr/>
          <p:nvPr/>
        </p:nvSpPr>
        <p:spPr>
          <a:xfrm>
            <a:off x="1417320" y="456300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Shallow-эмбеддинги не работают с новыми вершинами и не видят признаков — отсюда растут GNN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54" name="TextBox 4"/>
          <p:cNvSpPr/>
          <p:nvPr/>
        </p:nvSpPr>
        <p:spPr>
          <a:xfrm>
            <a:off x="640080" y="3841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Литература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Rectangle 5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Box 6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Perozzi et al., 2014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DeepWalk: Online Learning of Social Representations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Grover &amp; Leskovec, 2016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node2vec: Scalable Feature Learning for Networks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Mikolov et al., 2013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Distributed Representations of Words and Phrases (negative sampling)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Qiu et al., 2018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Network Embedding as Matrix Factorization (NetMF)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Hamilton, 2020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Graph Representation Learning Book, глава 3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LibreOffice/25.8.3.2$MacOSX_AARCH64 LibreOffice_project/8ca8d55c161d602844f5428fa4b58097424e324e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ru-RU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