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_rels/slide61.xml.rels" ContentType="application/vnd.openxmlformats-package.relationships+xml"/>
  <Override PartName="/ppt/slides/_rels/slide46.xml.rels" ContentType="application/vnd.openxmlformats-package.relationships+xml"/>
  <Override PartName="/ppt/slides/_rels/slide58.xml.rels" ContentType="application/vnd.openxmlformats-package.relationships+xml"/>
  <Override PartName="/ppt/slides/_rels/slide60.xml.rels" ContentType="application/vnd.openxmlformats-package.relationships+xml"/>
  <Override PartName="/ppt/slides/_rels/slide27.xml.rels" ContentType="application/vnd.openxmlformats-package.relationships+xml"/>
  <Override PartName="/ppt/slides/_rels/slide5.xml.rels" ContentType="application/vnd.openxmlformats-package.relationships+xml"/>
  <Override PartName="/ppt/slides/_rels/slide54.xml.rels" ContentType="application/vnd.openxmlformats-package.relationships+xml"/>
  <Override PartName="/ppt/slides/_rels/slide57.xml.rels" ContentType="application/vnd.openxmlformats-package.relationships+xml"/>
  <Override PartName="/ppt/slides/_rels/slide52.xml.rels" ContentType="application/vnd.openxmlformats-package.relationships+xml"/>
  <Override PartName="/ppt/slides/_rels/slide50.xml.rels" ContentType="application/vnd.openxmlformats-package.relationships+xml"/>
  <Override PartName="/ppt/slides/_rels/slide9.xml.rels" ContentType="application/vnd.openxmlformats-package.relationships+xml"/>
  <Override PartName="/ppt/slides/_rels/slide48.xml.rels" ContentType="application/vnd.openxmlformats-package.relationships+xml"/>
  <Override PartName="/ppt/slides/_rels/slide8.xml.rels" ContentType="application/vnd.openxmlformats-package.relationships+xml"/>
  <Override PartName="/ppt/slides/_rels/slide40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30.xml.rels" ContentType="application/vnd.openxmlformats-package.relationships+xml"/>
  <Override PartName="/ppt/slides/_rels/slide47.xml.rels" ContentType="application/vnd.openxmlformats-package.relationships+xml"/>
  <Override PartName="/ppt/slides/_rels/slide42.xml.rels" ContentType="application/vnd.openxmlformats-package.relationships+xml"/>
  <Override PartName="/ppt/slides/_rels/slide2.xml.rels" ContentType="application/vnd.openxmlformats-package.relationships+xml"/>
  <Override PartName="/ppt/slides/_rels/slide43.xml.rels" ContentType="application/vnd.openxmlformats-package.relationships+xml"/>
  <Override PartName="/ppt/slides/_rels/slide6.xml.rels" ContentType="application/vnd.openxmlformats-package.relationships+xml"/>
  <Override PartName="/ppt/slides/_rels/slide39.xml.rels" ContentType="application/vnd.openxmlformats-package.relationships+xml"/>
  <Override PartName="/ppt/slides/_rels/slide1.xml.rels" ContentType="application/vnd.openxmlformats-package.relationships+xml"/>
  <Override PartName="/ppt/slides/_rels/slide44.xml.rels" ContentType="application/vnd.openxmlformats-package.relationships+xml"/>
  <Override PartName="/ppt/slides/_rels/slide41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59.xml.rels" ContentType="application/vnd.openxmlformats-package.relationships+xml"/>
  <Override PartName="/ppt/slides/_rels/slide35.xml.rels" ContentType="application/vnd.openxmlformats-package.relationships+xml"/>
  <Override PartName="/ppt/slides/_rels/slide32.xml.rels" ContentType="application/vnd.openxmlformats-package.relationships+xml"/>
  <Override PartName="/ppt/slides/_rels/slide49.xml.rels" ContentType="application/vnd.openxmlformats-package.relationships+xml"/>
  <Override PartName="/ppt/slides/_rels/slide36.xml.rels" ContentType="application/vnd.openxmlformats-package.relationships+xml"/>
  <Override PartName="/ppt/slides/_rels/slide29.xml.rels" ContentType="application/vnd.openxmlformats-package.relationships+xml"/>
  <Override PartName="/ppt/slides/_rels/slide45.xml.rels" ContentType="application/vnd.openxmlformats-package.relationships+xml"/>
  <Override PartName="/ppt/slides/_rels/slide26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55.xml.rels" ContentType="application/vnd.openxmlformats-package.relationships+xml"/>
  <Override PartName="/ppt/slides/_rels/slide22.xml.rels" ContentType="application/vnd.openxmlformats-package.relationships+xml"/>
  <Override PartName="/ppt/slides/_rels/slide31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53.xml.rels" ContentType="application/vnd.openxmlformats-package.relationships+xml"/>
  <Override PartName="/ppt/slides/_rels/slide11.xml.rels" ContentType="application/vnd.openxmlformats-package.relationships+xml"/>
  <Override PartName="/ppt/slides/_rels/slide15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28.xml.rels" ContentType="application/vnd.openxmlformats-package.relationships+xml"/>
  <Override PartName="/ppt/slides/_rels/slide24.xml.rels" ContentType="application/vnd.openxmlformats-package.relationships+xml"/>
  <Override PartName="/ppt/slides/_rels/slide56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56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s/slide61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5.png" ContentType="image/png"/>
  <Override PartName="/ppt/media/image13.png" ContentType="image/png"/>
  <Override PartName="/ppt/media/image4.png" ContentType="image/png"/>
  <Override PartName="/ppt/media/image6.png" ContentType="image/png"/>
  <Override PartName="/ppt/media/image14.png" ContentType="image/png"/>
  <Override PartName="/ppt/media/image8.png" ContentType="image/png"/>
  <Override PartName="/ppt/media/image15.png" ContentType="image/png"/>
  <Override PartName="/ppt/media/image10.png" ContentType="image/png"/>
  <Override PartName="/ppt/media/image7.png" ContentType="image/png"/>
  <Override PartName="/ppt/media/image2.png" ContentType="image/png"/>
  <Override PartName="/ppt/media/image9.png" ContentType="image/png"/>
  <Override PartName="/ppt/media/image11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52DA9E-ACB3-423C-BDF0-680A337112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83A756-B7FF-43FE-9BE0-8C41615626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199637-CB78-46E4-8B8C-3F328CBD44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66F376-6636-4CA5-85F3-8FF1428B98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AE3A4A-0BE6-4E0D-87D3-6BBF5B1F91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21E485-A7A6-4068-80DD-1C172F105C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3DD4F2-332E-4266-BF83-5A6291AA59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4F10B7-44DD-4544-A758-DC62CA8767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97EE50-479B-4C36-AC03-CAB2B6615E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17254C-48A6-416D-BF45-13E93386636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C14967-1F8C-4C35-83B5-9A578E65C12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005840" y="20574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ЛЕКЦИЯ 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005840" y="260604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Машинное обучение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на графах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005840" y="41148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Задачи, данные и классические подходы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1005840" y="4892040"/>
            <a:ext cx="2743200" cy="360"/>
          </a:xfrm>
          <a:prstGeom prst="straightConnector1">
            <a:avLst/>
          </a:prstGeom>
          <a:ln w="12700">
            <a:solidFill>
              <a:srgbClr val="d8dee7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1005840" y="50749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ОРГАНИЗАЦИЯ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Чему вы научитесь за курс?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Понимать, когда графовая постановка задачи даёт выигрыш, а когда это оверинжиниринг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Писать graph neural networks руками, а не только вызывать готовые слои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Диагностировать модель: почему она не учится, где переобучилась, где утечка в сплите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Работать с гетерогенными, временными и очень большими графами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Ориентироваться в современных подходах: graph transformers, self-supervised, графы и LLM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ОРГАНИЗАЦИЯ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нам понадобится?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7"/>
          <p:cNvSpPr/>
          <p:nvPr/>
        </p:nvSpPr>
        <p:spPr>
          <a:xfrm>
            <a:off x="640080" y="1481400"/>
            <a:ext cx="3441600" cy="1691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8" descr="python.png"/>
          <p:cNvPicPr/>
          <p:nvPr/>
        </p:nvPicPr>
        <p:blipFill>
          <a:blip r:embed="rId1"/>
          <a:stretch/>
        </p:blipFill>
        <p:spPr>
          <a:xfrm>
            <a:off x="896040" y="1719000"/>
            <a:ext cx="129384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9"/>
          <p:cNvSpPr/>
          <p:nvPr/>
        </p:nvSpPr>
        <p:spPr>
          <a:xfrm>
            <a:off x="896040" y="2267640"/>
            <a:ext cx="29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Python 3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896040" y="2597040"/>
            <a:ext cx="292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весь код курса — на нём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1"/>
          <p:cNvSpPr/>
          <p:nvPr/>
        </p:nvSpPr>
        <p:spPr>
          <a:xfrm>
            <a:off x="4374720" y="1481400"/>
            <a:ext cx="3441600" cy="1691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Picture 12" descr="pytorch.png"/>
          <p:cNvPicPr/>
          <p:nvPr/>
        </p:nvPicPr>
        <p:blipFill>
          <a:blip r:embed="rId2"/>
          <a:stretch/>
        </p:blipFill>
        <p:spPr>
          <a:xfrm>
            <a:off x="4630680" y="1719000"/>
            <a:ext cx="191988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13"/>
          <p:cNvSpPr/>
          <p:nvPr/>
        </p:nvSpPr>
        <p:spPr>
          <a:xfrm>
            <a:off x="4630680" y="2267640"/>
            <a:ext cx="29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PyTorch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4630680" y="2597040"/>
            <a:ext cx="292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нейросети, автоград, обучение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5"/>
          <p:cNvSpPr/>
          <p:nvPr/>
        </p:nvSpPr>
        <p:spPr>
          <a:xfrm>
            <a:off x="8109360" y="1481400"/>
            <a:ext cx="3441600" cy="1691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16" descr="pyg.png"/>
          <p:cNvPicPr/>
          <p:nvPr/>
        </p:nvPicPr>
        <p:blipFill>
          <a:blip r:embed="rId3"/>
          <a:stretch/>
        </p:blipFill>
        <p:spPr>
          <a:xfrm>
            <a:off x="8365680" y="1719000"/>
            <a:ext cx="114192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17"/>
          <p:cNvSpPr/>
          <p:nvPr/>
        </p:nvSpPr>
        <p:spPr>
          <a:xfrm>
            <a:off x="8365680" y="2267640"/>
            <a:ext cx="29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PyTorch Geometric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8"/>
          <p:cNvSpPr/>
          <p:nvPr/>
        </p:nvSpPr>
        <p:spPr>
          <a:xfrm>
            <a:off x="8365680" y="2597040"/>
            <a:ext cx="292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основная библиотека курса: слои, датасеты, загрузчики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9"/>
          <p:cNvSpPr/>
          <p:nvPr/>
        </p:nvSpPr>
        <p:spPr>
          <a:xfrm>
            <a:off x="640080" y="3465720"/>
            <a:ext cx="3441600" cy="1691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0"/>
          <p:cNvSpPr/>
          <p:nvPr/>
        </p:nvSpPr>
        <p:spPr>
          <a:xfrm>
            <a:off x="896040" y="4251960"/>
            <a:ext cx="29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NetworkX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1"/>
          <p:cNvSpPr/>
          <p:nvPr/>
        </p:nvSpPr>
        <p:spPr>
          <a:xfrm>
            <a:off x="896040" y="4581000"/>
            <a:ext cx="292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классические алгоритмы на графах и визуализация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22"/>
          <p:cNvSpPr/>
          <p:nvPr/>
        </p:nvSpPr>
        <p:spPr>
          <a:xfrm>
            <a:off x="4374720" y="3465720"/>
            <a:ext cx="3441600" cy="1691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23" descr="colab.png"/>
          <p:cNvPicPr/>
          <p:nvPr/>
        </p:nvPicPr>
        <p:blipFill>
          <a:blip r:embed="rId4"/>
          <a:stretch/>
        </p:blipFill>
        <p:spPr>
          <a:xfrm>
            <a:off x="4630680" y="37033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24"/>
          <p:cNvSpPr/>
          <p:nvPr/>
        </p:nvSpPr>
        <p:spPr>
          <a:xfrm>
            <a:off x="4630680" y="4251960"/>
            <a:ext cx="29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Google Colab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5"/>
          <p:cNvSpPr/>
          <p:nvPr/>
        </p:nvSpPr>
        <p:spPr>
          <a:xfrm>
            <a:off x="4630680" y="4581000"/>
            <a:ext cx="292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бесплатная видеокарта, своя не нужна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26"/>
          <p:cNvSpPr/>
          <p:nvPr/>
        </p:nvSpPr>
        <p:spPr>
          <a:xfrm>
            <a:off x="8109360" y="3465720"/>
            <a:ext cx="3441600" cy="1691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27" descr="kaggle.png"/>
          <p:cNvPicPr/>
          <p:nvPr/>
        </p:nvPicPr>
        <p:blipFill>
          <a:blip r:embed="rId5"/>
          <a:stretch/>
        </p:blipFill>
        <p:spPr>
          <a:xfrm>
            <a:off x="8365680" y="3703320"/>
            <a:ext cx="10713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28"/>
          <p:cNvSpPr/>
          <p:nvPr/>
        </p:nvSpPr>
        <p:spPr>
          <a:xfrm>
            <a:off x="8365680" y="4251960"/>
            <a:ext cx="292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Kaggle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9"/>
          <p:cNvSpPr/>
          <p:nvPr/>
        </p:nvSpPr>
        <p:spPr>
          <a:xfrm>
            <a:off x="8365680" y="4581000"/>
            <a:ext cx="292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соревнование курса и лидерборд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ОРГАНИЗАЦИЯ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Где лежат материалы?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640080" y="1481400"/>
            <a:ext cx="69490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Слайды, ноутбуки, задания и решения — в репозитории курса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Слайды выкладываются до занятия, решения практик — после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Домашние задания и критерии оценки — в папке tasks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Описание соревнования и baseline — в папке kaggle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Нашли ошибку или опечатку? Заводите issue, это приветствуется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8" descr="qr_repo.png"/>
          <p:cNvPicPr/>
          <p:nvPr/>
        </p:nvPicPr>
        <p:blipFill>
          <a:blip r:embed="rId1"/>
          <a:stretch/>
        </p:blipFill>
        <p:spPr>
          <a:xfrm>
            <a:off x="9052560" y="2011680"/>
            <a:ext cx="2377080" cy="237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9"/>
          <p:cNvSpPr/>
          <p:nvPr/>
        </p:nvSpPr>
        <p:spPr>
          <a:xfrm>
            <a:off x="8275320" y="45720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github.com/rustam-azimov/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gnn-course-itmo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ОРГАНИЗАЦИЯ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устроен курс?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Занятия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8 лекций и 8 практик по полтора часа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 практике вы пишете код, а не смотрите, как его пишут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Решения выкладываются после занятия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Всё считается в бесплатном Colab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Работы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 домашних задания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Соревнование на Kaggle, стартует на третьей неделе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Командный проект по 2–3 человека, защита на последнем занятии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Экзамен: два вопроса по пройденным темам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2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ОРГАНИЗАЦИЯ · БАЛЛЫ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считаются баллы?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30" name="Table 7"/>
          <p:cNvGraphicFramePr/>
          <p:nvPr/>
        </p:nvGraphicFramePr>
        <p:xfrm>
          <a:off x="640080" y="1664280"/>
          <a:ext cx="10911240" cy="2944080"/>
        </p:xfrm>
        <a:graphic>
          <a:graphicData uri="http://schemas.openxmlformats.org/drawingml/2006/table">
            <a:tbl>
              <a:tblPr/>
              <a:tblGrid>
                <a:gridCol w="3250080"/>
                <a:gridCol w="1857240"/>
                <a:gridCol w="3714480"/>
                <a:gridCol w="20894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Сколько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Когда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Срок сдачи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Домашнее задание 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10 баллов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выдаётся после лекции 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недели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Домашнее задание 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10 баллов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выдаётся после лекции 5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недели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Домашнее задание 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10 баллов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выдаётся после лекции 7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 недели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Соревнование на Kaggle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20 баллов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старт на неделе 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 недель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Командный проект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25 баллов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тема выбирается после лекции 4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защита на неделе 8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Итого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75 баллов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ОРГАНИЗАЦИЯ · ОЦЕНКИ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получить автомат?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Допуск к экзамену — от 25 баллов, без этого к экзамену не пускают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Дальше пороги: 35 баллов — тройка, 45 — четвёрка, 55 — пятёрка автоматом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Просрочили дедлайн? Работа принимается, но баллы за неё делятся пополам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Не набрали на нужную оценку? Идёте на экзамен: два вопроса по пройденным темам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1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Зачем вообще нужны графы?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4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ОПРЕДЕЛЕНИЯ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Граф — это объекты и связи между ними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640080" y="1481400"/>
            <a:ext cx="5943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Вершины V — объекты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пользователи, атомы, статьи, счета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Рёбра E — связи между ними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дружба, химическая связь, цитирование, перевод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вершин и рёбер бывают признаки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возраст пользователя, тип связи, сумма перевода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Главное отличие от таблицы: объекты не независимы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Connector 8"/>
          <p:cNvCxnSpPr/>
          <p:nvPr/>
        </p:nvCxnSpPr>
        <p:spPr>
          <a:xfrm flipV="1">
            <a:off x="9231840" y="2122920"/>
            <a:ext cx="1084320" cy="201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49" name="Connector 9"/>
          <p:cNvCxnSpPr/>
          <p:nvPr/>
        </p:nvCxnSpPr>
        <p:spPr>
          <a:xfrm>
            <a:off x="9134640" y="2542320"/>
            <a:ext cx="565560" cy="926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0" name="Connector 10"/>
          <p:cNvCxnSpPr/>
          <p:nvPr/>
        </p:nvCxnSpPr>
        <p:spPr>
          <a:xfrm>
            <a:off x="10599480" y="2280600"/>
            <a:ext cx="417600" cy="1067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1" name="Connector 11"/>
          <p:cNvCxnSpPr/>
          <p:nvPr/>
        </p:nvCxnSpPr>
        <p:spPr>
          <a:xfrm>
            <a:off x="8521920" y="3648240"/>
            <a:ext cx="107748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2" name="Connector 12"/>
          <p:cNvCxnSpPr/>
          <p:nvPr/>
        </p:nvCxnSpPr>
        <p:spPr>
          <a:xfrm flipV="1">
            <a:off x="10019160" y="3561120"/>
            <a:ext cx="864720" cy="70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3" name="Connector 13"/>
          <p:cNvCxnSpPr/>
          <p:nvPr/>
        </p:nvCxnSpPr>
        <p:spPr>
          <a:xfrm flipH="1">
            <a:off x="9261720" y="3836520"/>
            <a:ext cx="454320" cy="909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4" name="Connector 14"/>
          <p:cNvCxnSpPr/>
          <p:nvPr/>
        </p:nvCxnSpPr>
        <p:spPr>
          <a:xfrm flipV="1">
            <a:off x="9377640" y="4874400"/>
            <a:ext cx="1042200" cy="50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5" name="Connector 15"/>
          <p:cNvCxnSpPr/>
          <p:nvPr/>
        </p:nvCxnSpPr>
        <p:spPr>
          <a:xfrm flipH="1">
            <a:off x="10699560" y="3742560"/>
            <a:ext cx="324360" cy="923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56" name="Oval 16"/>
          <p:cNvSpPr/>
          <p:nvPr/>
        </p:nvSpPr>
        <p:spPr>
          <a:xfrm>
            <a:off x="8814960" y="215244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Oval 17"/>
          <p:cNvSpPr/>
          <p:nvPr/>
        </p:nvSpPr>
        <p:spPr>
          <a:xfrm>
            <a:off x="10312560" y="187452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Oval 18"/>
          <p:cNvSpPr/>
          <p:nvPr/>
        </p:nvSpPr>
        <p:spPr>
          <a:xfrm>
            <a:off x="8101440" y="34380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Oval 19"/>
          <p:cNvSpPr/>
          <p:nvPr/>
        </p:nvSpPr>
        <p:spPr>
          <a:xfrm>
            <a:off x="9599400" y="343800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Oval 20"/>
          <p:cNvSpPr/>
          <p:nvPr/>
        </p:nvSpPr>
        <p:spPr>
          <a:xfrm>
            <a:off x="10883160" y="333396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Oval 21"/>
          <p:cNvSpPr/>
          <p:nvPr/>
        </p:nvSpPr>
        <p:spPr>
          <a:xfrm>
            <a:off x="8957520" y="472392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Oval 22"/>
          <p:cNvSpPr/>
          <p:nvPr/>
        </p:nvSpPr>
        <p:spPr>
          <a:xfrm>
            <a:off x="10419480" y="4654440"/>
            <a:ext cx="420120" cy="420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6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Пример первый: маленькая социальная сеть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70" name="Connector 8"/>
          <p:cNvCxnSpPr/>
          <p:nvPr/>
        </p:nvCxnSpPr>
        <p:spPr>
          <a:xfrm flipV="1">
            <a:off x="1871280" y="2121480"/>
            <a:ext cx="1560960" cy="255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1" name="Connector 9"/>
          <p:cNvCxnSpPr/>
          <p:nvPr/>
        </p:nvCxnSpPr>
        <p:spPr>
          <a:xfrm>
            <a:off x="1645920" y="2642400"/>
            <a:ext cx="360" cy="1090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2" name="Connector 10"/>
          <p:cNvCxnSpPr/>
          <p:nvPr/>
        </p:nvCxnSpPr>
        <p:spPr>
          <a:xfrm>
            <a:off x="3836520" y="2226600"/>
            <a:ext cx="1013760" cy="802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3" name="Connector 11"/>
          <p:cNvCxnSpPr/>
          <p:nvPr/>
        </p:nvCxnSpPr>
        <p:spPr>
          <a:xfrm>
            <a:off x="3671640" y="2312640"/>
            <a:ext cx="109080" cy="1749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4" name="Connector 12"/>
          <p:cNvCxnSpPr/>
          <p:nvPr/>
        </p:nvCxnSpPr>
        <p:spPr>
          <a:xfrm flipH="1">
            <a:off x="3963960" y="3324600"/>
            <a:ext cx="896040" cy="812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5" name="Connector 13"/>
          <p:cNvCxnSpPr/>
          <p:nvPr/>
        </p:nvCxnSpPr>
        <p:spPr>
          <a:xfrm>
            <a:off x="1788840" y="4139280"/>
            <a:ext cx="720000" cy="894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6" name="Connector 14"/>
          <p:cNvCxnSpPr/>
          <p:nvPr/>
        </p:nvCxnSpPr>
        <p:spPr>
          <a:xfrm flipH="1">
            <a:off x="2829600" y="4433760"/>
            <a:ext cx="787320" cy="635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77" name="Oval 15"/>
          <p:cNvSpPr/>
          <p:nvPr/>
        </p:nvSpPr>
        <p:spPr>
          <a:xfrm>
            <a:off x="1417320" y="21855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16"/>
          <p:cNvSpPr/>
          <p:nvPr/>
        </p:nvSpPr>
        <p:spPr>
          <a:xfrm>
            <a:off x="3429000" y="18561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Б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Oval 17"/>
          <p:cNvSpPr/>
          <p:nvPr/>
        </p:nvSpPr>
        <p:spPr>
          <a:xfrm>
            <a:off x="4800600" y="29426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Oval 18"/>
          <p:cNvSpPr/>
          <p:nvPr/>
        </p:nvSpPr>
        <p:spPr>
          <a:xfrm>
            <a:off x="3566160" y="40618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Oval 19"/>
          <p:cNvSpPr/>
          <p:nvPr/>
        </p:nvSpPr>
        <p:spPr>
          <a:xfrm>
            <a:off x="1417320" y="37324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Д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Oval 20"/>
          <p:cNvSpPr/>
          <p:nvPr/>
        </p:nvSpPr>
        <p:spPr>
          <a:xfrm>
            <a:off x="2423160" y="49834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Е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3" name="Table 21"/>
          <p:cNvGraphicFramePr/>
          <p:nvPr/>
        </p:nvGraphicFramePr>
        <p:xfrm>
          <a:off x="6035040" y="1920240"/>
          <a:ext cx="5486040" cy="2944080"/>
        </p:xfrm>
        <a:graphic>
          <a:graphicData uri="http://schemas.openxmlformats.org/drawingml/2006/table">
            <a:tbl>
              <a:tblPr/>
              <a:tblGrid>
                <a:gridCol w="1324080"/>
                <a:gridCol w="3026880"/>
                <a:gridCol w="11350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Кто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Друзья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Степень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Аня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Борис, Даша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Борис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Аня, Вера, Глеб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Борис, Глеб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Глеб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Борис, Вера, Егор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Даша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Аня, Егор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Егор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Даша, Глеб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84" name="TextBox 22"/>
          <p:cNvSpPr/>
          <p:nvPr/>
        </p:nvSpPr>
        <p:spPr>
          <a:xfrm>
            <a:off x="640080" y="553212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Шесть человек и семь дружб. Уже на таком размере видно: у Бориса и Глеба связей больше, а Аня с Верой не знакомы, хотя у них два общих друга.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8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Пример второй: молекула — это тоже граф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640080" y="1481400"/>
            <a:ext cx="64004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Вершины — атомы, рёбра — химические связи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Признаки вершины: тип атома, заряд, число водородов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Признаки ребра: одинарная, двойная, ароматическая связь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Свойство молекулы — это свойство всего графа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растворимость, токсичность, энергия связывания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Именно здесь графовые сети впервые обошли ручные дескрипторы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2" name="Connector 8"/>
          <p:cNvCxnSpPr/>
          <p:nvPr/>
        </p:nvCxnSpPr>
        <p:spPr>
          <a:xfrm>
            <a:off x="10208880" y="2194200"/>
            <a:ext cx="704880" cy="419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93" name="Connector 9"/>
          <p:cNvCxnSpPr/>
          <p:nvPr/>
        </p:nvCxnSpPr>
        <p:spPr>
          <a:xfrm>
            <a:off x="11109960" y="2958480"/>
            <a:ext cx="720" cy="848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94" name="Connector 10"/>
          <p:cNvCxnSpPr/>
          <p:nvPr/>
        </p:nvCxnSpPr>
        <p:spPr>
          <a:xfrm flipH="1">
            <a:off x="10209960" y="4152240"/>
            <a:ext cx="704520" cy="420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95" name="Connector 11"/>
          <p:cNvCxnSpPr/>
          <p:nvPr/>
        </p:nvCxnSpPr>
        <p:spPr>
          <a:xfrm flipH="1" flipV="1">
            <a:off x="9112320" y="4153680"/>
            <a:ext cx="704880" cy="418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96" name="Connector 12"/>
          <p:cNvCxnSpPr/>
          <p:nvPr/>
        </p:nvCxnSpPr>
        <p:spPr>
          <a:xfrm flipH="1" flipV="1">
            <a:off x="8914320" y="2960280"/>
            <a:ext cx="1440" cy="848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97" name="Connector 13"/>
          <p:cNvCxnSpPr/>
          <p:nvPr/>
        </p:nvCxnSpPr>
        <p:spPr>
          <a:xfrm flipV="1">
            <a:off x="9110520" y="2194200"/>
            <a:ext cx="705600" cy="420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98" name="Oval 14"/>
          <p:cNvSpPr/>
          <p:nvPr/>
        </p:nvSpPr>
        <p:spPr>
          <a:xfrm>
            <a:off x="9783720" y="18489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Oval 15"/>
          <p:cNvSpPr/>
          <p:nvPr/>
        </p:nvSpPr>
        <p:spPr>
          <a:xfrm>
            <a:off x="10881360" y="25012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Oval 16"/>
          <p:cNvSpPr/>
          <p:nvPr/>
        </p:nvSpPr>
        <p:spPr>
          <a:xfrm>
            <a:off x="10882080" y="38070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Oval 17"/>
          <p:cNvSpPr/>
          <p:nvPr/>
        </p:nvSpPr>
        <p:spPr>
          <a:xfrm>
            <a:off x="9785160" y="44604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Oval 18"/>
          <p:cNvSpPr/>
          <p:nvPr/>
        </p:nvSpPr>
        <p:spPr>
          <a:xfrm>
            <a:off x="8687160" y="38088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Oval 19"/>
          <p:cNvSpPr/>
          <p:nvPr/>
        </p:nvSpPr>
        <p:spPr>
          <a:xfrm>
            <a:off x="8685720" y="25030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0"/>
          <p:cNvSpPr/>
          <p:nvPr/>
        </p:nvSpPr>
        <p:spPr>
          <a:xfrm>
            <a:off x="7589520" y="51206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Бензольное кольцо: шесть атомов углерода, шесть ароматических связей.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0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МОТИВАЦИЯ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Один и тот же вопрос, два разных ответа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11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3060360"/>
                <a:gridCol w="3858840"/>
                <a:gridCol w="39916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Вопрос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видит табличная модель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добавляет граф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Этот пользователь — бот?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возраст аккаунта, частота постов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 кем он связан и кто связан с ними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Транзакция подозрительная?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сумма, время, геолокация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кольцо переводов между шестью счетами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Что порекомендовать?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категория и описание товара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что покупали вместе похожие люди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Молекула токсична?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молекулярная масса, число атомов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какие фрагменты и циклы в ней есть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1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АНТИФРОД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Почему структура ловит то, что не видно в строке?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640080" y="1481400"/>
            <a:ext cx="60346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Каждая транзакция по отдельности выглядит обычно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сумма небольшая, время рабочее, гео совпадает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 деньги ходят по замкнутому кольцу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шесть счетов, каждый переводит следующему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Табличная модель видит шесть нормальных строк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Графовая модель видит цикл длины 6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Connector 8"/>
          <p:cNvCxnSpPr/>
          <p:nvPr/>
        </p:nvCxnSpPr>
        <p:spPr>
          <a:xfrm>
            <a:off x="10086120" y="1989000"/>
            <a:ext cx="1028160" cy="612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20" name="Isosceles Triangle 9"/>
          <p:cNvSpPr/>
          <p:nvPr/>
        </p:nvSpPr>
        <p:spPr>
          <a:xfrm rot="7245600">
            <a:off x="11041200" y="25279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21" name="Connector 10"/>
          <p:cNvCxnSpPr/>
          <p:nvPr/>
        </p:nvCxnSpPr>
        <p:spPr>
          <a:xfrm>
            <a:off x="11278800" y="2891160"/>
            <a:ext cx="360" cy="10465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22" name="Isosceles Triangle 11"/>
          <p:cNvSpPr/>
          <p:nvPr/>
        </p:nvSpPr>
        <p:spPr>
          <a:xfrm rot="10800000">
            <a:off x="11206440" y="38646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23" name="Connector 12"/>
          <p:cNvCxnSpPr/>
          <p:nvPr/>
        </p:nvCxnSpPr>
        <p:spPr>
          <a:xfrm flipH="1">
            <a:off x="10086120" y="4227480"/>
            <a:ext cx="1028160" cy="612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24" name="Isosceles Triangle 13"/>
          <p:cNvSpPr/>
          <p:nvPr/>
        </p:nvSpPr>
        <p:spPr>
          <a:xfrm rot="14354400">
            <a:off x="10013040" y="4766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25" name="Connector 14"/>
          <p:cNvCxnSpPr/>
          <p:nvPr/>
        </p:nvCxnSpPr>
        <p:spPr>
          <a:xfrm flipH="1" flipV="1">
            <a:off x="8728200" y="4227480"/>
            <a:ext cx="1028160" cy="612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26" name="Isosceles Triangle 15"/>
          <p:cNvSpPr/>
          <p:nvPr/>
        </p:nvSpPr>
        <p:spPr>
          <a:xfrm rot="18045600">
            <a:off x="8655120" y="4154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27" name="Connector 16"/>
          <p:cNvCxnSpPr/>
          <p:nvPr/>
        </p:nvCxnSpPr>
        <p:spPr>
          <a:xfrm flipV="1">
            <a:off x="8563320" y="2891160"/>
            <a:ext cx="360" cy="10465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28" name="Isosceles Triangle 17"/>
          <p:cNvSpPr/>
          <p:nvPr/>
        </p:nvSpPr>
        <p:spPr>
          <a:xfrm>
            <a:off x="8490240" y="281808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29" name="Connector 18"/>
          <p:cNvCxnSpPr/>
          <p:nvPr/>
        </p:nvCxnSpPr>
        <p:spPr>
          <a:xfrm flipV="1">
            <a:off x="8728200" y="1989000"/>
            <a:ext cx="1028160" cy="612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30" name="Isosceles Triangle 19"/>
          <p:cNvSpPr/>
          <p:nvPr/>
        </p:nvSpPr>
        <p:spPr>
          <a:xfrm rot="3554400">
            <a:off x="9683280" y="19159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Oval 20"/>
          <p:cNvSpPr/>
          <p:nvPr/>
        </p:nvSpPr>
        <p:spPr>
          <a:xfrm>
            <a:off x="9729360" y="169884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Oval 21"/>
          <p:cNvSpPr/>
          <p:nvPr/>
        </p:nvSpPr>
        <p:spPr>
          <a:xfrm>
            <a:off x="11087280" y="250740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Oval 22"/>
          <p:cNvSpPr/>
          <p:nvPr/>
        </p:nvSpPr>
        <p:spPr>
          <a:xfrm>
            <a:off x="11087280" y="393732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Oval 23"/>
          <p:cNvSpPr/>
          <p:nvPr/>
        </p:nvSpPr>
        <p:spPr>
          <a:xfrm>
            <a:off x="9729360" y="474588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Oval 24"/>
          <p:cNvSpPr/>
          <p:nvPr/>
        </p:nvSpPr>
        <p:spPr>
          <a:xfrm>
            <a:off x="8371440" y="393732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Oval 25"/>
          <p:cNvSpPr/>
          <p:nvPr/>
        </p:nvSpPr>
        <p:spPr>
          <a:xfrm>
            <a:off x="8371440" y="250740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4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ПРАКТИКА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Где графовые модели уже работают в проде?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Поиск новых материалов: GNoME от DeepMind предсказала стабильность сотен тысяч кристаллов (Nature, 2023)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Время в пути в Google Maps: GNN на графе дорожных сегментов, до 50% точнее в ряде городов (2021)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Рекомендации в Pinterest: PinSAGE на графе из миллиардов пинов и досок (2018)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Химия и биология: предсказание свойств молекул, взаимодействий белков, дизайн лекарств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Антифрод и антиотмывание: банки ищут аномальные структуры переводов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Графы знаний и LLM: GraphRAG строит граф сущностей по корпусу текстов (Microsoft, 2024)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4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МАСШТАБЫ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Какого размера бывают графы?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50" name="Table 7"/>
          <p:cNvGraphicFramePr/>
          <p:nvPr/>
        </p:nvGraphicFramePr>
        <p:xfrm>
          <a:off x="640080" y="1664280"/>
          <a:ext cx="10911240" cy="2523240"/>
        </p:xfrm>
        <a:graphic>
          <a:graphicData uri="http://schemas.openxmlformats.org/drawingml/2006/table">
            <a:tbl>
              <a:tblPr/>
              <a:tblGrid>
                <a:gridCol w="2484720"/>
                <a:gridCol w="1944360"/>
                <a:gridCol w="2160360"/>
                <a:gridCol w="43210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Граф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Вершины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Рёбра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с ним делают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Karate club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34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78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учебный пример, всё считается мгновенно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Cora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2 708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5 429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классический бенчмарк классификации вершин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ogbn-arxiv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169 343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1 166 243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потолок бесплатного Colab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ogbn-products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2 449 029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61 859 140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нужен sampling, лекция 5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Граф вебстраниц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миллиарды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триллионы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распределённые системы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2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Задачи, представления, данные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5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ПОСТАНОВКА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Три уровня задач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8"/>
          <p:cNvSpPr/>
          <p:nvPr/>
        </p:nvSpPr>
        <p:spPr>
          <a:xfrm>
            <a:off x="822960" y="16916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Уровень вершины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2" name="Connector 9"/>
          <p:cNvCxnSpPr/>
          <p:nvPr/>
        </p:nvCxnSpPr>
        <p:spPr>
          <a:xfrm>
            <a:off x="1900440" y="2567520"/>
            <a:ext cx="1237320" cy="143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3" name="Connector 10"/>
          <p:cNvCxnSpPr/>
          <p:nvPr/>
        </p:nvCxnSpPr>
        <p:spPr>
          <a:xfrm flipH="1">
            <a:off x="1276200" y="2715480"/>
            <a:ext cx="373680" cy="908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4" name="Connector 11"/>
          <p:cNvCxnSpPr/>
          <p:nvPr/>
        </p:nvCxnSpPr>
        <p:spPr>
          <a:xfrm>
            <a:off x="1826640" y="2694240"/>
            <a:ext cx="808920" cy="1110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5" name="Connector 12"/>
          <p:cNvCxnSpPr/>
          <p:nvPr/>
        </p:nvCxnSpPr>
        <p:spPr>
          <a:xfrm flipH="1">
            <a:off x="2820960" y="2897280"/>
            <a:ext cx="420480" cy="889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6" name="Connector 13"/>
          <p:cNvCxnSpPr/>
          <p:nvPr/>
        </p:nvCxnSpPr>
        <p:spPr>
          <a:xfrm>
            <a:off x="1388880" y="3811680"/>
            <a:ext cx="1172520" cy="121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7" name="Connector 14"/>
          <p:cNvCxnSpPr/>
          <p:nvPr/>
        </p:nvCxnSpPr>
        <p:spPr>
          <a:xfrm>
            <a:off x="2917800" y="4006080"/>
            <a:ext cx="675000" cy="210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68" name="Oval 15"/>
          <p:cNvSpPr/>
          <p:nvPr/>
        </p:nvSpPr>
        <p:spPr>
          <a:xfrm>
            <a:off x="1536120" y="236376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Oval 16"/>
          <p:cNvSpPr/>
          <p:nvPr/>
        </p:nvSpPr>
        <p:spPr>
          <a:xfrm>
            <a:off x="3136320" y="254952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Oval 17"/>
          <p:cNvSpPr/>
          <p:nvPr/>
        </p:nvSpPr>
        <p:spPr>
          <a:xfrm>
            <a:off x="1024200" y="361008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Oval 18"/>
          <p:cNvSpPr/>
          <p:nvPr/>
        </p:nvSpPr>
        <p:spPr>
          <a:xfrm>
            <a:off x="2560320" y="376920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Oval 19"/>
          <p:cNvSpPr/>
          <p:nvPr/>
        </p:nvSpPr>
        <p:spPr>
          <a:xfrm>
            <a:off x="3584520" y="408744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20"/>
          <p:cNvSpPr/>
          <p:nvPr/>
        </p:nvSpPr>
        <p:spPr>
          <a:xfrm>
            <a:off x="4526280" y="16916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Уровень ребра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4" name="Connector 21"/>
          <p:cNvCxnSpPr/>
          <p:nvPr/>
        </p:nvCxnSpPr>
        <p:spPr>
          <a:xfrm>
            <a:off x="5603760" y="2567520"/>
            <a:ext cx="1237320" cy="143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75" name="Connector 22"/>
          <p:cNvCxnSpPr/>
          <p:nvPr/>
        </p:nvCxnSpPr>
        <p:spPr>
          <a:xfrm flipH="1">
            <a:off x="4979520" y="2715480"/>
            <a:ext cx="373680" cy="908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76" name="Connector 23"/>
          <p:cNvCxnSpPr/>
          <p:nvPr/>
        </p:nvCxnSpPr>
        <p:spPr>
          <a:xfrm>
            <a:off x="5529960" y="2694240"/>
            <a:ext cx="808920" cy="1110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77" name="Connector 24"/>
          <p:cNvCxnSpPr/>
          <p:nvPr/>
        </p:nvCxnSpPr>
        <p:spPr>
          <a:xfrm flipH="1">
            <a:off x="6524280" y="2897280"/>
            <a:ext cx="420480" cy="8895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78" name="Connector 25"/>
          <p:cNvCxnSpPr/>
          <p:nvPr/>
        </p:nvCxnSpPr>
        <p:spPr>
          <a:xfrm>
            <a:off x="5092200" y="3811680"/>
            <a:ext cx="1172520" cy="121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79" name="Connector 26"/>
          <p:cNvCxnSpPr/>
          <p:nvPr/>
        </p:nvCxnSpPr>
        <p:spPr>
          <a:xfrm>
            <a:off x="6621120" y="4006080"/>
            <a:ext cx="675000" cy="210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80" name="Oval 27"/>
          <p:cNvSpPr/>
          <p:nvPr/>
        </p:nvSpPr>
        <p:spPr>
          <a:xfrm>
            <a:off x="5239440" y="236376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Oval 28"/>
          <p:cNvSpPr/>
          <p:nvPr/>
        </p:nvSpPr>
        <p:spPr>
          <a:xfrm>
            <a:off x="6839640" y="254952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Oval 29"/>
          <p:cNvSpPr/>
          <p:nvPr/>
        </p:nvSpPr>
        <p:spPr>
          <a:xfrm>
            <a:off x="4727520" y="361008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Oval 30"/>
          <p:cNvSpPr/>
          <p:nvPr/>
        </p:nvSpPr>
        <p:spPr>
          <a:xfrm>
            <a:off x="6263640" y="376920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Oval 31"/>
          <p:cNvSpPr/>
          <p:nvPr/>
        </p:nvSpPr>
        <p:spPr>
          <a:xfrm>
            <a:off x="7287840" y="4087440"/>
            <a:ext cx="365400" cy="3654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32"/>
          <p:cNvSpPr/>
          <p:nvPr/>
        </p:nvSpPr>
        <p:spPr>
          <a:xfrm>
            <a:off x="8229600" y="16916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Уровень графа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6" name="Connector 33"/>
          <p:cNvCxnSpPr/>
          <p:nvPr/>
        </p:nvCxnSpPr>
        <p:spPr>
          <a:xfrm>
            <a:off x="9307080" y="2567520"/>
            <a:ext cx="1237320" cy="1436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87" name="Connector 34"/>
          <p:cNvCxnSpPr/>
          <p:nvPr/>
        </p:nvCxnSpPr>
        <p:spPr>
          <a:xfrm flipH="1">
            <a:off x="8682840" y="2715480"/>
            <a:ext cx="373680" cy="9086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88" name="Connector 35"/>
          <p:cNvCxnSpPr/>
          <p:nvPr/>
        </p:nvCxnSpPr>
        <p:spPr>
          <a:xfrm>
            <a:off x="9233280" y="2694240"/>
            <a:ext cx="808920" cy="11102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89" name="Connector 36"/>
          <p:cNvCxnSpPr/>
          <p:nvPr/>
        </p:nvCxnSpPr>
        <p:spPr>
          <a:xfrm flipH="1">
            <a:off x="10227600" y="2897280"/>
            <a:ext cx="420480" cy="8895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90" name="Connector 37"/>
          <p:cNvCxnSpPr/>
          <p:nvPr/>
        </p:nvCxnSpPr>
        <p:spPr>
          <a:xfrm>
            <a:off x="8795520" y="3811680"/>
            <a:ext cx="1172520" cy="1216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91" name="Connector 38"/>
          <p:cNvCxnSpPr/>
          <p:nvPr/>
        </p:nvCxnSpPr>
        <p:spPr>
          <a:xfrm>
            <a:off x="10324440" y="4006080"/>
            <a:ext cx="675000" cy="2102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92" name="Oval 39"/>
          <p:cNvSpPr/>
          <p:nvPr/>
        </p:nvSpPr>
        <p:spPr>
          <a:xfrm>
            <a:off x="8942760" y="236376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Oval 40"/>
          <p:cNvSpPr/>
          <p:nvPr/>
        </p:nvSpPr>
        <p:spPr>
          <a:xfrm>
            <a:off x="10542960" y="254952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Oval 41"/>
          <p:cNvSpPr/>
          <p:nvPr/>
        </p:nvSpPr>
        <p:spPr>
          <a:xfrm>
            <a:off x="8430840" y="361008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Oval 42"/>
          <p:cNvSpPr/>
          <p:nvPr/>
        </p:nvSpPr>
        <p:spPr>
          <a:xfrm>
            <a:off x="9966960" y="376920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Oval 43"/>
          <p:cNvSpPr/>
          <p:nvPr/>
        </p:nvSpPr>
        <p:spPr>
          <a:xfrm>
            <a:off x="10991160" y="4087440"/>
            <a:ext cx="365400" cy="3654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44"/>
          <p:cNvSpPr/>
          <p:nvPr/>
        </p:nvSpPr>
        <p:spPr>
          <a:xfrm>
            <a:off x="822960" y="4983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 какому классу относится вершина?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45"/>
          <p:cNvSpPr/>
          <p:nvPr/>
        </p:nvSpPr>
        <p:spPr>
          <a:xfrm>
            <a:off x="4526280" y="4983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есть ли связь между двумя вершинами?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46"/>
          <p:cNvSpPr/>
          <p:nvPr/>
        </p:nvSpPr>
        <p:spPr>
          <a:xfrm>
            <a:off x="8229600" y="49834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какое свойство у всего графа?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0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ПОСТАНОВКА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это выглядит на реальных задачах?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06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1909440"/>
                <a:gridCol w="3546000"/>
                <a:gridCol w="54554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Уровень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Задача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Пример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Вершина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классификация, регрессия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определить тематику статьи по цитированиям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Ребро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link prediction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предложить друга, предсказать взаимодействие белков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Подграф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поиск сообществ, аномалий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найти группу счетов, отмывающих деньги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Граф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классификация, регрессия, генерация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предсказать растворимость молекулы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1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РЕЖИМЫ ОБУЧЕНИЯ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Transductive или inductive?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Transductive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 один и известен целиком уже при обучении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Скрыты только метки части вершин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Пример: размечена часть статей Cora, нужно разметить остальные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Модель не обязана уметь работать с новыми вершинами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Inductive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Модель должна работать на вершинах и графах, которых не видела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Пример: пользователь зарегистрировался час назад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Пример: новая молекула, которой не было в обучении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 то, что почти всегда нужно в проде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2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ПРЕДСТАВЛЕНИЯ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Один граф — три записи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326" name="Connector 8"/>
          <p:cNvCxnSpPr/>
          <p:nvPr/>
        </p:nvCxnSpPr>
        <p:spPr>
          <a:xfrm flipV="1">
            <a:off x="1462320" y="2439360"/>
            <a:ext cx="1464480" cy="104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27" name="Connector 9"/>
          <p:cNvCxnSpPr/>
          <p:nvPr/>
        </p:nvCxnSpPr>
        <p:spPr>
          <a:xfrm>
            <a:off x="1384920" y="2732040"/>
            <a:ext cx="659160" cy="753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28" name="Connector 10"/>
          <p:cNvCxnSpPr/>
          <p:nvPr/>
        </p:nvCxnSpPr>
        <p:spPr>
          <a:xfrm flipH="1">
            <a:off x="2334600" y="2603520"/>
            <a:ext cx="680040" cy="873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29" name="Connector 11"/>
          <p:cNvCxnSpPr/>
          <p:nvPr/>
        </p:nvCxnSpPr>
        <p:spPr>
          <a:xfrm>
            <a:off x="2331720" y="3840480"/>
            <a:ext cx="549000" cy="731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330" name="Oval 12"/>
          <p:cNvSpPr/>
          <p:nvPr/>
        </p:nvSpPr>
        <p:spPr>
          <a:xfrm>
            <a:off x="1005840" y="23317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Oval 13"/>
          <p:cNvSpPr/>
          <p:nvPr/>
        </p:nvSpPr>
        <p:spPr>
          <a:xfrm>
            <a:off x="2926080" y="21945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Oval 14"/>
          <p:cNvSpPr/>
          <p:nvPr/>
        </p:nvSpPr>
        <p:spPr>
          <a:xfrm>
            <a:off x="1965960" y="34290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Oval 15"/>
          <p:cNvSpPr/>
          <p:nvPr/>
        </p:nvSpPr>
        <p:spPr>
          <a:xfrm>
            <a:off x="2788920" y="45262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4" name="Table 16"/>
          <p:cNvGraphicFramePr/>
          <p:nvPr/>
        </p:nvGraphicFramePr>
        <p:xfrm>
          <a:off x="4114800" y="2103120"/>
          <a:ext cx="2834280" cy="2102760"/>
        </p:xfrm>
        <a:graphic>
          <a:graphicData uri="http://schemas.openxmlformats.org/drawingml/2006/table">
            <a:tbl>
              <a:tblPr/>
              <a:tblGrid>
                <a:gridCol w="566640"/>
                <a:gridCol w="566640"/>
                <a:gridCol w="566640"/>
                <a:gridCol w="566640"/>
                <a:gridCol w="5666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335" name="Rounded Rectangle 17"/>
          <p:cNvSpPr/>
          <p:nvPr/>
        </p:nvSpPr>
        <p:spPr>
          <a:xfrm>
            <a:off x="7315200" y="2103120"/>
            <a:ext cx="4205880" cy="1965600"/>
          </a:xfrm>
          <a:prstGeom prst="roundRect">
            <a:avLst>
              <a:gd name="adj" fmla="val 4000"/>
            </a:avLst>
          </a:prstGeom>
          <a:solidFill>
            <a:srgbClr val="1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18"/>
          <p:cNvSpPr/>
          <p:nvPr/>
        </p:nvSpPr>
        <p:spPr>
          <a:xfrm>
            <a:off x="7607880" y="2359080"/>
            <a:ext cx="3620520" cy="14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2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# то же самое списком рёбер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2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edge_index = [[0, 0, 1, 2, 1, 2, 2, 3],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2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      [1, 2, 2, 3, 0, 0, 1, 2]]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2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# каждое ребро записано дважды: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2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# граф неориентированный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9"/>
          <p:cNvSpPr/>
          <p:nvPr/>
        </p:nvSpPr>
        <p:spPr>
          <a:xfrm>
            <a:off x="640080" y="53949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Матрица смежности удобна для формул, список рёбер — для памяти и вычислений. В PyTorch Geometric граф хранится именно как edge_index.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4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ПРЕДСТАВЛЕНИЯ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Разреженность — не оптимизация, а условие выживания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Плотная матрица смежности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Размер n × n независимо от числа рёбер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ogbn-arxiv: 169 343 вершины → 115 ГБ во float32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Не помещается ни в одну видеокарту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Удобна только для записи формул на доске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Список рёбер edge_index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Размер 2 × |E|, хранятся только существующие связи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Тот же граф: 1 166 243 ребра → 19 МБ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Свободно влезает в бесплатный Colab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Так устроены все графовые библиотеки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5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ИНСТРУМЕНТЫ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граф выглядит в PyTorch Geometric?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ounded Rectangle 7"/>
          <p:cNvSpPr/>
          <p:nvPr/>
        </p:nvSpPr>
        <p:spPr>
          <a:xfrm>
            <a:off x="640080" y="1481400"/>
            <a:ext cx="10911240" cy="3619080"/>
          </a:xfrm>
          <a:prstGeom prst="roundRect">
            <a:avLst>
              <a:gd name="adj" fmla="val 4000"/>
            </a:avLst>
          </a:prstGeom>
          <a:solidFill>
            <a:srgbClr val="1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8"/>
          <p:cNvSpPr/>
          <p:nvPr/>
        </p:nvSpPr>
        <p:spPr>
          <a:xfrm>
            <a:off x="932760" y="1737360"/>
            <a:ext cx="1032588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from torch_geometric.datasets import Planetoid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data = Planetoid(root='/tmp/Cora', name='Cora')[0]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print(data)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# Data(x=[2708, 1433], edge_index=[2, 10556], y=[2708],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#      train_mask=[2708], val_mask=[2708], test_mask=[2708])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data.num_nodes          # 2708 статей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data.num_edges          # 10556 направленных рёбер = 5278 связей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data.x[0]               # вектор из 1433 нулей и единиц: какие слова есть в статье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data.y[0]               # класс статьи: одна из 7 тем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data.train_mask.sum()   # 140 размеченных вершин — всего 5% графа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9"/>
          <p:cNvSpPr/>
          <p:nvPr/>
        </p:nvSpPr>
        <p:spPr>
          <a:xfrm>
            <a:off x="640080" y="5329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Это весь интерфейс: признаки вершин, список рёбер, метки и маски сплита.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6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ТИПЫ ГРАФОВ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Графы бывают очень разные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Направленные и ненаправленные: цитирование против дружбы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Взвешенные: у ребра есть вес — сумма перевода, длительность звонка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Гетерогенные: вершины и рёбра разных типов — автор, статья, конференция (лекция 6)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Мультиграфы: между двумя вершинами несколько рёбер разных типов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Двудольные: пользователи и товары, ничего внутри долей (лекция 8)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Временные: у каждого ребра есть момент появления (лекция 7)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Гиперграфы: ребро соединяет не две вершины, а произвольное подмножество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6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ДАННЫЕ ГЛАЗАМИ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выглядит распределение степеней?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72" name="Picture 7" descr="l01_degrees.png"/>
          <p:cNvPicPr/>
          <p:nvPr/>
        </p:nvPicPr>
        <p:blipFill>
          <a:blip r:embed="rId1"/>
          <a:stretch/>
        </p:blipFill>
        <p:spPr>
          <a:xfrm>
            <a:off x="2801160" y="1481400"/>
            <a:ext cx="658872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Box 8"/>
          <p:cNvSpPr/>
          <p:nvPr/>
        </p:nvSpPr>
        <p:spPr>
          <a:xfrm>
            <a:off x="640080" y="491040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Большинство вершин имеет две-три связи, но есть и хабы с семнадцатью. Такая форма — тяжёлый хвост — типична для реальных графов: соцсетей, цитирования, веба. Именно из-за неё в графовых сетях вклад соседа нормируют на его степень, иначе хабы забивают всё остальное.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7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СВОЙСТВА ДАННЫХ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Гомофилия: свойство, от которого зависит выбор модели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Гомофилия — доля рёбер, соединяющих вершины одного класса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karate club она равна 0.859: связи почти всегда внутри своего клуба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Cora и CiteSeer — около 0.8, и все классические бенчмарки такие же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Гетерофильные графы: белки взаимодействуют с белками другого типа, мошенник звонит не мошенникам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Почти все привычные графовые сети неявно рассчитаны на гомофилию. На гетерофильных графах они проигрывают обычному MLP — вернёмся к этому в лекции 4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8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ДАННЫЕ ГЛАЗАМИ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Насколько гомофильны привычные датасеты?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7" name="Picture 7" descr="l01_homophily.png"/>
          <p:cNvPicPr/>
          <p:nvPr/>
        </p:nvPicPr>
        <p:blipFill>
          <a:blip r:embed="rId1"/>
          <a:stretch/>
        </p:blipFill>
        <p:spPr>
          <a:xfrm>
            <a:off x="2986920" y="1481400"/>
            <a:ext cx="621756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Box 8"/>
          <p:cNvSpPr/>
          <p:nvPr/>
        </p:nvSpPr>
        <p:spPr>
          <a:xfrm>
            <a:off x="640080" y="481896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У классических бенчмарков гомофилия около 0.8: связь почти всегда соединяет вершины одного класса. Именно на таких данных графовые сети показывали первые громкие результаты — и именно поэтому на гетерофильных графах они внезапно проигрывают обычному MLP.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9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ДАННЫЕ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Датасеты, с которыми будем работать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95" name="Table 7"/>
          <p:cNvGraphicFramePr/>
          <p:nvPr/>
        </p:nvGraphicFramePr>
        <p:xfrm>
          <a:off x="640080" y="1664280"/>
          <a:ext cx="10911240" cy="2944080"/>
        </p:xfrm>
        <a:graphic>
          <a:graphicData uri="http://schemas.openxmlformats.org/drawingml/2006/table">
            <a:tbl>
              <a:tblPr/>
              <a:tblGrid>
                <a:gridCol w="2253240"/>
                <a:gridCol w="2846160"/>
                <a:gridCol w="3083400"/>
                <a:gridCol w="272772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Датасет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это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Размер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Задача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Cora, CiteSeer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цитирование статей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2.7k и 3.3k вершин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классификация вершин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ogbn-arxiv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цитирование arXiv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169k вершин, 1.2M рёбер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классификация вершин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NCI1, ZINC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молекулы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4.1k и 12k графов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классификация, регрессия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roman-empire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гетерофильный граф слов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22k вершин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классификация вершин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FB15k-237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граф знаний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14.5k сущностей, 237 отношений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предсказание связей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JODIE Wikipedia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правки страниц во времени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157k взаимодействий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временной link prediction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3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Классические признаки: baseline, который нужно побить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0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ИДЕЯ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Идея простая: свести граф к вектору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Обычный ML умеет работать с векторами, а не с графами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Значит, придумаем признаки: для вершины, для ребра, для всего графа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Дальше — любой классификатор: логистическая регрессия, бустинг, SVM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 и есть baseline, с которым мы будем сравнивать все нейросети курса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Если GNN не бьёт такой baseline — виновата не «слабая модель», а постановка задачи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0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ДАННЫЕ ПРИМЕРА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Сквозной пример: клуб карате Захари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34 человека, 78 дружеских связей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Реальные данные 1970-х: клуб раскололся на две группы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Средняя степень 4.59, диаметр 5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Средний коэффициент кластеризации 0.571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Задача: предсказать, в какую группу уйдёт человек, зная только структуру связей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3" name="Connector 8"/>
          <p:cNvCxnSpPr/>
          <p:nvPr/>
        </p:nvCxnSpPr>
        <p:spPr>
          <a:xfrm>
            <a:off x="8421480" y="4100040"/>
            <a:ext cx="333720" cy="3690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14" name="Connector 9"/>
          <p:cNvCxnSpPr/>
          <p:nvPr/>
        </p:nvCxnSpPr>
        <p:spPr>
          <a:xfrm flipV="1">
            <a:off x="8460000" y="3933000"/>
            <a:ext cx="682560" cy="676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15" name="Connector 10"/>
          <p:cNvCxnSpPr/>
          <p:nvPr/>
        </p:nvCxnSpPr>
        <p:spPr>
          <a:xfrm flipV="1">
            <a:off x="8398440" y="3570840"/>
            <a:ext cx="181800" cy="3366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16" name="Connector 11"/>
          <p:cNvCxnSpPr/>
          <p:nvPr/>
        </p:nvCxnSpPr>
        <p:spPr>
          <a:xfrm flipH="1" flipV="1">
            <a:off x="7652880" y="3802320"/>
            <a:ext cx="575640" cy="1753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17" name="Connector 12"/>
          <p:cNvCxnSpPr/>
          <p:nvPr/>
        </p:nvCxnSpPr>
        <p:spPr>
          <a:xfrm flipH="1" flipV="1">
            <a:off x="7331040" y="3375360"/>
            <a:ext cx="910440" cy="5734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18" name="Connector 13"/>
          <p:cNvCxnSpPr/>
          <p:nvPr/>
        </p:nvCxnSpPr>
        <p:spPr>
          <a:xfrm flipH="1" flipV="1">
            <a:off x="7457400" y="3003840"/>
            <a:ext cx="806400" cy="9190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19" name="Connector 14"/>
          <p:cNvCxnSpPr/>
          <p:nvPr/>
        </p:nvCxnSpPr>
        <p:spPr>
          <a:xfrm>
            <a:off x="8448480" y="4064040"/>
            <a:ext cx="87840" cy="432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0" name="Connector 15"/>
          <p:cNvCxnSpPr/>
          <p:nvPr/>
        </p:nvCxnSpPr>
        <p:spPr>
          <a:xfrm>
            <a:off x="8458200" y="4035600"/>
            <a:ext cx="1092240" cy="2250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1" name="Connector 16"/>
          <p:cNvCxnSpPr/>
          <p:nvPr/>
        </p:nvCxnSpPr>
        <p:spPr>
          <a:xfrm flipH="1">
            <a:off x="7319880" y="4018680"/>
            <a:ext cx="903600" cy="529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2" name="Connector 17"/>
          <p:cNvCxnSpPr/>
          <p:nvPr/>
        </p:nvCxnSpPr>
        <p:spPr>
          <a:xfrm flipH="1">
            <a:off x="7584120" y="4101120"/>
            <a:ext cx="679680" cy="7711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3" name="Connector 18"/>
          <p:cNvCxnSpPr/>
          <p:nvPr/>
        </p:nvCxnSpPr>
        <p:spPr>
          <a:xfrm flipH="1" flipV="1">
            <a:off x="8169120" y="2366640"/>
            <a:ext cx="160560" cy="15274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4" name="Connector 19"/>
          <p:cNvCxnSpPr/>
          <p:nvPr/>
        </p:nvCxnSpPr>
        <p:spPr>
          <a:xfrm>
            <a:off x="8451720" y="4056840"/>
            <a:ext cx="606240" cy="2484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5" name="Connector 20"/>
          <p:cNvCxnSpPr/>
          <p:nvPr/>
        </p:nvCxnSpPr>
        <p:spPr>
          <a:xfrm flipH="1">
            <a:off x="7898400" y="4125600"/>
            <a:ext cx="409320" cy="13518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6" name="Connector 21"/>
          <p:cNvCxnSpPr/>
          <p:nvPr/>
        </p:nvCxnSpPr>
        <p:spPr>
          <a:xfrm flipV="1">
            <a:off x="8422200" y="3351600"/>
            <a:ext cx="525960" cy="5731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7" name="Connector 22"/>
          <p:cNvCxnSpPr/>
          <p:nvPr/>
        </p:nvCxnSpPr>
        <p:spPr>
          <a:xfrm flipH="1">
            <a:off x="8279640" y="4130640"/>
            <a:ext cx="57960" cy="14202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8" name="Connector 23"/>
          <p:cNvCxnSpPr/>
          <p:nvPr/>
        </p:nvCxnSpPr>
        <p:spPr>
          <a:xfrm flipV="1">
            <a:off x="8452440" y="3450240"/>
            <a:ext cx="1315080" cy="5184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29" name="Connector 24"/>
          <p:cNvCxnSpPr/>
          <p:nvPr/>
        </p:nvCxnSpPr>
        <p:spPr>
          <a:xfrm flipV="1">
            <a:off x="8900640" y="4020120"/>
            <a:ext cx="294120" cy="4384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0" name="Connector 25"/>
          <p:cNvCxnSpPr/>
          <p:nvPr/>
        </p:nvCxnSpPr>
        <p:spPr>
          <a:xfrm flipH="1" flipV="1">
            <a:off x="8657640" y="3583440"/>
            <a:ext cx="155880" cy="8568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1" name="Connector 26"/>
          <p:cNvCxnSpPr/>
          <p:nvPr/>
        </p:nvCxnSpPr>
        <p:spPr>
          <a:xfrm flipH="1" flipV="1">
            <a:off x="8694360" y="4266360"/>
            <a:ext cx="88920" cy="183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2" name="Connector 27"/>
          <p:cNvCxnSpPr/>
          <p:nvPr/>
        </p:nvCxnSpPr>
        <p:spPr>
          <a:xfrm flipV="1">
            <a:off x="8935560" y="4412880"/>
            <a:ext cx="131400" cy="817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3" name="Connector 28"/>
          <p:cNvCxnSpPr/>
          <p:nvPr/>
        </p:nvCxnSpPr>
        <p:spPr>
          <a:xfrm flipH="1">
            <a:off x="7945560" y="4643640"/>
            <a:ext cx="807840" cy="8607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4" name="Connector 29"/>
          <p:cNvCxnSpPr/>
          <p:nvPr/>
        </p:nvCxnSpPr>
        <p:spPr>
          <a:xfrm flipV="1">
            <a:off x="8852040" y="3381840"/>
            <a:ext cx="158760" cy="10580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5" name="Connector 30"/>
          <p:cNvCxnSpPr/>
          <p:nvPr/>
        </p:nvCxnSpPr>
        <p:spPr>
          <a:xfrm flipH="1">
            <a:off x="8328240" y="4663080"/>
            <a:ext cx="453240" cy="9003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6" name="Connector 31"/>
          <p:cNvCxnSpPr/>
          <p:nvPr/>
        </p:nvCxnSpPr>
        <p:spPr>
          <a:xfrm>
            <a:off x="8941320" y="4609440"/>
            <a:ext cx="878760" cy="4309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7" name="Connector 32"/>
          <p:cNvCxnSpPr/>
          <p:nvPr/>
        </p:nvCxnSpPr>
        <p:spPr>
          <a:xfrm flipH="1" flipV="1">
            <a:off x="8732160" y="3536280"/>
            <a:ext cx="432720" cy="3153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8" name="Connector 33"/>
          <p:cNvCxnSpPr/>
          <p:nvPr/>
        </p:nvCxnSpPr>
        <p:spPr>
          <a:xfrm flipH="1">
            <a:off x="8753760" y="3963960"/>
            <a:ext cx="396360" cy="1526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39" name="Connector 34"/>
          <p:cNvCxnSpPr/>
          <p:nvPr/>
        </p:nvCxnSpPr>
        <p:spPr>
          <a:xfrm>
            <a:off x="9349200" y="4000680"/>
            <a:ext cx="228960" cy="2048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0" name="Connector 35"/>
          <p:cNvCxnSpPr/>
          <p:nvPr/>
        </p:nvCxnSpPr>
        <p:spPr>
          <a:xfrm flipV="1">
            <a:off x="9347040" y="2736720"/>
            <a:ext cx="1172880" cy="11037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1" name="Connector 36"/>
          <p:cNvCxnSpPr/>
          <p:nvPr/>
        </p:nvCxnSpPr>
        <p:spPr>
          <a:xfrm flipH="1">
            <a:off x="9192600" y="4037760"/>
            <a:ext cx="43200" cy="1965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2" name="Connector 37"/>
          <p:cNvCxnSpPr/>
          <p:nvPr/>
        </p:nvCxnSpPr>
        <p:spPr>
          <a:xfrm flipV="1">
            <a:off x="9348120" y="3152520"/>
            <a:ext cx="748440" cy="6886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3" name="Connector 38"/>
          <p:cNvCxnSpPr/>
          <p:nvPr/>
        </p:nvCxnSpPr>
        <p:spPr>
          <a:xfrm>
            <a:off x="9314280" y="4027320"/>
            <a:ext cx="356040" cy="7023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4" name="Connector 39"/>
          <p:cNvCxnSpPr/>
          <p:nvPr/>
        </p:nvCxnSpPr>
        <p:spPr>
          <a:xfrm>
            <a:off x="9375120" y="3952800"/>
            <a:ext cx="1033200" cy="282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5" name="Connector 40"/>
          <p:cNvCxnSpPr/>
          <p:nvPr/>
        </p:nvCxnSpPr>
        <p:spPr>
          <a:xfrm>
            <a:off x="8637480" y="3585240"/>
            <a:ext cx="4680" cy="4554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6" name="Connector 41"/>
          <p:cNvCxnSpPr/>
          <p:nvPr/>
        </p:nvCxnSpPr>
        <p:spPr>
          <a:xfrm flipH="1" flipV="1">
            <a:off x="8200080" y="2359080"/>
            <a:ext cx="393120" cy="9968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7" name="Connector 42"/>
          <p:cNvCxnSpPr/>
          <p:nvPr/>
        </p:nvCxnSpPr>
        <p:spPr>
          <a:xfrm>
            <a:off x="8697600" y="3568320"/>
            <a:ext cx="408960" cy="6804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8" name="Connector 43"/>
          <p:cNvCxnSpPr/>
          <p:nvPr/>
        </p:nvCxnSpPr>
        <p:spPr>
          <a:xfrm flipH="1" flipV="1">
            <a:off x="7400880" y="3031200"/>
            <a:ext cx="116640" cy="6199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49" name="Connector 44"/>
          <p:cNvCxnSpPr/>
          <p:nvPr/>
        </p:nvCxnSpPr>
        <p:spPr>
          <a:xfrm flipH="1">
            <a:off x="7288560" y="3848040"/>
            <a:ext cx="163440" cy="1501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0" name="Connector 45"/>
          <p:cNvCxnSpPr/>
          <p:nvPr/>
        </p:nvCxnSpPr>
        <p:spPr>
          <a:xfrm flipV="1">
            <a:off x="7272000" y="3025800"/>
            <a:ext cx="65520" cy="1753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1" name="Connector 46"/>
          <p:cNvCxnSpPr/>
          <p:nvPr/>
        </p:nvCxnSpPr>
        <p:spPr>
          <a:xfrm flipH="1">
            <a:off x="7205760" y="3430800"/>
            <a:ext cx="20520" cy="5292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2" name="Connector 47"/>
          <p:cNvCxnSpPr/>
          <p:nvPr/>
        </p:nvCxnSpPr>
        <p:spPr>
          <a:xfrm flipH="1" flipV="1">
            <a:off x="6745680" y="2654640"/>
            <a:ext cx="414720" cy="561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3" name="Connector 48"/>
          <p:cNvCxnSpPr/>
          <p:nvPr/>
        </p:nvCxnSpPr>
        <p:spPr>
          <a:xfrm flipH="1" flipV="1">
            <a:off x="6780960" y="2612520"/>
            <a:ext cx="492120" cy="2487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4" name="Connector 49"/>
          <p:cNvCxnSpPr/>
          <p:nvPr/>
        </p:nvCxnSpPr>
        <p:spPr>
          <a:xfrm>
            <a:off x="9702720" y="4397400"/>
            <a:ext cx="187920" cy="5821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5" name="Connector 50"/>
          <p:cNvCxnSpPr/>
          <p:nvPr/>
        </p:nvCxnSpPr>
        <p:spPr>
          <a:xfrm flipV="1">
            <a:off x="9785160" y="4269240"/>
            <a:ext cx="618840" cy="12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6" name="Connector 51"/>
          <p:cNvCxnSpPr/>
          <p:nvPr/>
        </p:nvCxnSpPr>
        <p:spPr>
          <a:xfrm>
            <a:off x="9785160" y="4288680"/>
            <a:ext cx="445680" cy="176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7" name="Connector 52"/>
          <p:cNvCxnSpPr/>
          <p:nvPr/>
        </p:nvCxnSpPr>
        <p:spPr>
          <a:xfrm flipH="1">
            <a:off x="10367640" y="2772720"/>
            <a:ext cx="220680" cy="14205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8" name="Connector 53"/>
          <p:cNvCxnSpPr/>
          <p:nvPr/>
        </p:nvCxnSpPr>
        <p:spPr>
          <a:xfrm flipV="1">
            <a:off x="9286200" y="4314240"/>
            <a:ext cx="944640" cy="320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59" name="Connector 54"/>
          <p:cNvCxnSpPr/>
          <p:nvPr/>
        </p:nvCxnSpPr>
        <p:spPr>
          <a:xfrm flipH="1">
            <a:off x="10636200" y="4084920"/>
            <a:ext cx="478440" cy="1476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0" name="Connector 55"/>
          <p:cNvCxnSpPr/>
          <p:nvPr/>
        </p:nvCxnSpPr>
        <p:spPr>
          <a:xfrm flipH="1">
            <a:off x="10463400" y="4083840"/>
            <a:ext cx="650880" cy="192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1" name="Connector 56"/>
          <p:cNvCxnSpPr/>
          <p:nvPr/>
        </p:nvCxnSpPr>
        <p:spPr>
          <a:xfrm flipH="1" flipV="1">
            <a:off x="10528920" y="4385520"/>
            <a:ext cx="48960" cy="9154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2" name="Connector 57"/>
          <p:cNvCxnSpPr/>
          <p:nvPr/>
        </p:nvCxnSpPr>
        <p:spPr>
          <a:xfrm flipH="1" flipV="1">
            <a:off x="10374120" y="4426560"/>
            <a:ext cx="185760" cy="8766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3" name="Connector 58"/>
          <p:cNvCxnSpPr/>
          <p:nvPr/>
        </p:nvCxnSpPr>
        <p:spPr>
          <a:xfrm flipH="1" flipV="1">
            <a:off x="10632600" y="4311720"/>
            <a:ext cx="779040" cy="3182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4" name="Connector 59"/>
          <p:cNvCxnSpPr/>
          <p:nvPr/>
        </p:nvCxnSpPr>
        <p:spPr>
          <a:xfrm flipH="1" flipV="1">
            <a:off x="10463040" y="4345560"/>
            <a:ext cx="945000" cy="2941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5" name="Connector 60"/>
          <p:cNvCxnSpPr/>
          <p:nvPr/>
        </p:nvCxnSpPr>
        <p:spPr>
          <a:xfrm>
            <a:off x="9121320" y="3337920"/>
            <a:ext cx="1135080" cy="8989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6" name="Connector 61"/>
          <p:cNvCxnSpPr/>
          <p:nvPr/>
        </p:nvCxnSpPr>
        <p:spPr>
          <a:xfrm flipH="1">
            <a:off x="10604520" y="3512880"/>
            <a:ext cx="637560" cy="6685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7" name="Connector 62"/>
          <p:cNvCxnSpPr/>
          <p:nvPr/>
        </p:nvCxnSpPr>
        <p:spPr>
          <a:xfrm flipH="1">
            <a:off x="10437480" y="3506760"/>
            <a:ext cx="798840" cy="723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8" name="Connector 63"/>
          <p:cNvCxnSpPr/>
          <p:nvPr/>
        </p:nvCxnSpPr>
        <p:spPr>
          <a:xfrm flipH="1" flipV="1">
            <a:off x="10552680" y="4381920"/>
            <a:ext cx="294120" cy="11149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69" name="Connector 64"/>
          <p:cNvCxnSpPr/>
          <p:nvPr/>
        </p:nvCxnSpPr>
        <p:spPr>
          <a:xfrm flipH="1" flipV="1">
            <a:off x="10393920" y="4420440"/>
            <a:ext cx="438480" cy="10810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0" name="Connector 65"/>
          <p:cNvCxnSpPr/>
          <p:nvPr/>
        </p:nvCxnSpPr>
        <p:spPr>
          <a:xfrm flipH="1" flipV="1">
            <a:off x="10316520" y="2636640"/>
            <a:ext cx="282600" cy="7326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1" name="Connector 66"/>
          <p:cNvCxnSpPr/>
          <p:nvPr/>
        </p:nvCxnSpPr>
        <p:spPr>
          <a:xfrm flipH="1" flipV="1">
            <a:off x="10272600" y="3151080"/>
            <a:ext cx="280440" cy="2498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2" name="Connector 67"/>
          <p:cNvCxnSpPr/>
          <p:nvPr/>
        </p:nvCxnSpPr>
        <p:spPr>
          <a:xfrm>
            <a:off x="10680120" y="3592080"/>
            <a:ext cx="305640" cy="8852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3" name="Connector 68"/>
          <p:cNvCxnSpPr/>
          <p:nvPr/>
        </p:nvCxnSpPr>
        <p:spPr>
          <a:xfrm flipH="1">
            <a:off x="10540440" y="3597120"/>
            <a:ext cx="83520" cy="5526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4" name="Connector 69"/>
          <p:cNvCxnSpPr/>
          <p:nvPr/>
        </p:nvCxnSpPr>
        <p:spPr>
          <a:xfrm flipH="1">
            <a:off x="10388880" y="3591720"/>
            <a:ext cx="213480" cy="606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5" name="Connector 70"/>
          <p:cNvCxnSpPr/>
          <p:nvPr/>
        </p:nvCxnSpPr>
        <p:spPr>
          <a:xfrm>
            <a:off x="10185840" y="1855080"/>
            <a:ext cx="73080" cy="552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6" name="Connector 71"/>
          <p:cNvCxnSpPr/>
          <p:nvPr/>
        </p:nvCxnSpPr>
        <p:spPr>
          <a:xfrm>
            <a:off x="10171440" y="1856160"/>
            <a:ext cx="11520" cy="10976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7" name="Connector 72"/>
          <p:cNvCxnSpPr/>
          <p:nvPr/>
        </p:nvCxnSpPr>
        <p:spPr>
          <a:xfrm flipH="1">
            <a:off x="9898560" y="1854360"/>
            <a:ext cx="251640" cy="143568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8" name="Connector 73"/>
          <p:cNvCxnSpPr/>
          <p:nvPr/>
        </p:nvCxnSpPr>
        <p:spPr>
          <a:xfrm flipH="1">
            <a:off x="9926640" y="2634120"/>
            <a:ext cx="298800" cy="6645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79" name="Connector 74"/>
          <p:cNvCxnSpPr/>
          <p:nvPr/>
        </p:nvCxnSpPr>
        <p:spPr>
          <a:xfrm flipH="1" flipV="1">
            <a:off x="11067840" y="4700160"/>
            <a:ext cx="232920" cy="5922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0" name="Connector 75"/>
          <p:cNvCxnSpPr/>
          <p:nvPr/>
        </p:nvCxnSpPr>
        <p:spPr>
          <a:xfrm flipH="1" flipV="1">
            <a:off x="10429560" y="4398120"/>
            <a:ext cx="834840" cy="9169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1" name="Connector 76"/>
          <p:cNvCxnSpPr/>
          <p:nvPr/>
        </p:nvCxnSpPr>
        <p:spPr>
          <a:xfrm>
            <a:off x="10199520" y="3189960"/>
            <a:ext cx="134280" cy="1002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2" name="Connector 77"/>
          <p:cNvCxnSpPr/>
          <p:nvPr/>
        </p:nvCxnSpPr>
        <p:spPr>
          <a:xfrm flipV="1">
            <a:off x="9736200" y="3525120"/>
            <a:ext cx="129240" cy="11923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3" name="Connector 78"/>
          <p:cNvCxnSpPr/>
          <p:nvPr/>
        </p:nvCxnSpPr>
        <p:spPr>
          <a:xfrm flipV="1">
            <a:off x="9814680" y="4386600"/>
            <a:ext cx="443880" cy="3726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4" name="Connector 79"/>
          <p:cNvCxnSpPr/>
          <p:nvPr/>
        </p:nvCxnSpPr>
        <p:spPr>
          <a:xfrm flipH="1" flipV="1">
            <a:off x="10622520" y="4331160"/>
            <a:ext cx="302040" cy="1944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5" name="Connector 80"/>
          <p:cNvCxnSpPr/>
          <p:nvPr/>
        </p:nvCxnSpPr>
        <p:spPr>
          <a:xfrm flipH="1" flipV="1">
            <a:off x="10459080" y="4355640"/>
            <a:ext cx="455760" cy="1886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6" name="Connector 81"/>
          <p:cNvCxnSpPr/>
          <p:nvPr/>
        </p:nvCxnSpPr>
        <p:spPr>
          <a:xfrm flipV="1">
            <a:off x="9996120" y="4363200"/>
            <a:ext cx="457200" cy="63324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7" name="Connector 82"/>
          <p:cNvCxnSpPr/>
          <p:nvPr/>
        </p:nvCxnSpPr>
        <p:spPr>
          <a:xfrm flipV="1">
            <a:off x="9983160" y="4415040"/>
            <a:ext cx="309960" cy="57312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8" name="Connector 83"/>
          <p:cNvCxnSpPr/>
          <p:nvPr/>
        </p:nvCxnSpPr>
        <p:spPr>
          <a:xfrm>
            <a:off x="9949320" y="3502080"/>
            <a:ext cx="502200" cy="6699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89" name="Connector 84"/>
          <p:cNvCxnSpPr/>
          <p:nvPr/>
        </p:nvCxnSpPr>
        <p:spPr>
          <a:xfrm>
            <a:off x="9932760" y="3512160"/>
            <a:ext cx="361800" cy="69300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cxnSp>
        <p:nvCxnSpPr>
          <p:cNvPr id="490" name="Connector 85"/>
          <p:cNvCxnSpPr/>
          <p:nvPr/>
        </p:nvCxnSpPr>
        <p:spPr>
          <a:xfrm flipV="1">
            <a:off x="10407240" y="4281480"/>
            <a:ext cx="57600" cy="14760"/>
          </a:xfrm>
          <a:prstGeom prst="straightConnector1">
            <a:avLst/>
          </a:prstGeom>
          <a:ln w="11430">
            <a:solidFill>
              <a:srgbClr val="b6c1d1"/>
            </a:solidFill>
            <a:round/>
          </a:ln>
        </p:spPr>
      </p:cxnSp>
      <p:sp>
        <p:nvSpPr>
          <p:cNvPr id="491" name="Oval 86"/>
          <p:cNvSpPr/>
          <p:nvPr/>
        </p:nvSpPr>
        <p:spPr>
          <a:xfrm>
            <a:off x="8223120" y="389304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Oval 87"/>
          <p:cNvSpPr/>
          <p:nvPr/>
        </p:nvSpPr>
        <p:spPr>
          <a:xfrm>
            <a:off x="8715600" y="443844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Oval 88"/>
          <p:cNvSpPr/>
          <p:nvPr/>
        </p:nvSpPr>
        <p:spPr>
          <a:xfrm>
            <a:off x="9141840" y="380268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Oval 89"/>
          <p:cNvSpPr/>
          <p:nvPr/>
        </p:nvSpPr>
        <p:spPr>
          <a:xfrm>
            <a:off x="8517600" y="334764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Oval 90"/>
          <p:cNvSpPr/>
          <p:nvPr/>
        </p:nvSpPr>
        <p:spPr>
          <a:xfrm>
            <a:off x="7420320" y="364896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Oval 91"/>
          <p:cNvSpPr/>
          <p:nvPr/>
        </p:nvSpPr>
        <p:spPr>
          <a:xfrm>
            <a:off x="7111800" y="319320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Oval 92"/>
          <p:cNvSpPr/>
          <p:nvPr/>
        </p:nvSpPr>
        <p:spPr>
          <a:xfrm>
            <a:off x="7260120" y="279576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Oval 93"/>
          <p:cNvSpPr/>
          <p:nvPr/>
        </p:nvSpPr>
        <p:spPr>
          <a:xfrm>
            <a:off x="8524080" y="404028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Oval 94"/>
          <p:cNvSpPr/>
          <p:nvPr/>
        </p:nvSpPr>
        <p:spPr>
          <a:xfrm>
            <a:off x="9547560" y="416556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Oval 95"/>
          <p:cNvSpPr/>
          <p:nvPr/>
        </p:nvSpPr>
        <p:spPr>
          <a:xfrm>
            <a:off x="10487520" y="253656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Oval 96"/>
          <p:cNvSpPr/>
          <p:nvPr/>
        </p:nvSpPr>
        <p:spPr>
          <a:xfrm>
            <a:off x="7082280" y="395964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Oval 97"/>
          <p:cNvSpPr/>
          <p:nvPr/>
        </p:nvSpPr>
        <p:spPr>
          <a:xfrm>
            <a:off x="7386840" y="484236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Oval 98"/>
          <p:cNvSpPr/>
          <p:nvPr/>
        </p:nvSpPr>
        <p:spPr>
          <a:xfrm>
            <a:off x="8038080" y="212976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Oval 99"/>
          <p:cNvSpPr/>
          <p:nvPr/>
        </p:nvSpPr>
        <p:spPr>
          <a:xfrm>
            <a:off x="9048960" y="423144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Oval 100"/>
          <p:cNvSpPr/>
          <p:nvPr/>
        </p:nvSpPr>
        <p:spPr>
          <a:xfrm>
            <a:off x="11109240" y="393156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Oval 101"/>
          <p:cNvSpPr/>
          <p:nvPr/>
        </p:nvSpPr>
        <p:spPr>
          <a:xfrm>
            <a:off x="10465200" y="530064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Oval 102"/>
          <p:cNvSpPr/>
          <p:nvPr/>
        </p:nvSpPr>
        <p:spPr>
          <a:xfrm>
            <a:off x="6556320" y="244044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Oval 103"/>
          <p:cNvSpPr/>
          <p:nvPr/>
        </p:nvSpPr>
        <p:spPr>
          <a:xfrm>
            <a:off x="7745400" y="547200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Oval 104"/>
          <p:cNvSpPr/>
          <p:nvPr/>
        </p:nvSpPr>
        <p:spPr>
          <a:xfrm>
            <a:off x="11402640" y="455580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Oval 105"/>
          <p:cNvSpPr/>
          <p:nvPr/>
        </p:nvSpPr>
        <p:spPr>
          <a:xfrm>
            <a:off x="8909280" y="31453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Oval 106"/>
          <p:cNvSpPr/>
          <p:nvPr/>
        </p:nvSpPr>
        <p:spPr>
          <a:xfrm>
            <a:off x="11205360" y="330840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Oval 107"/>
          <p:cNvSpPr/>
          <p:nvPr/>
        </p:nvSpPr>
        <p:spPr>
          <a:xfrm>
            <a:off x="8156160" y="555048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Oval 108"/>
          <p:cNvSpPr/>
          <p:nvPr/>
        </p:nvSpPr>
        <p:spPr>
          <a:xfrm>
            <a:off x="10757880" y="549252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Oval 109"/>
          <p:cNvSpPr/>
          <p:nvPr/>
        </p:nvSpPr>
        <p:spPr>
          <a:xfrm>
            <a:off x="10522800" y="336096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Oval 110"/>
          <p:cNvSpPr/>
          <p:nvPr/>
        </p:nvSpPr>
        <p:spPr>
          <a:xfrm>
            <a:off x="10051560" y="161856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Oval 111"/>
          <p:cNvSpPr/>
          <p:nvPr/>
        </p:nvSpPr>
        <p:spPr>
          <a:xfrm>
            <a:off x="10155240" y="240696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Oval 112"/>
          <p:cNvSpPr/>
          <p:nvPr/>
        </p:nvSpPr>
        <p:spPr>
          <a:xfrm>
            <a:off x="11225520" y="528408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Oval 113"/>
          <p:cNvSpPr/>
          <p:nvPr/>
        </p:nvSpPr>
        <p:spPr>
          <a:xfrm>
            <a:off x="10064880" y="295344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Oval 114"/>
          <p:cNvSpPr/>
          <p:nvPr/>
        </p:nvSpPr>
        <p:spPr>
          <a:xfrm>
            <a:off x="9604800" y="471636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Oval 115"/>
          <p:cNvSpPr/>
          <p:nvPr/>
        </p:nvSpPr>
        <p:spPr>
          <a:xfrm>
            <a:off x="10905480" y="447084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Oval 116"/>
          <p:cNvSpPr/>
          <p:nvPr/>
        </p:nvSpPr>
        <p:spPr>
          <a:xfrm>
            <a:off x="9807840" y="497376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Oval 117"/>
          <p:cNvSpPr/>
          <p:nvPr/>
        </p:nvSpPr>
        <p:spPr>
          <a:xfrm>
            <a:off x="9759240" y="328824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Oval 118"/>
          <p:cNvSpPr/>
          <p:nvPr/>
        </p:nvSpPr>
        <p:spPr>
          <a:xfrm>
            <a:off x="10404000" y="414828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Oval 119"/>
          <p:cNvSpPr/>
          <p:nvPr/>
        </p:nvSpPr>
        <p:spPr>
          <a:xfrm>
            <a:off x="10230480" y="4191840"/>
            <a:ext cx="237240" cy="2372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TextBox 120"/>
          <p:cNvSpPr/>
          <p:nvPr/>
        </p:nvSpPr>
        <p:spPr>
          <a:xfrm>
            <a:off x="6675120" y="57150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Бирюзовые — те, кто ушёл за тренером, светлые — оставшиеся с президентом клуба.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2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УРОВЕНЬ ВЕРШИНЫ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Признаки вершины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TextBox 7"/>
          <p:cNvSpPr/>
          <p:nvPr/>
        </p:nvSpPr>
        <p:spPr>
          <a:xfrm>
            <a:off x="640080" y="1481400"/>
            <a:ext cx="64004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Степень: сколько соседей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просто и на удивление сильно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Коэффициент кластеризации: насколько соседи дружат между собой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Центральности: betweenness, closeness, eigenvector, PageRank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насколько вершина «важна» в структуре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Graphlet degree vector: в скольких маленьких подграфах участвует вершина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3" name="Connector 8"/>
          <p:cNvCxnSpPr/>
          <p:nvPr/>
        </p:nvCxnSpPr>
        <p:spPr>
          <a:xfrm flipH="1" flipV="1">
            <a:off x="9101160" y="2343600"/>
            <a:ext cx="817200" cy="762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34" name="Connector 9"/>
          <p:cNvCxnSpPr/>
          <p:nvPr/>
        </p:nvCxnSpPr>
        <p:spPr>
          <a:xfrm flipV="1">
            <a:off x="10198440" y="2343600"/>
            <a:ext cx="817200" cy="762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35" name="Connector 10"/>
          <p:cNvCxnSpPr/>
          <p:nvPr/>
        </p:nvCxnSpPr>
        <p:spPr>
          <a:xfrm flipH="1">
            <a:off x="8971560" y="3359520"/>
            <a:ext cx="939240" cy="779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36" name="Connector 11"/>
          <p:cNvCxnSpPr/>
          <p:nvPr/>
        </p:nvCxnSpPr>
        <p:spPr>
          <a:xfrm>
            <a:off x="10198080" y="3368160"/>
            <a:ext cx="872640" cy="820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37" name="Connector 12"/>
          <p:cNvCxnSpPr/>
          <p:nvPr/>
        </p:nvCxnSpPr>
        <p:spPr>
          <a:xfrm>
            <a:off x="10058400" y="3429000"/>
            <a:ext cx="360" cy="1225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38" name="Connector 13"/>
          <p:cNvCxnSpPr/>
          <p:nvPr/>
        </p:nvCxnSpPr>
        <p:spPr>
          <a:xfrm flipV="1">
            <a:off x="10058400" y="2112120"/>
            <a:ext cx="360" cy="933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39" name="Connector 14"/>
          <p:cNvCxnSpPr/>
          <p:nvPr/>
        </p:nvCxnSpPr>
        <p:spPr>
          <a:xfrm flipH="1">
            <a:off x="8836560" y="2404440"/>
            <a:ext cx="111960" cy="1665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40" name="Connector 15"/>
          <p:cNvCxnSpPr/>
          <p:nvPr/>
        </p:nvCxnSpPr>
        <p:spPr>
          <a:xfrm>
            <a:off x="11160360" y="2404800"/>
            <a:ext cx="45360" cy="1722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541" name="Oval 16"/>
          <p:cNvSpPr/>
          <p:nvPr/>
        </p:nvSpPr>
        <p:spPr>
          <a:xfrm>
            <a:off x="9866520" y="304488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Oval 17"/>
          <p:cNvSpPr/>
          <p:nvPr/>
        </p:nvSpPr>
        <p:spPr>
          <a:xfrm>
            <a:off x="8769240" y="20206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Oval 18"/>
          <p:cNvSpPr/>
          <p:nvPr/>
        </p:nvSpPr>
        <p:spPr>
          <a:xfrm>
            <a:off x="10963800" y="20206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Oval 19"/>
          <p:cNvSpPr/>
          <p:nvPr/>
        </p:nvSpPr>
        <p:spPr>
          <a:xfrm>
            <a:off x="8632080" y="40690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Oval 20"/>
          <p:cNvSpPr/>
          <p:nvPr/>
        </p:nvSpPr>
        <p:spPr>
          <a:xfrm>
            <a:off x="11018520" y="412776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Oval 21"/>
          <p:cNvSpPr/>
          <p:nvPr/>
        </p:nvSpPr>
        <p:spPr>
          <a:xfrm>
            <a:off x="9866520" y="465444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Oval 22"/>
          <p:cNvSpPr/>
          <p:nvPr/>
        </p:nvSpPr>
        <p:spPr>
          <a:xfrm>
            <a:off x="9866520" y="172836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23"/>
          <p:cNvSpPr/>
          <p:nvPr/>
        </p:nvSpPr>
        <p:spPr>
          <a:xfrm>
            <a:off x="640080" y="56692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У подсвеченной вершины степень 6 — это хаб. Два её соседа связаны между собой: коэффициент кластеризации не нулевой.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5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Считаем признаки на реальных данных: топ-5 вершин клуба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555" name="Table 7"/>
          <p:cNvGraphicFramePr/>
          <p:nvPr/>
        </p:nvGraphicFramePr>
        <p:xfrm>
          <a:off x="640080" y="1664280"/>
          <a:ext cx="10911240" cy="2523240"/>
        </p:xfrm>
        <a:graphic>
          <a:graphicData uri="http://schemas.openxmlformats.org/drawingml/2006/table">
            <a:tbl>
              <a:tblPr/>
              <a:tblGrid>
                <a:gridCol w="2238120"/>
                <a:gridCol w="1958400"/>
                <a:gridCol w="1958400"/>
                <a:gridCol w="2238120"/>
                <a:gridCol w="25178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Вершина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Степень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PageRank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Betweenness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Кластеризация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33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0.097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0.304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0.089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0.438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0.076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0.145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0.063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0.144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0.24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0.057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0.054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0.33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5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УРОВЕНЬ ВЕРШИНЫ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PageRank: важность вершины через важность соседей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Rounded Rectangle 7"/>
          <p:cNvSpPr/>
          <p:nvPr/>
        </p:nvSpPr>
        <p:spPr>
          <a:xfrm>
            <a:off x="640080" y="1801440"/>
            <a:ext cx="10911240" cy="1828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63" name="Picture 8" descr="f_pagerank.png"/>
          <p:cNvPicPr/>
          <p:nvPr/>
        </p:nvPicPr>
        <p:blipFill>
          <a:blip r:embed="rId1"/>
          <a:stretch/>
        </p:blipFill>
        <p:spPr>
          <a:xfrm>
            <a:off x="4117320" y="2258640"/>
            <a:ext cx="395676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Box 9"/>
          <p:cNvSpPr/>
          <p:nvPr/>
        </p:nvSpPr>
        <p:spPr>
          <a:xfrm>
            <a:off x="640080" y="385884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Вершина важна, если на неё ссылаются важные вершины. Определение рекурсивное, считается степенным методом. Обратите внимание на форму: значение вершины — это агрегация значений соседей. Ровно эту идею мы обобщим до message passing в лекции 3.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6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УРОВЕНЬ РЕБРА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Признаки ребра: Adamic–Adar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Rounded Rectangle 7"/>
          <p:cNvSpPr/>
          <p:nvPr/>
        </p:nvSpPr>
        <p:spPr>
          <a:xfrm>
            <a:off x="640080" y="1801440"/>
            <a:ext cx="10911240" cy="1965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72" name="Picture 8" descr="f_aa.png"/>
          <p:cNvPicPr/>
          <p:nvPr/>
        </p:nvPicPr>
        <p:blipFill>
          <a:blip r:embed="rId1"/>
          <a:stretch/>
        </p:blipFill>
        <p:spPr>
          <a:xfrm>
            <a:off x="3518280" y="2258640"/>
            <a:ext cx="5154840" cy="10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TextBox 9"/>
          <p:cNvSpPr/>
          <p:nvPr/>
        </p:nvSpPr>
        <p:spPr>
          <a:xfrm>
            <a:off x="640080" y="39960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Общий сосед тем ценнее, чем меньше у него связей: общий друг с десятью друзьями говорит о вас больше, чем подписка на аккаунт с миллионом подписчиков.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7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Работает ли Adamic–Adar на реальных парах?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580" name="Table 7"/>
          <p:cNvGraphicFramePr/>
          <p:nvPr/>
        </p:nvGraphicFramePr>
        <p:xfrm>
          <a:off x="640080" y="1664280"/>
          <a:ext cx="10911240" cy="2523240"/>
        </p:xfrm>
        <a:graphic>
          <a:graphicData uri="http://schemas.openxmlformats.org/drawingml/2006/table">
            <a:tbl>
              <a:tblPr/>
              <a:tblGrid>
                <a:gridCol w="2791080"/>
                <a:gridCol w="2791080"/>
                <a:gridCol w="2791080"/>
                <a:gridCol w="25372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Пара вершин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Общих соседей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Adamic–Adar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Связь есть?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0–33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2.71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нет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0–2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2.98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да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14–15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0.76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нет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1–30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да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16–19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нет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1" name="TextBox 8"/>
          <p:cNvSpPr/>
          <p:nvPr/>
        </p:nvSpPr>
        <p:spPr>
          <a:xfrm>
            <a:off x="640080" y="47091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Обратите внимание на предпоследнюю строку: вершины 1 и 30 дружат, хотя общих друзей у них нет вовсе. Любая эвристика на общих соседях такую связь не найдёт никогда — это принципиальное ограничение, а не вопрос настройки.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8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УРОВЕНЬ РЕБРА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Эвристики для предсказания связей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588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2661120"/>
                <a:gridCol w="4258080"/>
                <a:gridCol w="39916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Эвристика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Формула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Когда работает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Common neighbors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|N(u) ∩ N(v)|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плотные социальные графы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Jaccard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|N(u) ∩ N(v)| / |N(u) ∪ N(v)|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когда степени сильно разные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Adamic–Adar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сумма 1/log(d) по общим соседям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почти всегда — сильный baseline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Katz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взвешенная сумма путей всех длин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когда общих соседей нет вообще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9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УРОВЕНЬ ГРАФА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Признаки графа: как сравнить два графа целиком?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Наивно: посчитать вершины, рёбра, среднюю степень — теряем почти всю структуру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Bag of nodes: гистограмма меток вершин — не различает структуру совсем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Graphlet kernel: считаем, сколько в графе треугольников, квадратов, звёзд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дорого: перебор подграфов растёт экспоненциально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Weisfeiler–Lehman kernel: итеративно уточняем метки вершин — дёшево и сильно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9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SHERVASHIDZE ET AL., 2011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Weisfeiler–Lehman: одна строчка, которая определит весь курс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Rounded Rectangle 7"/>
          <p:cNvSpPr/>
          <p:nvPr/>
        </p:nvSpPr>
        <p:spPr>
          <a:xfrm>
            <a:off x="640080" y="1801440"/>
            <a:ext cx="10911240" cy="18597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03" name="Picture 8" descr="f_wl.png"/>
          <p:cNvPicPr/>
          <p:nvPr/>
        </p:nvPicPr>
        <p:blipFill>
          <a:blip r:embed="rId1"/>
          <a:stretch/>
        </p:blipFill>
        <p:spPr>
          <a:xfrm>
            <a:off x="640080" y="2258640"/>
            <a:ext cx="10911240" cy="9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TextBox 9"/>
          <p:cNvSpPr/>
          <p:nvPr/>
        </p:nvSpPr>
        <p:spPr>
          <a:xfrm>
            <a:off x="640080" y="38898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Новая метка вершины — это хеш от её старой метки и мультимножества меток соседей. Повторяем k раз, затем считаем гистограмму меток — это и есть вектор признаков графа. Запомните эту формулу: в лекции 4 выяснится, что обычная GNN не сильнее этой процедуры.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0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УРОВЕНЬ ГРАФА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вообще сравнить два графа?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Проверять изоморфизм честно — дорого: для графов общего вида быстрого алгоритма нет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Нам обычно и не нужен точный ответ: нужен вектор признаков, чтобы сравнивать графы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Идея WL: раскрасить вершины так, чтобы цвет кодировал структуру вокруг вершины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одинаковая окрестность — одинаковый цвет, разная — разный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Дальше гистограмма цветов и есть вектор графа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1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SHERVASHIDZE ET AL., 2011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Weisfeiler–Lehman: одна строчка, которая определит весь курс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8" name="Rounded Rectangle 7"/>
          <p:cNvSpPr/>
          <p:nvPr/>
        </p:nvSpPr>
        <p:spPr>
          <a:xfrm>
            <a:off x="640080" y="1801440"/>
            <a:ext cx="10911240" cy="18597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19" name="Picture 8" descr="f_wl.png"/>
          <p:cNvPicPr/>
          <p:nvPr/>
        </p:nvPicPr>
        <p:blipFill>
          <a:blip r:embed="rId1"/>
          <a:stretch/>
        </p:blipFill>
        <p:spPr>
          <a:xfrm>
            <a:off x="640080" y="2258640"/>
            <a:ext cx="10911240" cy="9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TextBox 9"/>
          <p:cNvSpPr/>
          <p:nvPr/>
        </p:nvSpPr>
        <p:spPr>
          <a:xfrm>
            <a:off x="640080" y="38898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Новая метка вершины — хеш от её старой метки и мультимножества меток соседей. Мультимножество, а не список: порядок соседей не должен влиять на результат. Запомните эту формулу — в лекции 4 выяснится, что обычная GNN не сильнее этой процедуры.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2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WL ШАГ ЗА ШАГОМ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Итерация 0: все вершины неразличимы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628" name="Connector 8"/>
          <p:cNvCxnSpPr/>
          <p:nvPr/>
        </p:nvCxnSpPr>
        <p:spPr>
          <a:xfrm>
            <a:off x="1892520" y="2236680"/>
            <a:ext cx="2067120" cy="51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29" name="Connector 9"/>
          <p:cNvCxnSpPr/>
          <p:nvPr/>
        </p:nvCxnSpPr>
        <p:spPr>
          <a:xfrm flipH="1">
            <a:off x="3092760" y="2449440"/>
            <a:ext cx="928440" cy="869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30" name="Connector 10"/>
          <p:cNvCxnSpPr/>
          <p:nvPr/>
        </p:nvCxnSpPr>
        <p:spPr>
          <a:xfrm flipH="1" flipV="1">
            <a:off x="1827000" y="2391480"/>
            <a:ext cx="936360" cy="92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31" name="Connector 11"/>
          <p:cNvCxnSpPr/>
          <p:nvPr/>
        </p:nvCxnSpPr>
        <p:spPr>
          <a:xfrm flipH="1">
            <a:off x="1751760" y="3625200"/>
            <a:ext cx="1002600" cy="880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32" name="Connector 12"/>
          <p:cNvCxnSpPr/>
          <p:nvPr/>
        </p:nvCxnSpPr>
        <p:spPr>
          <a:xfrm>
            <a:off x="1808280" y="4666320"/>
            <a:ext cx="2235600" cy="103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633" name="Oval 13"/>
          <p:cNvSpPr/>
          <p:nvPr/>
        </p:nvSpPr>
        <p:spPr>
          <a:xfrm>
            <a:off x="1435680" y="20026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Oval 14"/>
          <p:cNvSpPr/>
          <p:nvPr/>
        </p:nvSpPr>
        <p:spPr>
          <a:xfrm>
            <a:off x="3959280" y="20646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Oval 15"/>
          <p:cNvSpPr/>
          <p:nvPr/>
        </p:nvSpPr>
        <p:spPr>
          <a:xfrm>
            <a:off x="2697480" y="32461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Oval 16"/>
          <p:cNvSpPr/>
          <p:nvPr/>
        </p:nvSpPr>
        <p:spPr>
          <a:xfrm>
            <a:off x="1351440" y="44276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Oval 17"/>
          <p:cNvSpPr/>
          <p:nvPr/>
        </p:nvSpPr>
        <p:spPr>
          <a:xfrm>
            <a:off x="4043520" y="45518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18"/>
          <p:cNvSpPr/>
          <p:nvPr/>
        </p:nvSpPr>
        <p:spPr>
          <a:xfrm>
            <a:off x="5852160" y="2103120"/>
            <a:ext cx="5668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Стартуем с одинаковой метки у всех вершин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Если у вершин есть свои метки — например, тип атома — берём их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Гистограмма пока бесполезна: (a:5) у любого графа на пяти вершинах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Вся информация о структуре появится на следующих шагах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4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WL ШАГ ЗА ШАГОМ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Итерация 1: вершины разделились по степени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646" name="Connector 8"/>
          <p:cNvCxnSpPr/>
          <p:nvPr/>
        </p:nvCxnSpPr>
        <p:spPr>
          <a:xfrm>
            <a:off x="1892520" y="2236680"/>
            <a:ext cx="2067120" cy="51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47" name="Connector 9"/>
          <p:cNvCxnSpPr/>
          <p:nvPr/>
        </p:nvCxnSpPr>
        <p:spPr>
          <a:xfrm flipH="1">
            <a:off x="3092760" y="2449440"/>
            <a:ext cx="928440" cy="869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48" name="Connector 10"/>
          <p:cNvCxnSpPr/>
          <p:nvPr/>
        </p:nvCxnSpPr>
        <p:spPr>
          <a:xfrm flipH="1" flipV="1">
            <a:off x="1827000" y="2391480"/>
            <a:ext cx="936360" cy="92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49" name="Connector 11"/>
          <p:cNvCxnSpPr/>
          <p:nvPr/>
        </p:nvCxnSpPr>
        <p:spPr>
          <a:xfrm flipH="1">
            <a:off x="1751760" y="3625200"/>
            <a:ext cx="1002600" cy="880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50" name="Connector 12"/>
          <p:cNvCxnSpPr/>
          <p:nvPr/>
        </p:nvCxnSpPr>
        <p:spPr>
          <a:xfrm>
            <a:off x="1808280" y="4666320"/>
            <a:ext cx="2235600" cy="103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651" name="Oval 13"/>
          <p:cNvSpPr/>
          <p:nvPr/>
        </p:nvSpPr>
        <p:spPr>
          <a:xfrm>
            <a:off x="1435680" y="20026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Oval 14"/>
          <p:cNvSpPr/>
          <p:nvPr/>
        </p:nvSpPr>
        <p:spPr>
          <a:xfrm>
            <a:off x="3959280" y="20646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Oval 15"/>
          <p:cNvSpPr/>
          <p:nvPr/>
        </p:nvSpPr>
        <p:spPr>
          <a:xfrm>
            <a:off x="2697480" y="3246120"/>
            <a:ext cx="456840" cy="4568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Oval 16"/>
          <p:cNvSpPr/>
          <p:nvPr/>
        </p:nvSpPr>
        <p:spPr>
          <a:xfrm>
            <a:off x="1351440" y="44276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Oval 17"/>
          <p:cNvSpPr/>
          <p:nvPr/>
        </p:nvSpPr>
        <p:spPr>
          <a:xfrm>
            <a:off x="4043520" y="4551840"/>
            <a:ext cx="456840" cy="4568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6" name="Table 18"/>
          <p:cNvGraphicFramePr/>
          <p:nvPr/>
        </p:nvGraphicFramePr>
        <p:xfrm>
          <a:off x="5669280" y="1920240"/>
          <a:ext cx="5851800" cy="2523240"/>
        </p:xfrm>
        <a:graphic>
          <a:graphicData uri="http://schemas.openxmlformats.org/drawingml/2006/table">
            <a:tbl>
              <a:tblPr/>
              <a:tblGrid>
                <a:gridCol w="1170360"/>
                <a:gridCol w="1504800"/>
                <a:gridCol w="1839240"/>
                <a:gridCol w="13374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Вершина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Старая метка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Метки соседей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Новая метка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{a, a}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{a, a}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{a, a, a}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{a, a}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{a}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7" name="TextBox 19"/>
          <p:cNvSpPr/>
          <p:nvPr/>
        </p:nvSpPr>
        <p:spPr>
          <a:xfrm>
            <a:off x="640080" y="53949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Гистограмма меток: (A:1, B:3, C:1).  Метку A получила единственная вершина степени 1, C — вершина степени 3.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6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WL ШАГ ЗА ШАГОМ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Итерация 2: учитываем соседей соседей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665" name="Connector 8"/>
          <p:cNvCxnSpPr/>
          <p:nvPr/>
        </p:nvCxnSpPr>
        <p:spPr>
          <a:xfrm>
            <a:off x="1892520" y="2236680"/>
            <a:ext cx="2067120" cy="51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6" name="Connector 9"/>
          <p:cNvCxnSpPr/>
          <p:nvPr/>
        </p:nvCxnSpPr>
        <p:spPr>
          <a:xfrm flipH="1">
            <a:off x="3092760" y="2449440"/>
            <a:ext cx="928440" cy="869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7" name="Connector 10"/>
          <p:cNvCxnSpPr/>
          <p:nvPr/>
        </p:nvCxnSpPr>
        <p:spPr>
          <a:xfrm flipH="1" flipV="1">
            <a:off x="1827000" y="2391480"/>
            <a:ext cx="936360" cy="92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8" name="Connector 11"/>
          <p:cNvCxnSpPr/>
          <p:nvPr/>
        </p:nvCxnSpPr>
        <p:spPr>
          <a:xfrm flipH="1">
            <a:off x="1751760" y="3625200"/>
            <a:ext cx="1002600" cy="880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69" name="Connector 12"/>
          <p:cNvCxnSpPr/>
          <p:nvPr/>
        </p:nvCxnSpPr>
        <p:spPr>
          <a:xfrm>
            <a:off x="1808280" y="4666320"/>
            <a:ext cx="2235600" cy="103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670" name="Oval 13"/>
          <p:cNvSpPr/>
          <p:nvPr/>
        </p:nvSpPr>
        <p:spPr>
          <a:xfrm>
            <a:off x="1435680" y="20026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Oval 14"/>
          <p:cNvSpPr/>
          <p:nvPr/>
        </p:nvSpPr>
        <p:spPr>
          <a:xfrm>
            <a:off x="3959280" y="20646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Oval 15"/>
          <p:cNvSpPr/>
          <p:nvPr/>
        </p:nvSpPr>
        <p:spPr>
          <a:xfrm>
            <a:off x="2697480" y="32461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Oval 16"/>
          <p:cNvSpPr/>
          <p:nvPr/>
        </p:nvSpPr>
        <p:spPr>
          <a:xfrm>
            <a:off x="1351440" y="4427640"/>
            <a:ext cx="456840" cy="4568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Oval 17"/>
          <p:cNvSpPr/>
          <p:nvPr/>
        </p:nvSpPr>
        <p:spPr>
          <a:xfrm>
            <a:off x="4043520" y="45518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5" name="Table 18"/>
          <p:cNvGraphicFramePr/>
          <p:nvPr/>
        </p:nvGraphicFramePr>
        <p:xfrm>
          <a:off x="5669280" y="1920240"/>
          <a:ext cx="5851800" cy="2523240"/>
        </p:xfrm>
        <a:graphic>
          <a:graphicData uri="http://schemas.openxmlformats.org/drawingml/2006/table">
            <a:tbl>
              <a:tblPr/>
              <a:tblGrid>
                <a:gridCol w="1170360"/>
                <a:gridCol w="1504800"/>
                <a:gridCol w="1839240"/>
                <a:gridCol w="13374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Вершина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Старая метка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Метки соседей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Новая метка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{B, C}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{B, C}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{B, B, B}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D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{A, C}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{B}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6" name="TextBox 19"/>
          <p:cNvSpPr/>
          <p:nvPr/>
        </p:nvSpPr>
        <p:spPr>
          <a:xfrm>
            <a:off x="640080" y="53949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Гистограмма меток: (A:1, B:1, C:2, D:1).  Вершины 1 и 2 по-прежнему неразличимы — они симметричны в графе. А вершина 4 отделилась от них: у неё сосед с меткой A.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8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WL ШАГ ЗА ШАГОМ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Итерация 3: процесс сошёлся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684" name="Connector 8"/>
          <p:cNvCxnSpPr/>
          <p:nvPr/>
        </p:nvCxnSpPr>
        <p:spPr>
          <a:xfrm>
            <a:off x="1892520" y="2236680"/>
            <a:ext cx="2067120" cy="51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85" name="Connector 9"/>
          <p:cNvCxnSpPr/>
          <p:nvPr/>
        </p:nvCxnSpPr>
        <p:spPr>
          <a:xfrm flipH="1">
            <a:off x="3092760" y="2449440"/>
            <a:ext cx="928440" cy="869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86" name="Connector 10"/>
          <p:cNvCxnSpPr/>
          <p:nvPr/>
        </p:nvCxnSpPr>
        <p:spPr>
          <a:xfrm flipH="1" flipV="1">
            <a:off x="1827000" y="2391480"/>
            <a:ext cx="936360" cy="92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87" name="Connector 11"/>
          <p:cNvCxnSpPr/>
          <p:nvPr/>
        </p:nvCxnSpPr>
        <p:spPr>
          <a:xfrm flipH="1">
            <a:off x="1751760" y="3625200"/>
            <a:ext cx="1002600" cy="880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688" name="Connector 12"/>
          <p:cNvCxnSpPr/>
          <p:nvPr/>
        </p:nvCxnSpPr>
        <p:spPr>
          <a:xfrm>
            <a:off x="1808280" y="4666320"/>
            <a:ext cx="2235600" cy="103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689" name="Oval 13"/>
          <p:cNvSpPr/>
          <p:nvPr/>
        </p:nvSpPr>
        <p:spPr>
          <a:xfrm>
            <a:off x="1435680" y="20026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Oval 14"/>
          <p:cNvSpPr/>
          <p:nvPr/>
        </p:nvSpPr>
        <p:spPr>
          <a:xfrm>
            <a:off x="3959280" y="206460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Oval 15"/>
          <p:cNvSpPr/>
          <p:nvPr/>
        </p:nvSpPr>
        <p:spPr>
          <a:xfrm>
            <a:off x="2697480" y="324612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Oval 16"/>
          <p:cNvSpPr/>
          <p:nvPr/>
        </p:nvSpPr>
        <p:spPr>
          <a:xfrm>
            <a:off x="1351440" y="44276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Oval 17"/>
          <p:cNvSpPr/>
          <p:nvPr/>
        </p:nvSpPr>
        <p:spPr>
          <a:xfrm>
            <a:off x="4043520" y="455184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4" name="Table 18"/>
          <p:cNvGraphicFramePr/>
          <p:nvPr/>
        </p:nvGraphicFramePr>
        <p:xfrm>
          <a:off x="5669280" y="1920240"/>
          <a:ext cx="5851800" cy="2523240"/>
        </p:xfrm>
        <a:graphic>
          <a:graphicData uri="http://schemas.openxmlformats.org/drawingml/2006/table">
            <a:tbl>
              <a:tblPr/>
              <a:tblGrid>
                <a:gridCol w="1170360"/>
                <a:gridCol w="1504800"/>
                <a:gridCol w="1839240"/>
                <a:gridCol w="13374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Вершина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Старая метка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Метки соседей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Новая метка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{C, D}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{C, D}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D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{B, C, C}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D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{A, D}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{B}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5" name="TextBox 19"/>
          <p:cNvSpPr/>
          <p:nvPr/>
        </p:nvSpPr>
        <p:spPr>
          <a:xfrm>
            <a:off x="640080" y="53949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Гистограмма меток: (A:1, B:1, C:2, D:1).  Разбиение вершин не изменилось — дальше считать бессмысленно. На практике WL сходится за считанные итерации.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9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ЧТО ЗНАЧИТ РЕЗУЛЬТАТ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Почему вершины 1 и 2 так и не разделились?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2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Потому что в этом графе они действительно взаимозаменяемы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поменяйте их местами — получится тот же самый граф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WL не различает вершины, между которыми есть симметрия (автоморфизм)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 не баг: одинаковая структура — одинаковая метка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Проблема в другом: WL иногда не различает вершины, которые структурно РАЗНЫЕ. Вот это ограничение и всплывёт в лекции 4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0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ОТ МЕТОК К ПРИЗНАКАМ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из меток получается вектор графа?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9" name="TextBox 7"/>
          <p:cNvSpPr/>
          <p:nvPr/>
        </p:nvSpPr>
        <p:spPr>
          <a:xfrm>
            <a:off x="640080" y="1481400"/>
            <a:ext cx="630900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После k итераций у каждой вершины есть метка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Считаем, сколько вершин получило каждую метку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Это и есть вектор графа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Сравниваем векторы скалярным произведением — получается WL-kernel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Дальше обычный SVM поверх ядра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Стоимость: O(k · |E|) — линейно по числу рёбер, поэтому метод и живёт до сих пор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0" name="Table 8"/>
          <p:cNvGraphicFramePr/>
          <p:nvPr/>
        </p:nvGraphicFramePr>
        <p:xfrm>
          <a:off x="6766560" y="2103120"/>
          <a:ext cx="4754520" cy="210276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Итерация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Вектор признаков графа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a:5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A:1, B:3, C:1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A:1, B:1, C:2, D:1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A:1, B:1, C:2, D:1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1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Сколько меток появляется на реальном графе?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17" name="Table 7"/>
          <p:cNvGraphicFramePr/>
          <p:nvPr/>
        </p:nvGraphicFramePr>
        <p:xfrm>
          <a:off x="640080" y="1664280"/>
          <a:ext cx="10911240" cy="2523240"/>
        </p:xfrm>
        <a:graphic>
          <a:graphicData uri="http://schemas.openxmlformats.org/drawingml/2006/table">
            <a:tbl>
              <a:tblPr/>
              <a:tblGrid>
                <a:gridCol w="2597760"/>
                <a:gridCol w="3117240"/>
                <a:gridCol w="51958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Итерация WL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Уникальных меток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это значит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все вершины неразличимы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вершины разделились по степеням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учтены соседи соседей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ничего нового: процесс сошёлся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дальше считать бессмысленно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8" name="TextBox 8"/>
          <p:cNvSpPr/>
          <p:nvPr/>
        </p:nvSpPr>
        <p:spPr>
          <a:xfrm>
            <a:off x="640080" y="46634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Клуб карате: 34 вершины, после двух итераций различимы 27 из них. WL сходится за считанные шаги — поэтому в GNN редко делают больше 2–3 слоёв.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2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быстро WL перестаёт узнавать новое?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5" name="Picture 7" descr="l01_wl_growth.png"/>
          <p:cNvPicPr/>
          <p:nvPr/>
        </p:nvPicPr>
        <p:blipFill>
          <a:blip r:embed="rId1"/>
          <a:stretch/>
        </p:blipFill>
        <p:spPr>
          <a:xfrm>
            <a:off x="3078360" y="1481400"/>
            <a:ext cx="603468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TextBox 8"/>
          <p:cNvSpPr/>
          <p:nvPr/>
        </p:nvSpPr>
        <p:spPr>
          <a:xfrm>
            <a:off x="640080" y="481896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Две итерации разделяют почти все вершины клуба, третья не добавляет ничего. Поэтому в графовых сетях редко делают больше двух-трёх слоёв: дальше информации всё равно не прибавляется.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3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ОГРАНИЧЕНИЯ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Где WL ломается?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4" name="TextBox 8"/>
          <p:cNvSpPr/>
          <p:nvPr/>
        </p:nvSpPr>
        <p:spPr>
          <a:xfrm>
            <a:off x="914400" y="16916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цикл из шести вершин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5" name="Connector 9"/>
          <p:cNvCxnSpPr/>
          <p:nvPr/>
        </p:nvCxnSpPr>
        <p:spPr>
          <a:xfrm>
            <a:off x="3205440" y="2448000"/>
            <a:ext cx="1080720" cy="407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36" name="Connector 10"/>
          <p:cNvCxnSpPr/>
          <p:nvPr/>
        </p:nvCxnSpPr>
        <p:spPr>
          <a:xfrm>
            <a:off x="4474080" y="3126600"/>
            <a:ext cx="1080" cy="695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37" name="Connector 11"/>
          <p:cNvCxnSpPr/>
          <p:nvPr/>
        </p:nvCxnSpPr>
        <p:spPr>
          <a:xfrm flipH="1">
            <a:off x="3206880" y="4093560"/>
            <a:ext cx="1080360" cy="407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38" name="Connector 12"/>
          <p:cNvCxnSpPr/>
          <p:nvPr/>
        </p:nvCxnSpPr>
        <p:spPr>
          <a:xfrm flipH="1" flipV="1">
            <a:off x="1749240" y="4095000"/>
            <a:ext cx="1081440" cy="406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39" name="Connector 13"/>
          <p:cNvCxnSpPr/>
          <p:nvPr/>
        </p:nvCxnSpPr>
        <p:spPr>
          <a:xfrm flipH="1" flipV="1">
            <a:off x="1559520" y="3128040"/>
            <a:ext cx="1440" cy="695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40" name="Connector 14"/>
          <p:cNvCxnSpPr/>
          <p:nvPr/>
        </p:nvCxnSpPr>
        <p:spPr>
          <a:xfrm flipV="1">
            <a:off x="1747440" y="2448360"/>
            <a:ext cx="1081800" cy="407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741" name="Oval 15"/>
          <p:cNvSpPr/>
          <p:nvPr/>
        </p:nvSpPr>
        <p:spPr>
          <a:xfrm>
            <a:off x="2815920" y="21762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Oval 16"/>
          <p:cNvSpPr/>
          <p:nvPr/>
        </p:nvSpPr>
        <p:spPr>
          <a:xfrm>
            <a:off x="4273200" y="27244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Oval 17"/>
          <p:cNvSpPr/>
          <p:nvPr/>
        </p:nvSpPr>
        <p:spPr>
          <a:xfrm>
            <a:off x="4273920" y="382176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Oval 18"/>
          <p:cNvSpPr/>
          <p:nvPr/>
        </p:nvSpPr>
        <p:spPr>
          <a:xfrm>
            <a:off x="2817720" y="437076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Oval 19"/>
          <p:cNvSpPr/>
          <p:nvPr/>
        </p:nvSpPr>
        <p:spPr>
          <a:xfrm>
            <a:off x="1360080" y="38232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Oval 20"/>
          <p:cNvSpPr/>
          <p:nvPr/>
        </p:nvSpPr>
        <p:spPr>
          <a:xfrm>
            <a:off x="1358280" y="27259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Box 21"/>
          <p:cNvSpPr/>
          <p:nvPr/>
        </p:nvSpPr>
        <p:spPr>
          <a:xfrm>
            <a:off x="6583680" y="16916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два треугольника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8" name="Connector 22"/>
          <p:cNvCxnSpPr/>
          <p:nvPr/>
        </p:nvCxnSpPr>
        <p:spPr>
          <a:xfrm>
            <a:off x="7289280" y="2432160"/>
            <a:ext cx="8600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49" name="Connector 23"/>
          <p:cNvCxnSpPr/>
          <p:nvPr/>
        </p:nvCxnSpPr>
        <p:spPr>
          <a:xfrm flipH="1">
            <a:off x="7803360" y="2615040"/>
            <a:ext cx="462960" cy="1006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50" name="Connector 24"/>
          <p:cNvCxnSpPr/>
          <p:nvPr/>
        </p:nvCxnSpPr>
        <p:spPr>
          <a:xfrm flipH="1" flipV="1">
            <a:off x="7172280" y="2615040"/>
            <a:ext cx="463320" cy="1006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51" name="Connector 25"/>
          <p:cNvCxnSpPr/>
          <p:nvPr/>
        </p:nvCxnSpPr>
        <p:spPr>
          <a:xfrm>
            <a:off x="9392400" y="2432160"/>
            <a:ext cx="8600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52" name="Connector 26"/>
          <p:cNvCxnSpPr/>
          <p:nvPr/>
        </p:nvCxnSpPr>
        <p:spPr>
          <a:xfrm flipH="1">
            <a:off x="9906480" y="2615040"/>
            <a:ext cx="462960" cy="1006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53" name="Connector 27"/>
          <p:cNvCxnSpPr/>
          <p:nvPr/>
        </p:nvCxnSpPr>
        <p:spPr>
          <a:xfrm flipH="1" flipV="1">
            <a:off x="9275400" y="2615040"/>
            <a:ext cx="463320" cy="1006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754" name="Oval 28"/>
          <p:cNvSpPr/>
          <p:nvPr/>
        </p:nvSpPr>
        <p:spPr>
          <a:xfrm>
            <a:off x="6887160" y="22312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Oval 29"/>
          <p:cNvSpPr/>
          <p:nvPr/>
        </p:nvSpPr>
        <p:spPr>
          <a:xfrm>
            <a:off x="8148960" y="22312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Oval 30"/>
          <p:cNvSpPr/>
          <p:nvPr/>
        </p:nvSpPr>
        <p:spPr>
          <a:xfrm>
            <a:off x="7518240" y="36028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Oval 31"/>
          <p:cNvSpPr/>
          <p:nvPr/>
        </p:nvSpPr>
        <p:spPr>
          <a:xfrm>
            <a:off x="8990280" y="22312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Oval 32"/>
          <p:cNvSpPr/>
          <p:nvPr/>
        </p:nvSpPr>
        <p:spPr>
          <a:xfrm>
            <a:off x="10252080" y="22312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Oval 33"/>
          <p:cNvSpPr/>
          <p:nvPr/>
        </p:nvSpPr>
        <p:spPr>
          <a:xfrm>
            <a:off x="9621360" y="36028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Box 34"/>
          <p:cNvSpPr/>
          <p:nvPr/>
        </p:nvSpPr>
        <p:spPr>
          <a:xfrm>
            <a:off x="640080" y="50292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У обоих графов по 6 вершин, 6 рёбер и все степени равны 2. WL присваивает всем вершинам одну и ту же метку на каждой итерации — гистограммы совпадают, графы неразличимы. А ведь один связный, а другой нет.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6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ПАУЗА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WL смотрит на эти два графа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67" name="Picture 7" descr="meme_wl_blind.png"/>
          <p:cNvPicPr/>
          <p:nvPr/>
        </p:nvPicPr>
        <p:blipFill>
          <a:blip r:embed="rId1"/>
          <a:stretch/>
        </p:blipFill>
        <p:spPr>
          <a:xfrm>
            <a:off x="3043800" y="1481400"/>
            <a:ext cx="610416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TextBox 8"/>
          <p:cNvSpPr/>
          <p:nvPr/>
        </p:nvSpPr>
        <p:spPr>
          <a:xfrm>
            <a:off x="640080" y="559620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Шесть вершин, шесть рёбер, все степени равны двум — для WL это один и тот же граф.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7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5" name="TextBox 7"/>
          <p:cNvSpPr/>
          <p:nvPr/>
        </p:nvSpPr>
        <p:spPr>
          <a:xfrm>
            <a:off x="640080" y="14814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Два разных графа получили одинаковые гистограммы WL-меток на всех итерациях. Что это значит?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ounded Rectangle 8"/>
          <p:cNvSpPr/>
          <p:nvPr/>
        </p:nvSpPr>
        <p:spPr>
          <a:xfrm>
            <a:off x="640080" y="28987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7" name="TextBox 9"/>
          <p:cNvSpPr/>
          <p:nvPr/>
        </p:nvSpPr>
        <p:spPr>
          <a:xfrm>
            <a:off x="914400" y="3044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Графы обязательно изоморфны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ounded Rectangle 10"/>
          <p:cNvSpPr/>
          <p:nvPr/>
        </p:nvSpPr>
        <p:spPr>
          <a:xfrm>
            <a:off x="640080" y="35845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9" name="TextBox 11"/>
          <p:cNvSpPr/>
          <p:nvPr/>
        </p:nvSpPr>
        <p:spPr>
          <a:xfrm>
            <a:off x="914400" y="37306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Графы могут быть неизоморфны: WL-тест их не различает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ounded Rectangle 12"/>
          <p:cNvSpPr/>
          <p:nvPr/>
        </p:nvSpPr>
        <p:spPr>
          <a:xfrm>
            <a:off x="640080" y="42703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1" name="TextBox 13"/>
          <p:cNvSpPr/>
          <p:nvPr/>
        </p:nvSpPr>
        <p:spPr>
          <a:xfrm>
            <a:off x="914400" y="44164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алгоритме ошибка, такого не бывает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Rounded Rectangle 14"/>
          <p:cNvSpPr/>
          <p:nvPr/>
        </p:nvSpPr>
        <p:spPr>
          <a:xfrm>
            <a:off x="640080" y="49561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3" name="TextBox 15"/>
          <p:cNvSpPr/>
          <p:nvPr/>
        </p:nvSpPr>
        <p:spPr>
          <a:xfrm>
            <a:off x="914400" y="51022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 взять больше итераций, и различие обязательно проявится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8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0" name="TextBox 7"/>
          <p:cNvSpPr/>
          <p:nvPr/>
        </p:nvSpPr>
        <p:spPr>
          <a:xfrm>
            <a:off x="640080" y="1481400"/>
            <a:ext cx="1091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Два разных графа получили одинаковые гистограммы WL-меток на всех итерациях. Что это значит?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Rounded Rectangle 8"/>
          <p:cNvSpPr/>
          <p:nvPr/>
        </p:nvSpPr>
        <p:spPr>
          <a:xfrm>
            <a:off x="640080" y="2066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2" name="TextBox 9"/>
          <p:cNvSpPr/>
          <p:nvPr/>
        </p:nvSpPr>
        <p:spPr>
          <a:xfrm>
            <a:off x="914400" y="2176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Графы обязательно изоморфны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Rounded Rectangle 10"/>
          <p:cNvSpPr/>
          <p:nvPr/>
        </p:nvSpPr>
        <p:spPr>
          <a:xfrm>
            <a:off x="640080" y="2633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4" name="TextBox 11"/>
          <p:cNvSpPr/>
          <p:nvPr/>
        </p:nvSpPr>
        <p:spPr>
          <a:xfrm>
            <a:off x="914400" y="274320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Графы могут быть неизоморфны: WL-тест их не различает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Box 12"/>
          <p:cNvSpPr/>
          <p:nvPr/>
        </p:nvSpPr>
        <p:spPr>
          <a:xfrm>
            <a:off x="9174240" y="27615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Rounded Rectangle 13"/>
          <p:cNvSpPr/>
          <p:nvPr/>
        </p:nvSpPr>
        <p:spPr>
          <a:xfrm>
            <a:off x="640080" y="3200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7" name="TextBox 14"/>
          <p:cNvSpPr/>
          <p:nvPr/>
        </p:nvSpPr>
        <p:spPr>
          <a:xfrm>
            <a:off x="914400" y="3310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алгоритме ошибка, такого не бывает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Rounded Rectangle 15"/>
          <p:cNvSpPr/>
          <p:nvPr/>
        </p:nvSpPr>
        <p:spPr>
          <a:xfrm>
            <a:off x="640080" y="3767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9" name="TextBox 16"/>
          <p:cNvSpPr/>
          <p:nvPr/>
        </p:nvSpPr>
        <p:spPr>
          <a:xfrm>
            <a:off x="914400" y="3877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 взять больше итераций, и различие обязательно проявится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ounded Rectangle 17"/>
          <p:cNvSpPr/>
          <p:nvPr/>
        </p:nvSpPr>
        <p:spPr>
          <a:xfrm>
            <a:off x="640080" y="4471560"/>
            <a:ext cx="10911240" cy="156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1" name="TextBox 18"/>
          <p:cNvSpPr/>
          <p:nvPr/>
        </p:nvSpPr>
        <p:spPr>
          <a:xfrm>
            <a:off x="960120" y="4681800"/>
            <a:ext cx="10271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WL — необходимое, но не достаточное условие изоморфизма. Контрпример вы только что видели: цикл из шести вершин и два треугольника дают одинаковые гистограммы на всех итерациях. Увеличение числа итераций не помогает — процесс сходится сразу и навсегда. Обратное же верно: разные гистограммы гарантируют, что графы неизоморфны.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0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ЧЕСТНЫЙ ЗАМЕР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А работает ли baseline вообще?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08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5715360"/>
                <a:gridCol w="2078280"/>
                <a:gridCol w="31172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подаём в логистическую регрессию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Вывод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Константа (самый частый класс)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нижняя граница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Только степень вершины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0.443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хуже монетки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Пять центральностей сразу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ровно монетка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+ расстояния до двух лидеров клуба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0.938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почти идеально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09" name="TextBox 8"/>
          <p:cNvSpPr/>
          <p:nvPr/>
        </p:nvSpPr>
        <p:spPr>
          <a:xfrm>
            <a:off x="640080" y="44805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Кросс-валидация на 5 фолдах, клуб карате. Центральности говорят, насколько вершина важна, но ничего не говорят о том, в какой она группе. Стоит добавить признак позиции относительно лидеров — и задача решается.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1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ЧЕСТНЫЙ ЗАМЕР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Те же числа на одной картинке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6" name="Picture 7" descr="l01_baseline.png"/>
          <p:cNvPicPr/>
          <p:nvPr/>
        </p:nvPicPr>
        <p:blipFill>
          <a:blip r:embed="rId1"/>
          <a:stretch/>
        </p:blipFill>
        <p:spPr>
          <a:xfrm>
            <a:off x="2806560" y="1481400"/>
            <a:ext cx="657828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TextBox 8"/>
          <p:cNvSpPr/>
          <p:nvPr/>
        </p:nvSpPr>
        <p:spPr>
          <a:xfrm>
            <a:off x="640080" y="491040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Пунктир — уровень случайного угадывания. Три первых столбца его не превышают: важность вершины ничего не говорит о её группе. Выигрывает только признак, описывающий положение вершины относительно лидеров.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2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ИТОГ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Мораль блока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4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Классические признаки работают — но только если вы угадали нужный признак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Для клуба карате помогли расстояния до лидеров. Для другого графа поможет что-то другое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Признаки не переносятся между задачами и не используют признаки самих вершин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Хочется не придумывать признаки руками, а выучить их из данных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Ровно этим займёмся в лекции 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2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ПАУЗА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Путь начинающего исследователя графов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31" name="Picture 7" descr="meme_feature_engineering.png"/>
          <p:cNvPicPr/>
          <p:nvPr/>
        </p:nvPicPr>
        <p:blipFill>
          <a:blip r:embed="rId1"/>
          <a:stretch/>
        </p:blipFill>
        <p:spPr>
          <a:xfrm>
            <a:off x="4694040" y="1481400"/>
            <a:ext cx="2802960" cy="393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3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4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Что дальше?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3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ПРАКТИКА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Практика 1: с чего начнём?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1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2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Инструменты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networkx: граф как объект, алгоритмы, визуализация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PyTorch Geometric: Data, edge_index, загрузка датасетов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Перевод графа в вектор признаков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5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Что сделаем руками?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Посмотрим на Cora: степени, компоненты, гомофилия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Соберём признаки вершин и обучим обычный классификатор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Реализуем WL-kernel и классифицируем молекулы NCI1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Получим baseline, который дальше будем бить нейросетями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5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ПЛАН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будет дальше в курсе?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Лекция 2: эмбеддинги вершин — как выучить признаки вместо ручного подбора?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Лекция 3: graph neural networks и message passing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Лекция 4: почему GNN не сильнее WL-теста и что с этим делать?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Лекция 5: graph transformers и графы на миллионы вершин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Лекции 6–7: гетерогенные графы, графы знаний, временные графы, обучение без разметки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Лекция 8: рекомендации, генерация графов, графы и языковые модели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57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забрать с собой?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9" name="Oval 6"/>
          <p:cNvSpPr/>
          <p:nvPr/>
        </p:nvSpPr>
        <p:spPr>
          <a:xfrm>
            <a:off x="640080" y="166428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Box 7"/>
          <p:cNvSpPr/>
          <p:nvPr/>
        </p:nvSpPr>
        <p:spPr>
          <a:xfrm>
            <a:off x="1417320" y="168264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 стоит применять там, где связи несут информацию, которой нет в признаках объектов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Oval 8"/>
          <p:cNvSpPr/>
          <p:nvPr/>
        </p:nvSpPr>
        <p:spPr>
          <a:xfrm>
            <a:off x="640080" y="262440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Box 9"/>
          <p:cNvSpPr/>
          <p:nvPr/>
        </p:nvSpPr>
        <p:spPr>
          <a:xfrm>
            <a:off x="1417320" y="264276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Задачи бывают на уровне вершины, ребра, подграфа и графа — постановка определяет всё остальное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Oval 10"/>
          <p:cNvSpPr/>
          <p:nvPr/>
        </p:nvSpPr>
        <p:spPr>
          <a:xfrm>
            <a:off x="640080" y="358452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Box 11"/>
          <p:cNvSpPr/>
          <p:nvPr/>
        </p:nvSpPr>
        <p:spPr>
          <a:xfrm>
            <a:off x="1417320" y="360288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Графы хранят списками рёбер: плотная матрица не влезает в память уже на 170 тысячах вершин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Oval 12"/>
          <p:cNvSpPr/>
          <p:nvPr/>
        </p:nvSpPr>
        <p:spPr>
          <a:xfrm>
            <a:off x="640080" y="454464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Box 13"/>
          <p:cNvSpPr/>
          <p:nvPr/>
        </p:nvSpPr>
        <p:spPr>
          <a:xfrm>
            <a:off x="1417320" y="456300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Классические признаки и WL — baseline, который любая нейросеть обязана побить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60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70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Литература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2" name="TextBox 6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Hamilton, 2020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Graph Representation Learning Book, главы 1–2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Shervashidze et al., 2011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Weisfeiler-Lehman Graph Kernels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Hu et al., 2020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Open Graph Benchmark: датасеты и правила честного сравнения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Derrow-Pinion et al., 2021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ETA Prediction with Graph Neural Networks in Google Maps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Merchant et al., 2023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Scaling deep learning for materials discovery (GNoME), Nature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LibreOffice/25.8.3.2$MacOSX_AARCH64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